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AB4C65-8206-439C-A6F6-EF85ABBDC042}">
  <a:tblStyle styleId="{45AB4C65-8206-439C-A6F6-EF85ABBDC0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5b74002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5b7400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40  10  50  5   53    3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⅔    ⅙   ⅚   1/12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/4 *5 /10 53/5 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505d509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505d509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848eae8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6848eae8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505d5091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c505d509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c3f830c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6c3f830c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c3f830cb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6c3f830cb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c3f830cb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c3f830cb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c3f830cb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6c3f830cb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c3f830cb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c3f830cb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c3f830cb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6c3f830cb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c3f830cb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6c3f830cb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c3f830cb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c3f830cb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6c3f830cb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6c3f830cb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c3f830cb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c3f830cb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6c3f830cb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6c3f830cb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c3f830cb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6c3f830cb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c505d509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c505d509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11/20/25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Icebreaker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Brainteasers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Zetamac?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VWAP &amp; TWAP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Favorite place to eat in Ann Arbor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Sequence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Screenshot 2025-11-13 at 6.14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31475"/>
            <a:ext cx="8839200" cy="2530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Card Game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are playing a simple card game in which you and the dealer both draw a card.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win if your card is higher than theirs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lose if your card is lower than or equal to theirs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What is the probability that you win?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Card Game - Solution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485325"/>
            <a:ext cx="84474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What is the probability that you win?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Each card has a 1/13 chance of being picked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1/13 * (0+4/51+8/51+ . . . +48/51) = 4/(13*51)*(0+1+ . . . + 13) = 4(13*51)*12*13/2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= 8/17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Simpler way: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</a:t>
            </a:r>
            <a:r>
              <a:rPr baseline="-25000" lang="en" sz="1700"/>
              <a:t>1</a:t>
            </a:r>
            <a:r>
              <a:rPr lang="en" sz="1700"/>
              <a:t> = your card is higher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</a:t>
            </a:r>
            <a:r>
              <a:rPr baseline="-25000" lang="en" sz="1700"/>
              <a:t>2</a:t>
            </a:r>
            <a:r>
              <a:rPr lang="en" sz="1700"/>
              <a:t> = your card is the same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</a:t>
            </a:r>
            <a:r>
              <a:rPr baseline="-25000" lang="en" sz="1700"/>
              <a:t>3</a:t>
            </a:r>
            <a:r>
              <a:rPr lang="en" sz="1700"/>
              <a:t> = your card is lower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1" name="Google Shape;171;p18"/>
          <p:cNvSpPr txBox="1"/>
          <p:nvPr/>
        </p:nvSpPr>
        <p:spPr>
          <a:xfrm>
            <a:off x="4370700" y="3058975"/>
            <a:ext cx="3965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+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+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1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and then you can calculate it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3/51 = 1/17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2*P(E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+ 1/17 = 1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8/17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Schedule-Based Single Order Algorithms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Let’s say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you are a trader and your firm wants to buy (or sell) a large volume of a single stock.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A large volume in this context is one that will change the price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Market Order of 1000</a:t>
            </a:r>
            <a:endParaRPr/>
          </a:p>
        </p:txBody>
      </p:sp>
      <p:graphicFrame>
        <p:nvGraphicFramePr>
          <p:cNvPr id="188" name="Google Shape;188;p21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{45AB4C65-8206-439C-A6F6-EF85ABBDC042}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Market Order of 1000</a:t>
            </a:r>
            <a:endParaRPr/>
          </a:p>
        </p:txBody>
      </p:sp>
      <p:graphicFrame>
        <p:nvGraphicFramePr>
          <p:cNvPr id="195" name="Google Shape;195;p22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{45AB4C65-8206-439C-A6F6-EF85ABBDC042}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350 (150 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11451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2" name="Google Shape;202;p23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{45AB4C65-8206-439C-A6F6-EF85ABBDC042}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As you can see, the best ask when the market order was placed was 100.01.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Some orders went through at this price, but not all of them. 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Some went through as high as 100.05.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11451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graphicFrame>
        <p:nvGraphicFramePr>
          <p:cNvPr id="213" name="Google Shape;213;p25"/>
          <p:cNvGraphicFramePr/>
          <p:nvPr/>
        </p:nvGraphicFramePr>
        <p:xfrm>
          <a:off x="5763600" y="1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{45AB4C65-8206-439C-A6F6-EF85ABBDC042}</a:tableStyleId>
              </a:tblPr>
              <a:tblGrid>
                <a:gridCol w="863825"/>
                <a:gridCol w="1086375"/>
                <a:gridCol w="1001150"/>
              </a:tblGrid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….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100.10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100.08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100.07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60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100.06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40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1451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graphicFrame>
        <p:nvGraphicFramePr>
          <p:cNvPr id="219" name="Google Shape;219;p26"/>
          <p:cNvGraphicFramePr/>
          <p:nvPr/>
        </p:nvGraphicFramePr>
        <p:xfrm>
          <a:off x="5763600" y="1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{45AB4C65-8206-439C-A6F6-EF85ABBDC042}</a:tableStyleId>
              </a:tblPr>
              <a:tblGrid>
                <a:gridCol w="863825"/>
                <a:gridCol w="1086375"/>
                <a:gridCol w="1001150"/>
              </a:tblGrid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</a:t>
                      </a:r>
                      <a:r>
                        <a:rPr lang="en" sz="800">
                          <a:solidFill>
                            <a:srgbClr val="FFFFFF"/>
                          </a:solidFill>
                        </a:rPr>
                        <a:t>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….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100.10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100.08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100.07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60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100.06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40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6"/>
          <p:cNvSpPr txBox="1"/>
          <p:nvPr/>
        </p:nvSpPr>
        <p:spPr>
          <a:xfrm>
            <a:off x="1146475" y="1620700"/>
            <a:ext cx="2951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 larger example, if there is not much demand at all, transacting may lead to much higher prices.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Here some orders are placed at $120 because the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market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“thin”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thin means relatively few buyers/sellers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Limit Order of 1000</a:t>
            </a:r>
            <a:endParaRPr/>
          </a:p>
        </p:txBody>
      </p:sp>
      <p:graphicFrame>
        <p:nvGraphicFramePr>
          <p:cNvPr id="227" name="Google Shape;227;p27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{45AB4C65-8206-439C-A6F6-EF85ABBDC042}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Limit Order of 1000</a:t>
            </a:r>
            <a:endParaRPr/>
          </a:p>
        </p:txBody>
      </p:sp>
      <p:graphicFrame>
        <p:nvGraphicFramePr>
          <p:cNvPr id="234" name="Google Shape;234;p28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{45AB4C65-8206-439C-A6F6-EF85ABBDC042}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1,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 (1,120 Yours)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People will be able to see that you placed this order, and others will try to “front run” your order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Others </a:t>
            </a:r>
            <a:r>
              <a:rPr lang="en" sz="1700"/>
              <a:t>know this order is likely to make prices go up so others will try to buy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They see your order exists and has not transacted yet, so they will try to beat </a:t>
            </a:r>
            <a:r>
              <a:rPr lang="en" sz="1700"/>
              <a:t>you</a:t>
            </a:r>
            <a:r>
              <a:rPr lang="en" sz="1700"/>
              <a:t> to it by buying one cent above you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This makes YOU lose out on profits!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 these things</a:t>
            </a:r>
            <a:endParaRPr/>
          </a:p>
        </p:txBody>
      </p:sp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 a combination of both market and limit orders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Sell over time</a:t>
            </a:r>
            <a:endParaRPr sz="17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TWAP - Time-Weighted Average Price</a:t>
            </a:r>
            <a:endParaRPr sz="1700"/>
          </a:p>
          <a:p>
            <a:pPr indent="-336550" lvl="0" marL="9144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Buy/Sell a </a:t>
            </a:r>
            <a:r>
              <a:rPr lang="en" sz="1700"/>
              <a:t>handful of the stock in intervals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This way others won’t see your large limit orders, and market orders will (hopefully) get better prices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TWAP &amp; VWAP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TWAP - Time-Weighted Average Price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VWAP - Volume-Weighted Average Price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Match the intervals to corresponding trading volume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2321"/>
            <a:ext cx="9143999" cy="3918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5969"/>
            <a:ext cx="9144001" cy="4631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