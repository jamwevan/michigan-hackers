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5143500" cx="9144000"/>
  <p:notesSz cx="6858000" cy="9144000"/>
  <p:embeddedFontLst>
    <p:embeddedFont>
      <p:font typeface="Montserrat"/>
      <p:regular r:id="rId26"/>
      <p:bold r:id="rId27"/>
      <p:italic r:id="rId28"/>
      <p:boldItalic r:id="rId29"/>
    </p:embeddedFont>
    <p:embeddedFont>
      <p:font typeface="Lato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-regular.fntdata"/><Relationship Id="rId25" Type="http://schemas.openxmlformats.org/officeDocument/2006/relationships/slide" Target="slides/slide20.xml"/><Relationship Id="rId28" Type="http://schemas.openxmlformats.org/officeDocument/2006/relationships/font" Target="fonts/Montserrat-italic.fntdata"/><Relationship Id="rId27" Type="http://schemas.openxmlformats.org/officeDocument/2006/relationships/font" Target="fonts/Montserra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Lato-bold.fntdata"/><Relationship Id="rId30" Type="http://schemas.openxmlformats.org/officeDocument/2006/relationships/font" Target="fonts/Lato-regular.fntdata"/><Relationship Id="rId11" Type="http://schemas.openxmlformats.org/officeDocument/2006/relationships/slide" Target="slides/slide6.xml"/><Relationship Id="rId33" Type="http://schemas.openxmlformats.org/officeDocument/2006/relationships/font" Target="fonts/Lato-boldItalic.fntdata"/><Relationship Id="rId10" Type="http://schemas.openxmlformats.org/officeDocument/2006/relationships/slide" Target="slides/slide5.xml"/><Relationship Id="rId32" Type="http://schemas.openxmlformats.org/officeDocument/2006/relationships/font" Target="fonts/Lat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Complete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8068524e1_3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88068524e1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6681c12f4c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6681c12f4c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300d92aebc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300d92aebc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16 8 48 4 80 2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/2 *6 /12 *20 /30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12 28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36 84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88 168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176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88068524e1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88068524e1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 K Q O N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Xander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88068524e1_2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88068524e1_2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31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b71d1aab4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2b71d1aab4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2b71d1aab40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2b71d1aab40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b71d1aab40_0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2b71d1aab40_0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2b71d1aab40_0_1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2b71d1aab40_0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b71d1aab40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2b71d1aab40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b71d1aab40_0_1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2b71d1aab40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2b71d1aab40_0_1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2b71d1aab40_0_1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2b71d1aab40_0_1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2b71d1aab40_0_1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2b71d1aab40_0_1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2b71d1aab40_0_1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b71d1aab40_0_1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2b71d1aab40_0_1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689fb80ea3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2689fb80ea3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689fb80ea3_1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2689fb80ea3_1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2689fb80ea3_1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2689fb80ea3_1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6848eae863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26848eae863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Idea: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We’ll write the platform to make and conduct trading strategies.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guys will write and implement the strategies, test them on prior data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 for more software-oriented people you guys could also make the platform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can do this in python/C++, if python use numPy and Yahoo Finance data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matplotlib plot graphs, show that in pdf/md/html file through github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9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Quant Week 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10/2/25</a:t>
            </a:r>
            <a:endParaRPr/>
          </a:p>
        </p:txBody>
      </p:sp>
      <p:pic>
        <p:nvPicPr>
          <p:cNvPr id="135" name="Google Shape;13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2775" y="2571750"/>
            <a:ext cx="2208275" cy="220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Spotlight</a:t>
            </a:r>
            <a:endParaRPr/>
          </a:p>
        </p:txBody>
      </p:sp>
      <p:pic>
        <p:nvPicPr>
          <p:cNvPr id="141" name="Google Shape;14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4" title="Screenshot 2025-09-25 at 10.21.46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009462"/>
            <a:ext cx="8839203" cy="11245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Ice Breaker</a:t>
            </a:r>
            <a:endParaRPr/>
          </a:p>
        </p:txBody>
      </p:sp>
      <p:sp>
        <p:nvSpPr>
          <p:cNvPr id="148" name="Google Shape;148;p15"/>
          <p:cNvSpPr txBox="1"/>
          <p:nvPr>
            <p:ph idx="1" type="body"/>
          </p:nvPr>
        </p:nvSpPr>
        <p:spPr>
          <a:xfrm>
            <a:off x="1297500" y="13391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/>
              <a:t>What’s your favorite muscle?</a:t>
            </a:r>
            <a:endParaRPr sz="1600"/>
          </a:p>
        </p:txBody>
      </p:sp>
      <p:pic>
        <p:nvPicPr>
          <p:cNvPr id="149" name="Google Shape;14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Daily</a:t>
            </a:r>
            <a:r>
              <a:rPr lang="en"/>
              <a:t> Sequence </a:t>
            </a:r>
            <a:endParaRPr/>
          </a:p>
        </p:txBody>
      </p:sp>
      <p:sp>
        <p:nvSpPr>
          <p:cNvPr id="155" name="Google Shape;155;p16"/>
          <p:cNvSpPr txBox="1"/>
          <p:nvPr>
            <p:ph idx="1" type="body"/>
          </p:nvPr>
        </p:nvSpPr>
        <p:spPr>
          <a:xfrm>
            <a:off x="1297500" y="13391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/>
              <a:t>12, 28, 36, 84, 88, 168, ?</a:t>
            </a:r>
            <a:endParaRPr sz="1600"/>
          </a:p>
        </p:txBody>
      </p:sp>
      <p:pic>
        <p:nvPicPr>
          <p:cNvPr id="156" name="Google Shape;15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7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Trader Math Black Test</a:t>
            </a:r>
            <a:endParaRPr/>
          </a:p>
        </p:txBody>
      </p:sp>
      <p:pic>
        <p:nvPicPr>
          <p:cNvPr id="162" name="Google Shape;16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7" title="Screenshot 2025-10-01 at 11.21.2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43025" y="1866900"/>
            <a:ext cx="6457950" cy="1409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8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Trader Math Black Test</a:t>
            </a:r>
            <a:endParaRPr/>
          </a:p>
        </p:txBody>
      </p:sp>
      <p:pic>
        <p:nvPicPr>
          <p:cNvPr id="169" name="Google Shape;16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8" title="Screenshot 2025-10-01 at 11.24.1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0050" y="2057400"/>
            <a:ext cx="8343900" cy="102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9"/>
          <p:cNvSpPr txBox="1"/>
          <p:nvPr>
            <p:ph type="title"/>
          </p:nvPr>
        </p:nvSpPr>
        <p:spPr>
          <a:xfrm>
            <a:off x="823850" y="2053000"/>
            <a:ext cx="53499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Market Making Game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</a:t>
            </a:r>
            <a:endParaRPr/>
          </a:p>
        </p:txBody>
      </p:sp>
      <p:sp>
        <p:nvSpPr>
          <p:cNvPr id="181" name="Google Shape;181;p20"/>
          <p:cNvSpPr txBox="1"/>
          <p:nvPr>
            <p:ph idx="1" type="body"/>
          </p:nvPr>
        </p:nvSpPr>
        <p:spPr>
          <a:xfrm>
            <a:off x="950350" y="1207350"/>
            <a:ext cx="6623400" cy="339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Similar to Jane Street Estimathon, or Optiver’s market making game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A question will appear on screen, and one person will make a market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Everyone must then either buy or sell on that market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 role of market maker will rotate such that everyone is the market maker once</a:t>
            </a:r>
            <a:endParaRPr sz="1600"/>
          </a:p>
        </p:txBody>
      </p:sp>
      <p:pic>
        <p:nvPicPr>
          <p:cNvPr id="182" name="Google Shape;18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1"/>
          <p:cNvSpPr txBox="1"/>
          <p:nvPr>
            <p:ph type="title"/>
          </p:nvPr>
        </p:nvSpPr>
        <p:spPr>
          <a:xfrm>
            <a:off x="823850" y="2053000"/>
            <a:ext cx="53499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 The Population of Montenegro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2"/>
          <p:cNvSpPr txBox="1"/>
          <p:nvPr>
            <p:ph type="title"/>
          </p:nvPr>
        </p:nvSpPr>
        <p:spPr>
          <a:xfrm>
            <a:off x="823850" y="2053000"/>
            <a:ext cx="53499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2: Number of Dogs in America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3"/>
          <p:cNvSpPr txBox="1"/>
          <p:nvPr>
            <p:ph type="title"/>
          </p:nvPr>
        </p:nvSpPr>
        <p:spPr>
          <a:xfrm>
            <a:off x="823850" y="2053000"/>
            <a:ext cx="5349900" cy="163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3: The Sum of the Class Numbers that Selina and I are taking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4"/>
          <p:cNvSpPr txBox="1"/>
          <p:nvPr>
            <p:ph type="title"/>
          </p:nvPr>
        </p:nvSpPr>
        <p:spPr>
          <a:xfrm>
            <a:off x="823850" y="2053000"/>
            <a:ext cx="53499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4: The amount of people living in Ann Arbor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5"/>
          <p:cNvSpPr txBox="1"/>
          <p:nvPr>
            <p:ph type="title"/>
          </p:nvPr>
        </p:nvSpPr>
        <p:spPr>
          <a:xfrm>
            <a:off x="823850" y="2053000"/>
            <a:ext cx="55245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 The area of Morocco (sq mi)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6"/>
          <p:cNvSpPr txBox="1"/>
          <p:nvPr>
            <p:ph type="title"/>
          </p:nvPr>
        </p:nvSpPr>
        <p:spPr>
          <a:xfrm>
            <a:off x="823850" y="2053000"/>
            <a:ext cx="53499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 The percentage on James’ phone right now times 50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7"/>
          <p:cNvSpPr txBox="1"/>
          <p:nvPr>
            <p:ph type="title"/>
          </p:nvPr>
        </p:nvSpPr>
        <p:spPr>
          <a:xfrm>
            <a:off x="823850" y="2053000"/>
            <a:ext cx="53499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 The FY23 Michigan Football Revenue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8"/>
          <p:cNvSpPr txBox="1"/>
          <p:nvPr>
            <p:ph type="title"/>
          </p:nvPr>
        </p:nvSpPr>
        <p:spPr>
          <a:xfrm>
            <a:off x="823850" y="2053000"/>
            <a:ext cx="53499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8: The number of unread messages on my Messages app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9"/>
          <p:cNvSpPr txBox="1"/>
          <p:nvPr>
            <p:ph type="title"/>
          </p:nvPr>
        </p:nvSpPr>
        <p:spPr>
          <a:xfrm>
            <a:off x="823850" y="2053000"/>
            <a:ext cx="53499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</a:t>
            </a:r>
            <a:r>
              <a:rPr lang="en"/>
              <a:t>: The Volume of Lake Michigan in cubic miles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0"/>
          <p:cNvSpPr txBox="1"/>
          <p:nvPr>
            <p:ph type="title"/>
          </p:nvPr>
        </p:nvSpPr>
        <p:spPr>
          <a:xfrm>
            <a:off x="823850" y="2053000"/>
            <a:ext cx="53499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</a:t>
            </a:r>
            <a:r>
              <a:rPr lang="en"/>
              <a:t>: The Number of Cars registered in NYC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1"/>
          <p:cNvSpPr txBox="1"/>
          <p:nvPr>
            <p:ph type="title"/>
          </p:nvPr>
        </p:nvSpPr>
        <p:spPr>
          <a:xfrm>
            <a:off x="823850" y="2053000"/>
            <a:ext cx="53499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11: The Number of Cars registered in NYC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2"/>
          <p:cNvSpPr txBox="1"/>
          <p:nvPr>
            <p:ph type="title"/>
          </p:nvPr>
        </p:nvSpPr>
        <p:spPr>
          <a:xfrm>
            <a:off x="449275" y="2062150"/>
            <a:ext cx="56718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Discussion/Work Time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F15D24"/>
      </a:dk1>
      <a:lt1>
        <a:srgbClr val="FFFFFF"/>
      </a:lt1>
      <a:dk2>
        <a:srgbClr val="D9D9D9"/>
      </a:dk2>
      <a:lt2>
        <a:srgbClr val="3D3D3D"/>
      </a:lt2>
      <a:accent1>
        <a:srgbClr val="FFFFFF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