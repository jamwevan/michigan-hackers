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Montserrat"/>
      <p:regular r:id="rId36"/>
      <p:bold r:id="rId37"/>
      <p:italic r:id="rId38"/>
      <p:boldItalic r:id="rId39"/>
    </p:embeddedFont>
    <p:embeddedFont>
      <p:font typeface="La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B98911-617A-47D2-B3BC-704865311D28}">
  <a:tblStyle styleId="{5FB98911-617A-47D2-B3BC-704865311D2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4.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Lat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bold.fntdata"/><Relationship Id="rId14" Type="http://schemas.openxmlformats.org/officeDocument/2006/relationships/slide" Target="slides/slide8.xml"/><Relationship Id="rId36" Type="http://schemas.openxmlformats.org/officeDocument/2006/relationships/font" Target="fonts/Montserrat-regular.fntdata"/><Relationship Id="rId17" Type="http://schemas.openxmlformats.org/officeDocument/2006/relationships/slide" Target="slides/slide11.xml"/><Relationship Id="rId39" Type="http://schemas.openxmlformats.org/officeDocument/2006/relationships/font" Target="fonts/Montserrat-boldItalic.fntdata"/><Relationship Id="rId16" Type="http://schemas.openxmlformats.org/officeDocument/2006/relationships/slide" Target="slides/slide10.xml"/><Relationship Id="rId38" Type="http://schemas.openxmlformats.org/officeDocument/2006/relationships/font" Target="fonts/Montserra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Complete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681c12f4c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681c12f4c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7dc166694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7dc166694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7dc1666940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7dc1666940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dc16669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7dc16669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7dc1666940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7dc1666940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dc1666940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7dc1666940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dc1666940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7dc1666940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7dc1666940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7dc1666940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7dc1666940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7dc1666940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7dc1666940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7dc1666940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7dc1666940_0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7dc1666940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513a471880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513a471880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b5a9561c1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b5a9561c1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513a471880_6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513a471880_6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b5a9561c1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b5a9561c1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b5a9561c1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b5a9561c1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b5a9561c1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b5a9561c1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6681c12f4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6681c12f4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6681c12f4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6681c12f4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b5a9561c1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b5a9561c1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6681c12f4c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6681c12f4c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6681c12f4c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6681c12f4c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b5a9561c1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b5a9561c1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b5a9561c1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b5a9561c1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b5a9561c1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b5a9561c1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b5a9561c1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b5a9561c1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b5a9561c1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b5a9561c1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b5a9561c1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b5a9561c1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Idea:</a:t>
            </a:r>
            <a:endParaRPr/>
          </a:p>
          <a:p>
            <a:pPr indent="0" lvl="0" marL="0" rtl="0" algn="l">
              <a:spcBef>
                <a:spcPts val="0"/>
              </a:spcBef>
              <a:spcAft>
                <a:spcPts val="0"/>
              </a:spcAft>
              <a:buNone/>
            </a:pPr>
            <a:r>
              <a:rPr lang="en"/>
              <a:t>We’ll write the platform to make and conduct trading strategies.</a:t>
            </a:r>
            <a:endParaRPr/>
          </a:p>
          <a:p>
            <a:pPr indent="0" lvl="0" marL="0" rtl="0" algn="l">
              <a:spcBef>
                <a:spcPts val="0"/>
              </a:spcBef>
              <a:spcAft>
                <a:spcPts val="0"/>
              </a:spcAft>
              <a:buNone/>
            </a:pPr>
            <a:r>
              <a:rPr lang="en"/>
              <a:t>You guys will write and implement the strategies, test them on prior data</a:t>
            </a:r>
            <a:endParaRPr/>
          </a:p>
          <a:p>
            <a:pPr indent="0" lvl="0" marL="0" rtl="0" algn="l">
              <a:spcBef>
                <a:spcPts val="0"/>
              </a:spcBef>
              <a:spcAft>
                <a:spcPts val="0"/>
              </a:spcAft>
              <a:buNone/>
            </a:pPr>
            <a:r>
              <a:rPr lang="en"/>
              <a:t>Alternate for more software-oriented people you guys could also make the platform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do this in python/C++, if python use numPy and Yahoo Finance data</a:t>
            </a:r>
            <a:endParaRPr/>
          </a:p>
          <a:p>
            <a:pPr indent="0" lvl="0" marL="0" rtl="0" algn="l">
              <a:spcBef>
                <a:spcPts val="0"/>
              </a:spcBef>
              <a:spcAft>
                <a:spcPts val="0"/>
              </a:spcAft>
              <a:buNone/>
            </a:pPr>
            <a:r>
              <a:rPr lang="en"/>
              <a:t>Use matplotlib plot graphs, show that in pdf/md/html file through github</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linkedin.com/in/jamwevan/" TargetMode="External"/><Relationship Id="rId4" Type="http://schemas.openxmlformats.org/officeDocument/2006/relationships/image" Target="../media/image3.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99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Quant Week 1</a:t>
            </a:r>
            <a:endParaRPr/>
          </a:p>
          <a:p>
            <a:pPr indent="0" lvl="0" marL="0" rtl="0" algn="l">
              <a:spcBef>
                <a:spcPts val="0"/>
              </a:spcBef>
              <a:spcAft>
                <a:spcPts val="0"/>
              </a:spcAft>
              <a:buNone/>
            </a:pPr>
            <a:r>
              <a:rPr lang="en"/>
              <a:t>09/11/25</a:t>
            </a:r>
            <a:endParaRPr/>
          </a:p>
        </p:txBody>
      </p:sp>
      <p:pic>
        <p:nvPicPr>
          <p:cNvPr id="135" name="Google Shape;135;p13"/>
          <p:cNvPicPr preferRelativeResize="0"/>
          <p:nvPr/>
        </p:nvPicPr>
        <p:blipFill>
          <a:blip r:embed="rId3">
            <a:alphaModFix/>
          </a:blip>
          <a:stretch>
            <a:fillRect/>
          </a:stretch>
        </p:blipFill>
        <p:spPr>
          <a:xfrm>
            <a:off x="322775" y="2571750"/>
            <a:ext cx="2208275" cy="2208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Ice Breaker</a:t>
            </a:r>
            <a:endParaRPr/>
          </a:p>
        </p:txBody>
      </p:sp>
      <p:sp>
        <p:nvSpPr>
          <p:cNvPr id="141" name="Google Shape;141;p14"/>
          <p:cNvSpPr txBox="1"/>
          <p:nvPr>
            <p:ph idx="1" type="body"/>
          </p:nvPr>
        </p:nvSpPr>
        <p:spPr>
          <a:xfrm>
            <a:off x="1297500" y="1339150"/>
            <a:ext cx="7038900" cy="2911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What has been the worst class you have taken so far? </a:t>
            </a:r>
            <a:endParaRPr sz="1600"/>
          </a:p>
        </p:txBody>
      </p:sp>
      <p:pic>
        <p:nvPicPr>
          <p:cNvPr id="142" name="Google Shape;142;p14"/>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Shout out to Jonathan Bishaw!</a:t>
            </a:r>
            <a:endParaRPr/>
          </a:p>
        </p:txBody>
      </p:sp>
      <p:sp>
        <p:nvSpPr>
          <p:cNvPr id="148" name="Google Shape;148;p15"/>
          <p:cNvSpPr txBox="1"/>
          <p:nvPr>
            <p:ph idx="1" type="body"/>
          </p:nvPr>
        </p:nvSpPr>
        <p:spPr>
          <a:xfrm>
            <a:off x="1297500" y="13391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u="sng">
                <a:solidFill>
                  <a:schemeClr val="hlink"/>
                </a:solidFill>
                <a:hlinkClick r:id="rId3"/>
              </a:rPr>
              <a:t>https://www.linkedin.com/in/jamwevan/</a:t>
            </a:r>
            <a:r>
              <a:rPr lang="en" sz="1600"/>
              <a:t> </a:t>
            </a:r>
            <a:endParaRPr sz="1600"/>
          </a:p>
        </p:txBody>
      </p:sp>
      <p:pic>
        <p:nvPicPr>
          <p:cNvPr id="149" name="Google Shape;149;p15"/>
          <p:cNvPicPr preferRelativeResize="0"/>
          <p:nvPr/>
        </p:nvPicPr>
        <p:blipFill>
          <a:blip r:embed="rId4">
            <a:alphaModFix/>
          </a:blip>
          <a:stretch>
            <a:fillRect/>
          </a:stretch>
        </p:blipFill>
        <p:spPr>
          <a:xfrm>
            <a:off x="7481275" y="0"/>
            <a:ext cx="1662724" cy="1662725"/>
          </a:xfrm>
          <a:prstGeom prst="rect">
            <a:avLst/>
          </a:prstGeom>
          <a:noFill/>
          <a:ln>
            <a:noFill/>
          </a:ln>
        </p:spPr>
      </p:pic>
      <p:pic>
        <p:nvPicPr>
          <p:cNvPr id="150" name="Google Shape;150;p15" title="Screenshot 2025-09-11 at 6.39.43 PM.png"/>
          <p:cNvPicPr preferRelativeResize="0"/>
          <p:nvPr/>
        </p:nvPicPr>
        <p:blipFill>
          <a:blip r:embed="rId5">
            <a:alphaModFix/>
          </a:blip>
          <a:stretch>
            <a:fillRect/>
          </a:stretch>
        </p:blipFill>
        <p:spPr>
          <a:xfrm>
            <a:off x="0" y="2571756"/>
            <a:ext cx="9143999" cy="10563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1297500" y="393750"/>
            <a:ext cx="7038900" cy="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Sequence (Hard)</a:t>
            </a:r>
            <a:endParaRPr/>
          </a:p>
        </p:txBody>
      </p:sp>
      <p:pic>
        <p:nvPicPr>
          <p:cNvPr id="156" name="Google Shape;156;p16"/>
          <p:cNvPicPr preferRelativeResize="0"/>
          <p:nvPr/>
        </p:nvPicPr>
        <p:blipFill>
          <a:blip r:embed="rId3">
            <a:alphaModFix/>
          </a:blip>
          <a:stretch>
            <a:fillRect/>
          </a:stretch>
        </p:blipFill>
        <p:spPr>
          <a:xfrm>
            <a:off x="7481275" y="0"/>
            <a:ext cx="1662724" cy="1662725"/>
          </a:xfrm>
          <a:prstGeom prst="rect">
            <a:avLst/>
          </a:prstGeom>
          <a:noFill/>
          <a:ln>
            <a:noFill/>
          </a:ln>
        </p:spPr>
      </p:pic>
      <p:pic>
        <p:nvPicPr>
          <p:cNvPr id="157" name="Google Shape;157;p16" title="Screenshot 2025-09-10 at 10.19.58 PM.png"/>
          <p:cNvPicPr preferRelativeResize="0"/>
          <p:nvPr/>
        </p:nvPicPr>
        <p:blipFill>
          <a:blip r:embed="rId4">
            <a:alphaModFix/>
          </a:blip>
          <a:stretch>
            <a:fillRect/>
          </a:stretch>
        </p:blipFill>
        <p:spPr>
          <a:xfrm>
            <a:off x="1368912" y="1885950"/>
            <a:ext cx="6256025" cy="1371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 is “Quant”?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Quantitative Finance Overview</a:t>
            </a:r>
            <a:endParaRPr/>
          </a:p>
        </p:txBody>
      </p:sp>
      <p:sp>
        <p:nvSpPr>
          <p:cNvPr id="168" name="Google Shape;168;p18"/>
          <p:cNvSpPr txBox="1"/>
          <p:nvPr>
            <p:ph idx="1" type="body"/>
          </p:nvPr>
        </p:nvSpPr>
        <p:spPr>
          <a:xfrm>
            <a:off x="1297500" y="1567550"/>
            <a:ext cx="6623400" cy="3393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Within quantitative finance there are a variety of interesting  areas and problems to solve</a:t>
            </a:r>
            <a:endParaRPr sz="1600"/>
          </a:p>
          <a:p>
            <a:pPr indent="-330200" lvl="1" marL="914400" rtl="0" algn="l">
              <a:spcBef>
                <a:spcPts val="0"/>
              </a:spcBef>
              <a:spcAft>
                <a:spcPts val="0"/>
              </a:spcAft>
              <a:buSzPts val="1600"/>
              <a:buChar char="○"/>
            </a:pPr>
            <a:r>
              <a:rPr lang="en" sz="1600"/>
              <a:t>Different asset types</a:t>
            </a:r>
            <a:endParaRPr sz="1600"/>
          </a:p>
          <a:p>
            <a:pPr indent="-330200" lvl="1" marL="914400" rtl="0" algn="l">
              <a:spcBef>
                <a:spcPts val="0"/>
              </a:spcBef>
              <a:spcAft>
                <a:spcPts val="0"/>
              </a:spcAft>
              <a:buSzPts val="1600"/>
              <a:buChar char="○"/>
            </a:pPr>
            <a:r>
              <a:rPr lang="en" sz="1600"/>
              <a:t>Different roles</a:t>
            </a:r>
            <a:endParaRPr sz="1600"/>
          </a:p>
          <a:p>
            <a:pPr indent="-330200" lvl="1" marL="914400" rtl="0" algn="l">
              <a:spcBef>
                <a:spcPts val="0"/>
              </a:spcBef>
              <a:spcAft>
                <a:spcPts val="0"/>
              </a:spcAft>
              <a:buSzPts val="1600"/>
              <a:buChar char="○"/>
            </a:pPr>
            <a:r>
              <a:rPr lang="en" sz="1600"/>
              <a:t>Tons of data</a:t>
            </a:r>
            <a:endParaRPr sz="1600"/>
          </a:p>
          <a:p>
            <a:pPr indent="-330200" lvl="1" marL="914400" rtl="0" algn="l">
              <a:spcBef>
                <a:spcPts val="0"/>
              </a:spcBef>
              <a:spcAft>
                <a:spcPts val="0"/>
              </a:spcAft>
              <a:buSzPts val="1600"/>
              <a:buChar char="○"/>
            </a:pPr>
            <a:r>
              <a:rPr lang="en" sz="1600"/>
              <a:t>Engineering challenges, like trade execution and speed</a:t>
            </a:r>
            <a:endParaRPr sz="1600"/>
          </a:p>
          <a:p>
            <a:pPr indent="-330200" lvl="1" marL="914400" rtl="0" algn="l">
              <a:spcBef>
                <a:spcPts val="0"/>
              </a:spcBef>
              <a:spcAft>
                <a:spcPts val="0"/>
              </a:spcAft>
              <a:buSzPts val="1600"/>
              <a:buChar char="○"/>
            </a:pPr>
            <a:r>
              <a:rPr lang="en" sz="1600"/>
              <a:t>and massive implications</a:t>
            </a:r>
            <a:endParaRPr sz="1600"/>
          </a:p>
        </p:txBody>
      </p:sp>
      <p:pic>
        <p:nvPicPr>
          <p:cNvPr id="169" name="Google Shape;169;p18"/>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Asset Classes</a:t>
            </a:r>
            <a:endParaRPr/>
          </a:p>
        </p:txBody>
      </p:sp>
      <p:sp>
        <p:nvSpPr>
          <p:cNvPr id="175" name="Google Shape;175;p19"/>
          <p:cNvSpPr txBox="1"/>
          <p:nvPr>
            <p:ph idx="1" type="body"/>
          </p:nvPr>
        </p:nvSpPr>
        <p:spPr>
          <a:xfrm>
            <a:off x="1297500" y="1567550"/>
            <a:ext cx="6623400" cy="3393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Stocks (</a:t>
            </a:r>
            <a:r>
              <a:rPr lang="en" sz="1600"/>
              <a:t>GME, AMC, TSLA)</a:t>
            </a:r>
            <a:endParaRPr sz="1600"/>
          </a:p>
          <a:p>
            <a:pPr indent="-330200" lvl="0" marL="457200" rtl="0" algn="l">
              <a:spcBef>
                <a:spcPts val="0"/>
              </a:spcBef>
              <a:spcAft>
                <a:spcPts val="0"/>
              </a:spcAft>
              <a:buSzPts val="1600"/>
              <a:buChar char="●"/>
            </a:pPr>
            <a:r>
              <a:rPr lang="en" sz="1600"/>
              <a:t>Derivatives/Options</a:t>
            </a:r>
            <a:endParaRPr sz="1600"/>
          </a:p>
          <a:p>
            <a:pPr indent="-330200" lvl="0" marL="457200" rtl="0" algn="l">
              <a:spcBef>
                <a:spcPts val="0"/>
              </a:spcBef>
              <a:spcAft>
                <a:spcPts val="0"/>
              </a:spcAft>
              <a:buSzPts val="1600"/>
              <a:buChar char="●"/>
            </a:pPr>
            <a:r>
              <a:rPr lang="en" sz="1600"/>
              <a:t>Foreign Exchange (Forex)</a:t>
            </a:r>
            <a:endParaRPr sz="1600"/>
          </a:p>
          <a:p>
            <a:pPr indent="-330200" lvl="0" marL="457200" rtl="0" algn="l">
              <a:spcBef>
                <a:spcPts val="0"/>
              </a:spcBef>
              <a:spcAft>
                <a:spcPts val="0"/>
              </a:spcAft>
              <a:buSzPts val="1600"/>
              <a:buChar char="●"/>
            </a:pPr>
            <a:r>
              <a:rPr lang="en" sz="1600"/>
              <a:t>Crypto</a:t>
            </a:r>
            <a:endParaRPr sz="1600"/>
          </a:p>
          <a:p>
            <a:pPr indent="-330200" lvl="0" marL="457200" rtl="0" algn="l">
              <a:spcBef>
                <a:spcPts val="0"/>
              </a:spcBef>
              <a:spcAft>
                <a:spcPts val="0"/>
              </a:spcAft>
              <a:buSzPts val="1600"/>
              <a:buChar char="●"/>
            </a:pPr>
            <a:r>
              <a:rPr lang="en" sz="1600"/>
              <a:t>Sports Betting</a:t>
            </a:r>
            <a:endParaRPr sz="1600"/>
          </a:p>
          <a:p>
            <a:pPr indent="0" lvl="0" marL="0" rtl="0" algn="l">
              <a:spcBef>
                <a:spcPts val="1600"/>
              </a:spcBef>
              <a:spcAft>
                <a:spcPts val="0"/>
              </a:spcAft>
              <a:buNone/>
            </a:pPr>
            <a:r>
              <a:t/>
            </a:r>
            <a:endParaRPr sz="1600"/>
          </a:p>
          <a:p>
            <a:pPr indent="0" lvl="0" marL="0" rtl="0" algn="l">
              <a:spcBef>
                <a:spcPts val="1600"/>
              </a:spcBef>
              <a:spcAft>
                <a:spcPts val="1600"/>
              </a:spcAft>
              <a:buNone/>
            </a:pPr>
            <a:r>
              <a:rPr lang="en" sz="1600"/>
              <a:t>Key: high volatility (opportunity + volume)</a:t>
            </a:r>
            <a:endParaRPr sz="1600"/>
          </a:p>
        </p:txBody>
      </p:sp>
      <p:pic>
        <p:nvPicPr>
          <p:cNvPr id="176" name="Google Shape;176;p19"/>
          <p:cNvPicPr preferRelativeResize="0"/>
          <p:nvPr/>
        </p:nvPicPr>
        <p:blipFill>
          <a:blip r:embed="rId3">
            <a:alphaModFix/>
          </a:blip>
          <a:stretch>
            <a:fillRect/>
          </a:stretch>
        </p:blipFill>
        <p:spPr>
          <a:xfrm>
            <a:off x="7481275" y="0"/>
            <a:ext cx="1662724" cy="1662725"/>
          </a:xfrm>
          <a:prstGeom prst="rect">
            <a:avLst/>
          </a:prstGeom>
          <a:noFill/>
          <a:ln>
            <a:noFill/>
          </a:ln>
        </p:spPr>
      </p:pic>
      <p:pic>
        <p:nvPicPr>
          <p:cNvPr id="177" name="Google Shape;177;p19"/>
          <p:cNvPicPr preferRelativeResize="0"/>
          <p:nvPr/>
        </p:nvPicPr>
        <p:blipFill>
          <a:blip r:embed="rId4">
            <a:alphaModFix/>
          </a:blip>
          <a:stretch>
            <a:fillRect/>
          </a:stretch>
        </p:blipFill>
        <p:spPr>
          <a:xfrm>
            <a:off x="6287225" y="2020025"/>
            <a:ext cx="2488349" cy="24883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Industry</a:t>
            </a:r>
            <a:endParaRPr/>
          </a:p>
        </p:txBody>
      </p:sp>
      <p:sp>
        <p:nvSpPr>
          <p:cNvPr id="183" name="Google Shape;183;p20"/>
          <p:cNvSpPr txBox="1"/>
          <p:nvPr>
            <p:ph idx="1" type="body"/>
          </p:nvPr>
        </p:nvSpPr>
        <p:spPr>
          <a:xfrm>
            <a:off x="1297500" y="1307850"/>
            <a:ext cx="3403200" cy="2911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  </a:t>
            </a:r>
            <a:r>
              <a:rPr b="1" lang="en" sz="2000"/>
              <a:t>Market Makers:</a:t>
            </a:r>
            <a:endParaRPr b="1" sz="2000"/>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rPr lang="en"/>
              <a:t>   Goldman Sachs, Jane Street Capital, SIG</a:t>
            </a:r>
            <a:endParaRPr/>
          </a:p>
          <a:p>
            <a:pPr indent="0" lvl="0" marL="0" rtl="0" algn="l">
              <a:lnSpc>
                <a:spcPct val="100000"/>
              </a:lnSpc>
              <a:spcBef>
                <a:spcPts val="400"/>
              </a:spcBef>
              <a:spcAft>
                <a:spcPts val="0"/>
              </a:spcAft>
              <a:buNone/>
            </a:pPr>
            <a:r>
              <a:t/>
            </a:r>
            <a:endParaRPr/>
          </a:p>
          <a:p>
            <a:pPr indent="0" lvl="0" marL="0" rtl="0" algn="l">
              <a:spcBef>
                <a:spcPts val="400"/>
              </a:spcBef>
              <a:spcAft>
                <a:spcPts val="1600"/>
              </a:spcAft>
              <a:buNone/>
            </a:pPr>
            <a:r>
              <a:t/>
            </a:r>
            <a:endParaRPr/>
          </a:p>
        </p:txBody>
      </p:sp>
      <p:sp>
        <p:nvSpPr>
          <p:cNvPr id="184" name="Google Shape;184;p20"/>
          <p:cNvSpPr txBox="1"/>
          <p:nvPr>
            <p:ph idx="2" type="body"/>
          </p:nvPr>
        </p:nvSpPr>
        <p:spPr>
          <a:xfrm>
            <a:off x="4933200" y="1307850"/>
            <a:ext cx="3403200" cy="3507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t>  </a:t>
            </a:r>
            <a:r>
              <a:rPr b="1" lang="en" sz="2000"/>
              <a:t>Prop Trading Firms / HFTs:</a:t>
            </a:r>
            <a:endParaRPr b="1" sz="2000"/>
          </a:p>
          <a:p>
            <a:pPr indent="0" lvl="0" marL="0" rtl="0" algn="l">
              <a:lnSpc>
                <a:spcPct val="100000"/>
              </a:lnSpc>
              <a:spcBef>
                <a:spcPts val="400"/>
              </a:spcBef>
              <a:spcAft>
                <a:spcPts val="0"/>
              </a:spcAft>
              <a:buNone/>
            </a:pPr>
            <a:r>
              <a:t/>
            </a:r>
            <a:endParaRPr b="1" sz="2000"/>
          </a:p>
          <a:p>
            <a:pPr indent="0" lvl="0" marL="0" rtl="0" algn="l">
              <a:lnSpc>
                <a:spcPct val="100000"/>
              </a:lnSpc>
              <a:spcBef>
                <a:spcPts val="400"/>
              </a:spcBef>
              <a:spcAft>
                <a:spcPts val="0"/>
              </a:spcAft>
              <a:buNone/>
            </a:pPr>
            <a:r>
              <a:t/>
            </a:r>
            <a:endParaRPr b="1" sz="2000"/>
          </a:p>
          <a:p>
            <a:pPr indent="0" lvl="0" marL="0" rtl="0" algn="l">
              <a:lnSpc>
                <a:spcPct val="100000"/>
              </a:lnSpc>
              <a:spcBef>
                <a:spcPts val="400"/>
              </a:spcBef>
              <a:spcAft>
                <a:spcPts val="0"/>
              </a:spcAft>
              <a:buNone/>
            </a:pPr>
            <a:r>
              <a:t/>
            </a:r>
            <a:endParaRPr b="1" sz="2000"/>
          </a:p>
          <a:p>
            <a:pPr indent="0" lvl="0" marL="0" rtl="0" algn="l">
              <a:lnSpc>
                <a:spcPct val="100000"/>
              </a:lnSpc>
              <a:spcBef>
                <a:spcPts val="400"/>
              </a:spcBef>
              <a:spcAft>
                <a:spcPts val="0"/>
              </a:spcAft>
              <a:buNone/>
            </a:pPr>
            <a:r>
              <a:t/>
            </a:r>
            <a:endParaRPr b="1" sz="2000"/>
          </a:p>
          <a:p>
            <a:pPr indent="0" lvl="0" marL="0" rtl="0" algn="l">
              <a:lnSpc>
                <a:spcPct val="100000"/>
              </a:lnSpc>
              <a:spcBef>
                <a:spcPts val="400"/>
              </a:spcBef>
              <a:spcAft>
                <a:spcPts val="0"/>
              </a:spcAft>
              <a:buNone/>
            </a:pPr>
            <a:r>
              <a:t/>
            </a:r>
            <a:endParaRPr b="1" sz="2000"/>
          </a:p>
          <a:p>
            <a:pPr indent="0" lvl="0" marL="0" rtl="0" algn="l">
              <a:lnSpc>
                <a:spcPct val="100000"/>
              </a:lnSpc>
              <a:spcBef>
                <a:spcPts val="400"/>
              </a:spcBef>
              <a:spcAft>
                <a:spcPts val="0"/>
              </a:spcAft>
              <a:buNone/>
            </a:pPr>
            <a:r>
              <a:t/>
            </a:r>
            <a:endParaRPr b="1" sz="2000"/>
          </a:p>
          <a:p>
            <a:pPr indent="0" lvl="0" marL="0" rtl="0" algn="l">
              <a:lnSpc>
                <a:spcPct val="100000"/>
              </a:lnSpc>
              <a:spcBef>
                <a:spcPts val="400"/>
              </a:spcBef>
              <a:spcAft>
                <a:spcPts val="0"/>
              </a:spcAft>
              <a:buNone/>
            </a:pPr>
            <a:r>
              <a:rPr lang="en"/>
              <a:t>   </a:t>
            </a:r>
            <a:r>
              <a:rPr lang="en"/>
              <a:t>Citadel, Optiver, IMC, DRW, Virtu, CTC</a:t>
            </a:r>
            <a:endParaRPr/>
          </a:p>
          <a:p>
            <a:pPr indent="0" lvl="0" marL="0" rtl="0" algn="l">
              <a:lnSpc>
                <a:spcPct val="100000"/>
              </a:lnSpc>
              <a:spcBef>
                <a:spcPts val="400"/>
              </a:spcBef>
              <a:spcAft>
                <a:spcPts val="0"/>
              </a:spcAft>
              <a:buNone/>
            </a:pPr>
            <a:r>
              <a:t/>
            </a:r>
            <a:endParaRPr/>
          </a:p>
          <a:p>
            <a:pPr indent="0" lvl="0" marL="0" rtl="0" algn="l">
              <a:spcBef>
                <a:spcPts val="400"/>
              </a:spcBef>
              <a:spcAft>
                <a:spcPts val="1600"/>
              </a:spcAft>
              <a:buNone/>
            </a:pPr>
            <a:r>
              <a:t/>
            </a:r>
            <a:endParaRPr/>
          </a:p>
        </p:txBody>
      </p:sp>
      <p:pic>
        <p:nvPicPr>
          <p:cNvPr id="185" name="Google Shape;185;p20"/>
          <p:cNvPicPr preferRelativeResize="0"/>
          <p:nvPr/>
        </p:nvPicPr>
        <p:blipFill>
          <a:blip r:embed="rId3">
            <a:alphaModFix/>
          </a:blip>
          <a:stretch>
            <a:fillRect/>
          </a:stretch>
        </p:blipFill>
        <p:spPr>
          <a:xfrm>
            <a:off x="1509688" y="1770500"/>
            <a:ext cx="2978824" cy="1985875"/>
          </a:xfrm>
          <a:prstGeom prst="rect">
            <a:avLst/>
          </a:prstGeom>
          <a:noFill/>
          <a:ln cap="flat" cmpd="sng" w="19050">
            <a:solidFill>
              <a:schemeClr val="accent3"/>
            </a:solidFill>
            <a:prstDash val="solid"/>
            <a:round/>
            <a:headEnd len="sm" w="sm" type="none"/>
            <a:tailEnd len="sm" w="sm" type="none"/>
          </a:ln>
        </p:spPr>
      </p:pic>
      <p:pic>
        <p:nvPicPr>
          <p:cNvPr id="186" name="Google Shape;186;p20"/>
          <p:cNvPicPr preferRelativeResize="0"/>
          <p:nvPr/>
        </p:nvPicPr>
        <p:blipFill>
          <a:blip r:embed="rId4">
            <a:alphaModFix/>
          </a:blip>
          <a:stretch>
            <a:fillRect/>
          </a:stretch>
        </p:blipFill>
        <p:spPr>
          <a:xfrm>
            <a:off x="5164504" y="1770511"/>
            <a:ext cx="2940596" cy="1985875"/>
          </a:xfrm>
          <a:prstGeom prst="rect">
            <a:avLst/>
          </a:prstGeom>
          <a:noFill/>
          <a:ln cap="flat" cmpd="sng" w="19050">
            <a:solidFill>
              <a:schemeClr val="accent3"/>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Roles in Quant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Roles in Quantitative Finance</a:t>
            </a:r>
            <a:endParaRPr/>
          </a:p>
        </p:txBody>
      </p:sp>
      <p:sp>
        <p:nvSpPr>
          <p:cNvPr id="197" name="Google Shape;197;p22"/>
          <p:cNvSpPr txBox="1"/>
          <p:nvPr>
            <p:ph idx="1" type="body"/>
          </p:nvPr>
        </p:nvSpPr>
        <p:spPr>
          <a:xfrm>
            <a:off x="1297500" y="1105450"/>
            <a:ext cx="66234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Quantitative Traders</a:t>
            </a:r>
            <a:endParaRPr sz="1600"/>
          </a:p>
          <a:p>
            <a:pPr indent="-330200" lvl="0" marL="457200" rtl="0" algn="l">
              <a:spcBef>
                <a:spcPts val="1600"/>
              </a:spcBef>
              <a:spcAft>
                <a:spcPts val="0"/>
              </a:spcAft>
              <a:buSzPts val="1600"/>
              <a:buChar char="●"/>
            </a:pPr>
            <a:r>
              <a:rPr lang="en" sz="1600"/>
              <a:t>Execute trades</a:t>
            </a:r>
            <a:endParaRPr sz="1600"/>
          </a:p>
          <a:p>
            <a:pPr indent="-330200" lvl="0" marL="457200" rtl="0" algn="l">
              <a:spcBef>
                <a:spcPts val="0"/>
              </a:spcBef>
              <a:spcAft>
                <a:spcPts val="0"/>
              </a:spcAft>
              <a:buSzPts val="1600"/>
              <a:buChar char="●"/>
            </a:pPr>
            <a:r>
              <a:rPr lang="en" sz="1600"/>
              <a:t>Teams divided based on asset class and other factors</a:t>
            </a:r>
            <a:endParaRPr sz="1600"/>
          </a:p>
          <a:p>
            <a:pPr indent="-330200" lvl="0" marL="457200" rtl="0" algn="l">
              <a:spcBef>
                <a:spcPts val="0"/>
              </a:spcBef>
              <a:spcAft>
                <a:spcPts val="0"/>
              </a:spcAft>
              <a:buSzPts val="1600"/>
              <a:buChar char="●"/>
            </a:pPr>
            <a:r>
              <a:rPr lang="en" sz="1600"/>
              <a:t>Act as a manager to automated trading systems</a:t>
            </a:r>
            <a:endParaRPr sz="1600"/>
          </a:p>
          <a:p>
            <a:pPr indent="-330200" lvl="1" marL="914400" rtl="0" algn="l">
              <a:spcBef>
                <a:spcPts val="0"/>
              </a:spcBef>
              <a:spcAft>
                <a:spcPts val="0"/>
              </a:spcAft>
              <a:buSzPts val="1600"/>
              <a:buChar char="○"/>
            </a:pPr>
            <a:r>
              <a:rPr lang="en" sz="1600"/>
              <a:t>Change parameters</a:t>
            </a:r>
            <a:endParaRPr sz="1600"/>
          </a:p>
          <a:p>
            <a:pPr indent="-330200" lvl="1" marL="914400" rtl="0" algn="l">
              <a:spcBef>
                <a:spcPts val="0"/>
              </a:spcBef>
              <a:spcAft>
                <a:spcPts val="0"/>
              </a:spcAft>
              <a:buSzPts val="1600"/>
              <a:buChar char="○"/>
            </a:pPr>
            <a:r>
              <a:rPr lang="en" sz="1600"/>
              <a:t>Respond to the market</a:t>
            </a:r>
            <a:endParaRPr sz="1600"/>
          </a:p>
          <a:p>
            <a:pPr indent="-330200" lvl="0" marL="457200" rtl="0" algn="l">
              <a:spcBef>
                <a:spcPts val="0"/>
              </a:spcBef>
              <a:spcAft>
                <a:spcPts val="0"/>
              </a:spcAft>
              <a:buSzPts val="1600"/>
              <a:buChar char="●"/>
            </a:pPr>
            <a:r>
              <a:rPr lang="en" sz="1600"/>
              <a:t>Analyze and improve decision making process in post-trade analysis</a:t>
            </a:r>
            <a:endParaRPr sz="1600"/>
          </a:p>
          <a:p>
            <a:pPr indent="0" lvl="0" marL="0" rtl="0" algn="l">
              <a:spcBef>
                <a:spcPts val="1600"/>
              </a:spcBef>
              <a:spcAft>
                <a:spcPts val="1600"/>
              </a:spcAft>
              <a:buNone/>
            </a:pPr>
            <a:r>
              <a:rPr lang="en" sz="1600"/>
              <a:t>Much of young traders’ time is spent shadowing other traders and developing what’s referred to as “traders’ intuition”</a:t>
            </a:r>
            <a:endParaRPr sz="1600"/>
          </a:p>
        </p:txBody>
      </p:sp>
      <p:pic>
        <p:nvPicPr>
          <p:cNvPr id="198" name="Google Shape;198;p22"/>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Roles in Quantitative Finance</a:t>
            </a:r>
            <a:endParaRPr/>
          </a:p>
        </p:txBody>
      </p:sp>
      <p:sp>
        <p:nvSpPr>
          <p:cNvPr id="204" name="Google Shape;204;p23"/>
          <p:cNvSpPr txBox="1"/>
          <p:nvPr>
            <p:ph idx="1" type="body"/>
          </p:nvPr>
        </p:nvSpPr>
        <p:spPr>
          <a:xfrm>
            <a:off x="1297500" y="1105450"/>
            <a:ext cx="66234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Software Engineers</a:t>
            </a:r>
            <a:endParaRPr sz="1600"/>
          </a:p>
          <a:p>
            <a:pPr indent="-330200" lvl="0" marL="457200" rtl="0" algn="l">
              <a:spcBef>
                <a:spcPts val="1600"/>
              </a:spcBef>
              <a:spcAft>
                <a:spcPts val="0"/>
              </a:spcAft>
              <a:buSzPts val="1600"/>
              <a:buChar char="●"/>
            </a:pPr>
            <a:r>
              <a:rPr lang="en" sz="1600"/>
              <a:t>Similar to their big tech counterparts</a:t>
            </a:r>
            <a:endParaRPr sz="1600"/>
          </a:p>
          <a:p>
            <a:pPr indent="-330200" lvl="0" marL="457200" rtl="0" algn="l">
              <a:spcBef>
                <a:spcPts val="0"/>
              </a:spcBef>
              <a:spcAft>
                <a:spcPts val="0"/>
              </a:spcAft>
              <a:buSzPts val="1600"/>
              <a:buChar char="●"/>
            </a:pPr>
            <a:r>
              <a:rPr lang="en" sz="1600"/>
              <a:t>Manage infrastructure</a:t>
            </a:r>
            <a:endParaRPr sz="1600"/>
          </a:p>
          <a:p>
            <a:pPr indent="-330200" lvl="0" marL="457200" rtl="0" algn="l">
              <a:spcBef>
                <a:spcPts val="0"/>
              </a:spcBef>
              <a:spcAft>
                <a:spcPts val="0"/>
              </a:spcAft>
              <a:buSzPts val="1600"/>
              <a:buChar char="●"/>
            </a:pPr>
            <a:r>
              <a:rPr lang="en" sz="1600"/>
              <a:t>Deal with scalability</a:t>
            </a:r>
            <a:endParaRPr sz="1600"/>
          </a:p>
          <a:p>
            <a:pPr indent="-330200" lvl="0" marL="457200" rtl="0" algn="l">
              <a:spcBef>
                <a:spcPts val="0"/>
              </a:spcBef>
              <a:spcAft>
                <a:spcPts val="0"/>
              </a:spcAft>
              <a:buSzPts val="1600"/>
              <a:buChar char="●"/>
            </a:pPr>
            <a:r>
              <a:rPr lang="en" sz="1600"/>
              <a:t>Optimize trading algorithms for speed and efficiency</a:t>
            </a:r>
            <a:endParaRPr sz="1600"/>
          </a:p>
          <a:p>
            <a:pPr indent="-330200" lvl="1" marL="914400" rtl="0" algn="l">
              <a:spcBef>
                <a:spcPts val="0"/>
              </a:spcBef>
              <a:spcAft>
                <a:spcPts val="0"/>
              </a:spcAft>
              <a:buSzPts val="1600"/>
              <a:buChar char="○"/>
            </a:pPr>
            <a:r>
              <a:rPr lang="en" sz="1600"/>
              <a:t>Low latency programming</a:t>
            </a:r>
            <a:endParaRPr sz="1600"/>
          </a:p>
          <a:p>
            <a:pPr indent="-330200" lvl="1" marL="914400" rtl="0" algn="l">
              <a:spcBef>
                <a:spcPts val="0"/>
              </a:spcBef>
              <a:spcAft>
                <a:spcPts val="0"/>
              </a:spcAft>
              <a:buSzPts val="1600"/>
              <a:buChar char="○"/>
            </a:pPr>
            <a:r>
              <a:rPr lang="en" sz="1600"/>
              <a:t>FPGAs</a:t>
            </a:r>
            <a:endParaRPr sz="1600"/>
          </a:p>
          <a:p>
            <a:pPr indent="0" lvl="0" marL="0" rtl="0" algn="l">
              <a:spcBef>
                <a:spcPts val="1600"/>
              </a:spcBef>
              <a:spcAft>
                <a:spcPts val="1600"/>
              </a:spcAft>
              <a:buNone/>
            </a:pPr>
            <a:r>
              <a:rPr lang="en" sz="1600"/>
              <a:t>Generally working as a SWE in a quant firm is similar to working as a SWE anywhere else, but with higher stakes and an emphasis on efficient system design and speed.</a:t>
            </a:r>
            <a:endParaRPr sz="1600"/>
          </a:p>
        </p:txBody>
      </p:sp>
      <p:pic>
        <p:nvPicPr>
          <p:cNvPr id="205" name="Google Shape;205;p23"/>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Roles in Quantitative Finance</a:t>
            </a:r>
            <a:endParaRPr/>
          </a:p>
        </p:txBody>
      </p:sp>
      <p:sp>
        <p:nvSpPr>
          <p:cNvPr id="211" name="Google Shape;211;p24"/>
          <p:cNvSpPr txBox="1"/>
          <p:nvPr>
            <p:ph idx="1" type="body"/>
          </p:nvPr>
        </p:nvSpPr>
        <p:spPr>
          <a:xfrm>
            <a:off x="1297500" y="1105450"/>
            <a:ext cx="66234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Quantitative Researchers</a:t>
            </a:r>
            <a:endParaRPr sz="1600"/>
          </a:p>
          <a:p>
            <a:pPr indent="-330200" lvl="0" marL="457200" rtl="0" algn="l">
              <a:spcBef>
                <a:spcPts val="1600"/>
              </a:spcBef>
              <a:spcAft>
                <a:spcPts val="0"/>
              </a:spcAft>
              <a:buSzPts val="1600"/>
              <a:buChar char="●"/>
            </a:pPr>
            <a:r>
              <a:rPr lang="en" sz="1600"/>
              <a:t>Work has aspects of both traders and engineers</a:t>
            </a:r>
            <a:endParaRPr sz="1600"/>
          </a:p>
          <a:p>
            <a:pPr indent="-330200" lvl="0" marL="457200" rtl="0" algn="l">
              <a:spcBef>
                <a:spcPts val="0"/>
              </a:spcBef>
              <a:spcAft>
                <a:spcPts val="0"/>
              </a:spcAft>
              <a:buSzPts val="1600"/>
              <a:buChar char="●"/>
            </a:pPr>
            <a:r>
              <a:rPr lang="en" sz="1600"/>
              <a:t>Analyze trades</a:t>
            </a:r>
            <a:endParaRPr sz="1600"/>
          </a:p>
          <a:p>
            <a:pPr indent="-330200" lvl="0" marL="457200" rtl="0" algn="l">
              <a:spcBef>
                <a:spcPts val="0"/>
              </a:spcBef>
              <a:spcAft>
                <a:spcPts val="0"/>
              </a:spcAft>
              <a:buSzPts val="1600"/>
              <a:buChar char="●"/>
            </a:pPr>
            <a:r>
              <a:rPr lang="en" sz="1600"/>
              <a:t>Use statistical inference and data analysis</a:t>
            </a:r>
            <a:endParaRPr sz="1600"/>
          </a:p>
          <a:p>
            <a:pPr indent="-330200" lvl="0" marL="457200" rtl="0" algn="l">
              <a:spcBef>
                <a:spcPts val="0"/>
              </a:spcBef>
              <a:spcAft>
                <a:spcPts val="0"/>
              </a:spcAft>
              <a:buSzPts val="1600"/>
              <a:buChar char="●"/>
            </a:pPr>
            <a:r>
              <a:rPr lang="en" sz="1600"/>
              <a:t>Develops algorithms at a higher level which will be optimized later</a:t>
            </a:r>
            <a:endParaRPr sz="1600"/>
          </a:p>
          <a:p>
            <a:pPr indent="-330200" lvl="0" marL="457200" rtl="0" algn="l">
              <a:spcBef>
                <a:spcPts val="0"/>
              </a:spcBef>
              <a:spcAft>
                <a:spcPts val="0"/>
              </a:spcAft>
              <a:buSzPts val="1600"/>
              <a:buChar char="●"/>
            </a:pPr>
            <a:r>
              <a:rPr lang="en" sz="1600"/>
              <a:t>Highly secretive and highly paid</a:t>
            </a:r>
            <a:endParaRPr sz="1600"/>
          </a:p>
          <a:p>
            <a:pPr indent="0" lvl="0" marL="0" rtl="0" algn="l">
              <a:lnSpc>
                <a:spcPct val="100000"/>
              </a:lnSpc>
              <a:spcBef>
                <a:spcPts val="1600"/>
              </a:spcBef>
              <a:spcAft>
                <a:spcPts val="0"/>
              </a:spcAft>
              <a:buNone/>
            </a:pPr>
            <a:r>
              <a:rPr lang="en" sz="1600"/>
              <a:t>Researchers generally have advanced degrees </a:t>
            </a:r>
            <a:endParaRPr sz="1600"/>
          </a:p>
          <a:p>
            <a:pPr indent="0" lvl="0" marL="0" rtl="0" algn="l">
              <a:lnSpc>
                <a:spcPct val="100000"/>
              </a:lnSpc>
              <a:spcBef>
                <a:spcPts val="400"/>
              </a:spcBef>
              <a:spcAft>
                <a:spcPts val="1600"/>
              </a:spcAft>
              <a:buNone/>
            </a:pPr>
            <a:r>
              <a:rPr lang="en" sz="1600"/>
              <a:t>(PhD and less frequently MS)</a:t>
            </a:r>
            <a:endParaRPr sz="1600"/>
          </a:p>
        </p:txBody>
      </p:sp>
      <p:pic>
        <p:nvPicPr>
          <p:cNvPr id="212" name="Google Shape;212;p24"/>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What is an Order Book?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a:t>
            </a:r>
            <a:endParaRPr/>
          </a:p>
        </p:txBody>
      </p:sp>
      <p:sp>
        <p:nvSpPr>
          <p:cNvPr id="223" name="Google Shape;223;p26"/>
          <p:cNvSpPr txBox="1"/>
          <p:nvPr>
            <p:ph idx="1" type="body"/>
          </p:nvPr>
        </p:nvSpPr>
        <p:spPr>
          <a:xfrm>
            <a:off x="1105450" y="1207350"/>
            <a:ext cx="6468300" cy="3393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A visual representation of current limit orders</a:t>
            </a:r>
            <a:endParaRPr sz="1600"/>
          </a:p>
          <a:p>
            <a:pPr indent="-330200" lvl="1" marL="914400" rtl="0" algn="l">
              <a:spcBef>
                <a:spcPts val="0"/>
              </a:spcBef>
              <a:spcAft>
                <a:spcPts val="0"/>
              </a:spcAft>
              <a:buSzPts val="1600"/>
              <a:buChar char="○"/>
            </a:pPr>
            <a:r>
              <a:rPr lang="en" sz="1600"/>
              <a:t>Limit orders: Orders placed to buy or sell at a specific, predetermined price</a:t>
            </a:r>
            <a:endParaRPr sz="1600"/>
          </a:p>
          <a:p>
            <a:pPr indent="-330200" lvl="1" marL="914400" rtl="0" algn="l">
              <a:spcBef>
                <a:spcPts val="0"/>
              </a:spcBef>
              <a:spcAft>
                <a:spcPts val="0"/>
              </a:spcAft>
              <a:buSzPts val="1600"/>
              <a:buChar char="○"/>
            </a:pPr>
            <a:r>
              <a:rPr lang="en" sz="1600"/>
              <a:t>Market orders: Orders placed to buy at the current available price</a:t>
            </a:r>
            <a:endParaRPr sz="1600"/>
          </a:p>
          <a:p>
            <a:pPr indent="-330200" lvl="0" marL="457200" rtl="0" algn="l">
              <a:spcBef>
                <a:spcPts val="0"/>
              </a:spcBef>
              <a:spcAft>
                <a:spcPts val="0"/>
              </a:spcAft>
              <a:buSzPts val="1600"/>
              <a:buChar char="●"/>
            </a:pPr>
            <a:r>
              <a:rPr lang="en" sz="1600"/>
              <a:t>Understanding an order book is very important for working in quant (and as a result, interviewing for quant)</a:t>
            </a:r>
            <a:endParaRPr sz="1600"/>
          </a:p>
          <a:p>
            <a:pPr indent="-330200" lvl="0" marL="457200" rtl="0" algn="l">
              <a:spcBef>
                <a:spcPts val="0"/>
              </a:spcBef>
              <a:spcAft>
                <a:spcPts val="0"/>
              </a:spcAft>
              <a:buSzPts val="1600"/>
              <a:buChar char="●"/>
            </a:pPr>
            <a:r>
              <a:rPr lang="en" sz="1600"/>
              <a:t>The order book is a key component of understanding how market makers make money</a:t>
            </a:r>
            <a:endParaRPr sz="1600"/>
          </a:p>
        </p:txBody>
      </p:sp>
      <p:pic>
        <p:nvPicPr>
          <p:cNvPr id="224" name="Google Shape;224;p26"/>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txBox="1"/>
          <p:nvPr>
            <p:ph type="title"/>
          </p:nvPr>
        </p:nvSpPr>
        <p:spPr>
          <a:xfrm>
            <a:off x="12975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pic>
        <p:nvPicPr>
          <p:cNvPr id="230" name="Google Shape;230;p27"/>
          <p:cNvPicPr preferRelativeResize="0"/>
          <p:nvPr/>
        </p:nvPicPr>
        <p:blipFill>
          <a:blip r:embed="rId3">
            <a:alphaModFix/>
          </a:blip>
          <a:stretch>
            <a:fillRect/>
          </a:stretch>
        </p:blipFill>
        <p:spPr>
          <a:xfrm>
            <a:off x="7481275" y="0"/>
            <a:ext cx="1662724" cy="1662725"/>
          </a:xfrm>
          <a:prstGeom prst="rect">
            <a:avLst/>
          </a:prstGeom>
          <a:noFill/>
          <a:ln>
            <a:noFill/>
          </a:ln>
        </p:spPr>
      </p:pic>
      <p:graphicFrame>
        <p:nvGraphicFramePr>
          <p:cNvPr id="231" name="Google Shape;231;p27"/>
          <p:cNvGraphicFramePr/>
          <p:nvPr/>
        </p:nvGraphicFramePr>
        <p:xfrm>
          <a:off x="823325" y="1469625"/>
          <a:ext cx="3000000" cy="3000000"/>
        </p:xfrm>
        <a:graphic>
          <a:graphicData uri="http://schemas.openxmlformats.org/drawingml/2006/table">
            <a:tbl>
              <a:tblPr>
                <a:noFill/>
                <a:tableStyleId>{5FB98911-617A-47D2-B3BC-704865311D28}</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60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99.98</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99.97</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8"/>
          <p:cNvSpPr txBox="1"/>
          <p:nvPr>
            <p:ph type="title"/>
          </p:nvPr>
        </p:nvSpPr>
        <p:spPr>
          <a:xfrm>
            <a:off x="12975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pic>
        <p:nvPicPr>
          <p:cNvPr id="237" name="Google Shape;237;p28"/>
          <p:cNvPicPr preferRelativeResize="0"/>
          <p:nvPr/>
        </p:nvPicPr>
        <p:blipFill>
          <a:blip r:embed="rId3">
            <a:alphaModFix/>
          </a:blip>
          <a:stretch>
            <a:fillRect/>
          </a:stretch>
        </p:blipFill>
        <p:spPr>
          <a:xfrm>
            <a:off x="7481275" y="0"/>
            <a:ext cx="1662724" cy="1662725"/>
          </a:xfrm>
          <a:prstGeom prst="rect">
            <a:avLst/>
          </a:prstGeom>
          <a:noFill/>
          <a:ln>
            <a:noFill/>
          </a:ln>
        </p:spPr>
      </p:pic>
      <p:graphicFrame>
        <p:nvGraphicFramePr>
          <p:cNvPr id="238" name="Google Shape;238;p28"/>
          <p:cNvGraphicFramePr/>
          <p:nvPr/>
        </p:nvGraphicFramePr>
        <p:xfrm>
          <a:off x="823325" y="1469625"/>
          <a:ext cx="3000000" cy="3000000"/>
        </p:xfrm>
        <a:graphic>
          <a:graphicData uri="http://schemas.openxmlformats.org/drawingml/2006/table">
            <a:tbl>
              <a:tblPr>
                <a:noFill/>
                <a:tableStyleId>{5FB98911-617A-47D2-B3BC-704865311D28}</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 (SOLD)</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50 (SOLD)</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60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99.98</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99.97</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9"/>
          <p:cNvSpPr txBox="1"/>
          <p:nvPr>
            <p:ph type="title"/>
          </p:nvPr>
        </p:nvSpPr>
        <p:spPr>
          <a:xfrm>
            <a:off x="12975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pic>
        <p:nvPicPr>
          <p:cNvPr id="244" name="Google Shape;244;p29"/>
          <p:cNvPicPr preferRelativeResize="0"/>
          <p:nvPr/>
        </p:nvPicPr>
        <p:blipFill>
          <a:blip r:embed="rId3">
            <a:alphaModFix/>
          </a:blip>
          <a:stretch>
            <a:fillRect/>
          </a:stretch>
        </p:blipFill>
        <p:spPr>
          <a:xfrm>
            <a:off x="7481275" y="0"/>
            <a:ext cx="1662724" cy="1662725"/>
          </a:xfrm>
          <a:prstGeom prst="rect">
            <a:avLst/>
          </a:prstGeom>
          <a:noFill/>
          <a:ln>
            <a:noFill/>
          </a:ln>
        </p:spPr>
      </p:pic>
      <p:graphicFrame>
        <p:nvGraphicFramePr>
          <p:cNvPr id="245" name="Google Shape;245;p29"/>
          <p:cNvGraphicFramePr/>
          <p:nvPr/>
        </p:nvGraphicFramePr>
        <p:xfrm>
          <a:off x="823325" y="1469625"/>
          <a:ext cx="3000000" cy="3000000"/>
        </p:xfrm>
        <a:graphic>
          <a:graphicData uri="http://schemas.openxmlformats.org/drawingml/2006/table">
            <a:tbl>
              <a:tblPr>
                <a:noFill/>
                <a:tableStyleId>{5FB98911-617A-47D2-B3BC-704865311D28}</a:tableStyleId>
              </a:tblPr>
              <a:tblGrid>
                <a:gridCol w="2413000"/>
                <a:gridCol w="2413000"/>
                <a:gridCol w="2413000"/>
              </a:tblGrid>
              <a:tr h="433875">
                <a:tc>
                  <a:txBody>
                    <a:bodyPr/>
                    <a:lstStyle/>
                    <a:p>
                      <a:pPr indent="0" lvl="0" marL="0" rtl="0" algn="l">
                        <a:spcBef>
                          <a:spcPts val="0"/>
                        </a:spcBef>
                        <a:spcAft>
                          <a:spcPts val="0"/>
                        </a:spcAft>
                        <a:buNone/>
                      </a:pPr>
                      <a:r>
                        <a:rPr lang="en" sz="1600">
                          <a:solidFill>
                            <a:srgbClr val="FFFFFF"/>
                          </a:solidFill>
                        </a:rPr>
                        <a:t>Bid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Price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Ask (Volume)</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100.05</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250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100.04</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200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502000">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100.03</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150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100.02</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60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100.01</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33875">
                <a:tc>
                  <a:txBody>
                    <a:bodyPr/>
                    <a:lstStyle/>
                    <a:p>
                      <a:pPr indent="0" lvl="0" marL="0" rtl="0" algn="l">
                        <a:spcBef>
                          <a:spcPts val="0"/>
                        </a:spcBef>
                        <a:spcAft>
                          <a:spcPts val="0"/>
                        </a:spcAft>
                        <a:buNone/>
                      </a:pPr>
                      <a:r>
                        <a:rPr lang="en" sz="1600">
                          <a:solidFill>
                            <a:srgbClr val="FFFFFF"/>
                          </a:solidFill>
                        </a:rPr>
                        <a:t>120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100.00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471050">
                <a:tc>
                  <a:txBody>
                    <a:bodyPr/>
                    <a:lstStyle/>
                    <a:p>
                      <a:pPr indent="0" lvl="0" marL="0" rtl="0" algn="l">
                        <a:spcBef>
                          <a:spcPts val="0"/>
                        </a:spcBef>
                        <a:spcAft>
                          <a:spcPts val="0"/>
                        </a:spcAft>
                        <a:buNone/>
                      </a:pPr>
                      <a:r>
                        <a:rPr lang="en" sz="1600">
                          <a:solidFill>
                            <a:srgbClr val="FFFFFF"/>
                          </a:solidFill>
                        </a:rPr>
                        <a:t>180</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rgbClr val="FFFFFF"/>
                          </a:solidFill>
                        </a:rPr>
                        <a:t>99.99</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600">
                        <a:solidFill>
                          <a:srgbClr val="FFFF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0"/>
          <p:cNvSpPr txBox="1"/>
          <p:nvPr>
            <p:ph type="title"/>
          </p:nvPr>
        </p:nvSpPr>
        <p:spPr>
          <a:xfrm>
            <a:off x="1297500" y="393750"/>
            <a:ext cx="7038900" cy="56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Order Book Example</a:t>
            </a:r>
            <a:endParaRPr/>
          </a:p>
        </p:txBody>
      </p:sp>
      <p:pic>
        <p:nvPicPr>
          <p:cNvPr id="251" name="Google Shape;251;p30"/>
          <p:cNvPicPr preferRelativeResize="0"/>
          <p:nvPr/>
        </p:nvPicPr>
        <p:blipFill>
          <a:blip r:embed="rId3">
            <a:alphaModFix/>
          </a:blip>
          <a:stretch>
            <a:fillRect/>
          </a:stretch>
        </p:blipFill>
        <p:spPr>
          <a:xfrm>
            <a:off x="7481275" y="0"/>
            <a:ext cx="1662724" cy="1662725"/>
          </a:xfrm>
          <a:prstGeom prst="rect">
            <a:avLst/>
          </a:prstGeom>
          <a:noFill/>
          <a:ln>
            <a:noFill/>
          </a:ln>
        </p:spPr>
      </p:pic>
      <p:pic>
        <p:nvPicPr>
          <p:cNvPr id="252" name="Google Shape;252;p30"/>
          <p:cNvPicPr preferRelativeResize="0"/>
          <p:nvPr/>
        </p:nvPicPr>
        <p:blipFill rotWithShape="1">
          <a:blip r:embed="rId4">
            <a:alphaModFix/>
          </a:blip>
          <a:srcRect b="0" l="0" r="0" t="0"/>
          <a:stretch/>
        </p:blipFill>
        <p:spPr>
          <a:xfrm>
            <a:off x="2196875" y="1371600"/>
            <a:ext cx="4572201" cy="3025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1"/>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Market Making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Market Making?</a:t>
            </a:r>
            <a:endParaRPr/>
          </a:p>
        </p:txBody>
      </p:sp>
      <p:sp>
        <p:nvSpPr>
          <p:cNvPr id="263" name="Google Shape;263;p32"/>
          <p:cNvSpPr txBox="1"/>
          <p:nvPr>
            <p:ph idx="1" type="body"/>
          </p:nvPr>
        </p:nvSpPr>
        <p:spPr>
          <a:xfrm>
            <a:off x="1297500" y="1105450"/>
            <a:ext cx="62214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 the general sense, a market is a place where you can both buy and sell assets (food, clothing, financial assets, illegal goods, etc.).</a:t>
            </a:r>
            <a:endParaRPr sz="1600"/>
          </a:p>
          <a:p>
            <a:pPr indent="0" lvl="0" marL="0" rtl="0" algn="l">
              <a:spcBef>
                <a:spcPts val="1600"/>
              </a:spcBef>
              <a:spcAft>
                <a:spcPts val="0"/>
              </a:spcAft>
              <a:buNone/>
            </a:pPr>
            <a:r>
              <a:rPr lang="en" sz="1600"/>
              <a:t>Any person who buys or sells a given asset might be a component of a market, but is not considered a market maker. The key feature of a market </a:t>
            </a:r>
            <a:r>
              <a:rPr b="1" lang="en" sz="1600" u="sng"/>
              <a:t>maker</a:t>
            </a:r>
            <a:r>
              <a:rPr lang="en" sz="1600"/>
              <a:t> is that they quote both a buy </a:t>
            </a:r>
            <a:r>
              <a:rPr b="1" lang="en" sz="1600"/>
              <a:t>and</a:t>
            </a:r>
            <a:r>
              <a:rPr lang="en" sz="1600"/>
              <a:t> sell price for an asset.</a:t>
            </a:r>
            <a:endParaRPr sz="1600"/>
          </a:p>
          <a:p>
            <a:pPr indent="0" lvl="0" marL="0" rtl="0" algn="l">
              <a:spcBef>
                <a:spcPts val="1600"/>
              </a:spcBef>
              <a:spcAft>
                <a:spcPts val="0"/>
              </a:spcAft>
              <a:buNone/>
            </a:pPr>
            <a:r>
              <a:rPr lang="en" sz="1600"/>
              <a:t>Some of the more well known market makers are:</a:t>
            </a:r>
            <a:endParaRPr sz="1600"/>
          </a:p>
          <a:p>
            <a:pPr indent="-330200" lvl="0" marL="457200" rtl="0" algn="l">
              <a:spcBef>
                <a:spcPts val="1600"/>
              </a:spcBef>
              <a:spcAft>
                <a:spcPts val="0"/>
              </a:spcAft>
              <a:buSzPts val="1600"/>
              <a:buChar char="●"/>
            </a:pPr>
            <a:r>
              <a:rPr lang="en" sz="1600"/>
              <a:t>Citadel Securities</a:t>
            </a:r>
            <a:endParaRPr sz="1600"/>
          </a:p>
          <a:p>
            <a:pPr indent="-330200" lvl="0" marL="457200" rtl="0" algn="l">
              <a:spcBef>
                <a:spcPts val="0"/>
              </a:spcBef>
              <a:spcAft>
                <a:spcPts val="0"/>
              </a:spcAft>
              <a:buSzPts val="1600"/>
              <a:buChar char="●"/>
            </a:pPr>
            <a:r>
              <a:rPr lang="en" sz="1600"/>
              <a:t>Jane Street</a:t>
            </a:r>
            <a:endParaRPr sz="1600"/>
          </a:p>
          <a:p>
            <a:pPr indent="-330200" lvl="0" marL="457200" rtl="0" algn="l">
              <a:spcBef>
                <a:spcPts val="0"/>
              </a:spcBef>
              <a:spcAft>
                <a:spcPts val="0"/>
              </a:spcAft>
              <a:buSzPts val="1600"/>
              <a:buChar char="●"/>
            </a:pPr>
            <a:r>
              <a:rPr lang="en" sz="1600"/>
              <a:t>Virtu Financial</a:t>
            </a:r>
            <a:endParaRPr sz="1600"/>
          </a:p>
          <a:p>
            <a:pPr indent="-330200" lvl="0" marL="457200" rtl="0" algn="l">
              <a:spcBef>
                <a:spcPts val="0"/>
              </a:spcBef>
              <a:spcAft>
                <a:spcPts val="0"/>
              </a:spcAft>
              <a:buSzPts val="1600"/>
              <a:buChar char="●"/>
            </a:pPr>
            <a:r>
              <a:rPr lang="en" sz="1600"/>
              <a:t>Many large banks (Goldman Sachs, Morgan Stanley)</a:t>
            </a:r>
            <a:endParaRPr sz="1600"/>
          </a:p>
        </p:txBody>
      </p:sp>
      <p:pic>
        <p:nvPicPr>
          <p:cNvPr id="264" name="Google Shape;264;p32"/>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MMs make money?</a:t>
            </a:r>
            <a:endParaRPr/>
          </a:p>
        </p:txBody>
      </p:sp>
      <p:sp>
        <p:nvSpPr>
          <p:cNvPr id="270" name="Google Shape;270;p33"/>
          <p:cNvSpPr txBox="1"/>
          <p:nvPr>
            <p:ph idx="1" type="body"/>
          </p:nvPr>
        </p:nvSpPr>
        <p:spPr>
          <a:xfrm>
            <a:off x="1297500" y="1105450"/>
            <a:ext cx="62214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goal of a market maker is to quote bid and ask prices such that people buy and sell equal amounts of the asset on both sides.</a:t>
            </a:r>
            <a:endParaRPr sz="1600"/>
          </a:p>
          <a:p>
            <a:pPr indent="0" lvl="0" marL="0" rtl="0" algn="l">
              <a:spcBef>
                <a:spcPts val="1600"/>
              </a:spcBef>
              <a:spcAft>
                <a:spcPts val="0"/>
              </a:spcAft>
              <a:buNone/>
            </a:pPr>
            <a:r>
              <a:rPr lang="en" sz="1600"/>
              <a:t>From the order book example earlier, if there are no large orders, and market orders are trickling in, whoever is making that market makes $0.02 for every pair of offsetting trades.</a:t>
            </a:r>
            <a:endParaRPr sz="1600"/>
          </a:p>
          <a:p>
            <a:pPr indent="0" lvl="0" marL="0" rtl="0" algn="l">
              <a:spcBef>
                <a:spcPts val="1600"/>
              </a:spcBef>
              <a:spcAft>
                <a:spcPts val="1600"/>
              </a:spcAft>
              <a:buNone/>
            </a:pPr>
            <a:r>
              <a:rPr lang="en" sz="1600"/>
              <a:t>An interesting feature of this strategy is that market makers remain neutral to moves up or down in the market. As long as their quoted prices result in equal amounts of trading on either side, they profit, regardless of large swings in the market.</a:t>
            </a:r>
            <a:endParaRPr sz="1600"/>
          </a:p>
        </p:txBody>
      </p:sp>
      <p:pic>
        <p:nvPicPr>
          <p:cNvPr id="271" name="Google Shape;271;p33"/>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4"/>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High Frequency Trading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HFT?</a:t>
            </a:r>
            <a:endParaRPr/>
          </a:p>
        </p:txBody>
      </p:sp>
      <p:sp>
        <p:nvSpPr>
          <p:cNvPr id="282" name="Google Shape;282;p35"/>
          <p:cNvSpPr txBox="1"/>
          <p:nvPr>
            <p:ph idx="1" type="body"/>
          </p:nvPr>
        </p:nvSpPr>
        <p:spPr>
          <a:xfrm>
            <a:off x="1297500" y="1105450"/>
            <a:ext cx="66234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practice of trading at incredibly high speeds</a:t>
            </a:r>
            <a:endParaRPr sz="1600"/>
          </a:p>
          <a:p>
            <a:pPr indent="-330200" lvl="0" marL="457200" rtl="0" algn="l">
              <a:spcBef>
                <a:spcPts val="1600"/>
              </a:spcBef>
              <a:spcAft>
                <a:spcPts val="0"/>
              </a:spcAft>
              <a:buSzPts val="1600"/>
              <a:buChar char="●"/>
            </a:pPr>
            <a:r>
              <a:rPr lang="en" sz="1600"/>
              <a:t>Driven by highly </a:t>
            </a:r>
            <a:r>
              <a:rPr lang="en" sz="1600"/>
              <a:t>efficient algorithms written in low level languages or on FPGAs</a:t>
            </a:r>
            <a:endParaRPr sz="1600"/>
          </a:p>
          <a:p>
            <a:pPr indent="-330200" lvl="0" marL="457200" rtl="0" algn="l">
              <a:spcBef>
                <a:spcPts val="0"/>
              </a:spcBef>
              <a:spcAft>
                <a:spcPts val="0"/>
              </a:spcAft>
              <a:buSzPts val="1600"/>
              <a:buChar char="●"/>
            </a:pPr>
            <a:r>
              <a:rPr lang="en" sz="1600"/>
              <a:t>Requires significant infrastructure and investment</a:t>
            </a:r>
            <a:endParaRPr sz="1600"/>
          </a:p>
          <a:p>
            <a:pPr indent="-330200" lvl="0" marL="457200" rtl="0" algn="l">
              <a:spcBef>
                <a:spcPts val="0"/>
              </a:spcBef>
              <a:spcAft>
                <a:spcPts val="0"/>
              </a:spcAft>
              <a:buSzPts val="1600"/>
              <a:buChar char="●"/>
            </a:pPr>
            <a:r>
              <a:rPr lang="en" sz="1600"/>
              <a:t>Generally profit per trade is incredibly low, but the sheer volume of trades results in large profits</a:t>
            </a:r>
            <a:endParaRPr sz="1600"/>
          </a:p>
          <a:p>
            <a:pPr indent="0" lvl="0" marL="0" rtl="0" algn="l">
              <a:spcBef>
                <a:spcPts val="1600"/>
              </a:spcBef>
              <a:spcAft>
                <a:spcPts val="0"/>
              </a:spcAft>
              <a:buNone/>
            </a:pPr>
            <a:r>
              <a:rPr lang="en" sz="1600"/>
              <a:t>HFTs are incredibly secretive about their strategies. As soon as another firm discovers their strategy, the pseudo-arbitrage opportunity closes, and it is generally no longer profitable.</a:t>
            </a:r>
            <a:endParaRPr sz="1600"/>
          </a:p>
          <a:p>
            <a:pPr indent="0" lvl="0" marL="0" rtl="0" algn="l">
              <a:spcBef>
                <a:spcPts val="1600"/>
              </a:spcBef>
              <a:spcAft>
                <a:spcPts val="1600"/>
              </a:spcAft>
              <a:buNone/>
            </a:pPr>
            <a:r>
              <a:rPr lang="en" sz="1600"/>
              <a:t>As a result, many employees are required to sign NDAs and long non-competes (2+ years).</a:t>
            </a:r>
            <a:endParaRPr sz="1600"/>
          </a:p>
        </p:txBody>
      </p:sp>
      <p:pic>
        <p:nvPicPr>
          <p:cNvPr id="283" name="Google Shape;283;p35"/>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6"/>
          <p:cNvSpPr txBox="1"/>
          <p:nvPr>
            <p:ph type="title"/>
          </p:nvPr>
        </p:nvSpPr>
        <p:spPr>
          <a:xfrm>
            <a:off x="823850" y="2053000"/>
            <a:ext cx="53499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Basic HFT Strategies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Arbitrage</a:t>
            </a:r>
            <a:endParaRPr/>
          </a:p>
        </p:txBody>
      </p:sp>
      <p:sp>
        <p:nvSpPr>
          <p:cNvPr id="294" name="Google Shape;294;p37"/>
          <p:cNvSpPr txBox="1"/>
          <p:nvPr>
            <p:ph idx="1" type="body"/>
          </p:nvPr>
        </p:nvSpPr>
        <p:spPr>
          <a:xfrm>
            <a:off x="1297500" y="1105450"/>
            <a:ext cx="63219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Arbitrage describes an opportunity in which an individual can buy an asset, and immediately sell it for a higher price. </a:t>
            </a:r>
            <a:endParaRPr sz="1600"/>
          </a:p>
          <a:p>
            <a:pPr indent="0" lvl="0" marL="0" rtl="0" algn="l">
              <a:spcBef>
                <a:spcPts val="1600"/>
              </a:spcBef>
              <a:spcAft>
                <a:spcPts val="0"/>
              </a:spcAft>
              <a:buNone/>
            </a:pPr>
            <a:r>
              <a:rPr lang="en" sz="1600"/>
              <a:t>The most common example is in ForEx markets, but it can also occur between exchanges.</a:t>
            </a:r>
            <a:endParaRPr sz="1600"/>
          </a:p>
          <a:p>
            <a:pPr indent="0" lvl="0" marL="0" rtl="0" algn="l">
              <a:spcBef>
                <a:spcPts val="1600"/>
              </a:spcBef>
              <a:spcAft>
                <a:spcPts val="0"/>
              </a:spcAft>
              <a:buNone/>
            </a:pPr>
            <a:r>
              <a:rPr lang="en" sz="1600"/>
              <a:t>Because of the </a:t>
            </a:r>
            <a:r>
              <a:rPr lang="en" sz="1600"/>
              <a:t>competition</a:t>
            </a:r>
            <a:r>
              <a:rPr lang="en" sz="1600"/>
              <a:t> present, these opportunities rarely exist, and are closed quickly when they do.</a:t>
            </a:r>
            <a:endParaRPr sz="1600"/>
          </a:p>
          <a:p>
            <a:pPr indent="0" lvl="0" marL="0" rtl="0" algn="l">
              <a:spcBef>
                <a:spcPts val="1600"/>
              </a:spcBef>
              <a:spcAft>
                <a:spcPts val="1600"/>
              </a:spcAft>
              <a:buNone/>
            </a:pPr>
            <a:r>
              <a:t/>
            </a:r>
            <a:endParaRPr sz="1600"/>
          </a:p>
        </p:txBody>
      </p:sp>
      <p:pic>
        <p:nvPicPr>
          <p:cNvPr id="295" name="Google Shape;295;p37"/>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Latency </a:t>
            </a:r>
            <a:r>
              <a:rPr lang="en"/>
              <a:t>Arbitrage</a:t>
            </a:r>
            <a:endParaRPr/>
          </a:p>
        </p:txBody>
      </p:sp>
      <p:sp>
        <p:nvSpPr>
          <p:cNvPr id="301" name="Google Shape;301;p38"/>
          <p:cNvSpPr txBox="1"/>
          <p:nvPr>
            <p:ph idx="1" type="body"/>
          </p:nvPr>
        </p:nvSpPr>
        <p:spPr>
          <a:xfrm>
            <a:off x="1297500" y="1105450"/>
            <a:ext cx="63219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Latency Arbitrage is the most pure example of HFTs’ advantage over other traders/investors.</a:t>
            </a:r>
            <a:endParaRPr sz="1600"/>
          </a:p>
          <a:p>
            <a:pPr indent="-330200" lvl="0" marL="457200" rtl="0" algn="l">
              <a:spcBef>
                <a:spcPts val="1600"/>
              </a:spcBef>
              <a:spcAft>
                <a:spcPts val="0"/>
              </a:spcAft>
              <a:buSzPts val="1600"/>
              <a:buChar char="●"/>
            </a:pPr>
            <a:r>
              <a:rPr lang="en" sz="1600"/>
              <a:t>Suppose a hedge fund needs to buy a large chunk of a stock, and there isn’t enough liquidity in the order book</a:t>
            </a:r>
            <a:endParaRPr sz="1600"/>
          </a:p>
          <a:p>
            <a:pPr indent="-330200" lvl="0" marL="457200" rtl="0" algn="l">
              <a:spcBef>
                <a:spcPts val="0"/>
              </a:spcBef>
              <a:spcAft>
                <a:spcPts val="0"/>
              </a:spcAft>
              <a:buSzPts val="1600"/>
              <a:buChar char="●"/>
            </a:pPr>
            <a:r>
              <a:rPr lang="en" sz="1600"/>
              <a:t>A HFT firm sees the hedge fund buying up all of this stock (in the form of rapid price movements) and starts to buy all of the stock on other exchanges</a:t>
            </a:r>
            <a:endParaRPr sz="1600"/>
          </a:p>
          <a:p>
            <a:pPr indent="-330200" lvl="0" marL="457200" rtl="0" algn="l">
              <a:spcBef>
                <a:spcPts val="0"/>
              </a:spcBef>
              <a:spcAft>
                <a:spcPts val="0"/>
              </a:spcAft>
              <a:buSzPts val="1600"/>
              <a:buChar char="●"/>
            </a:pPr>
            <a:r>
              <a:rPr lang="en" sz="1600"/>
              <a:t>As a result, the hedge fund now has to pay a higher price, and the difference is the HFT firm’s profit</a:t>
            </a:r>
            <a:endParaRPr sz="1600"/>
          </a:p>
          <a:p>
            <a:pPr indent="0" lvl="0" marL="0" rtl="0" algn="l">
              <a:spcBef>
                <a:spcPts val="1600"/>
              </a:spcBef>
              <a:spcAft>
                <a:spcPts val="1600"/>
              </a:spcAft>
              <a:buNone/>
            </a:pPr>
            <a:r>
              <a:t/>
            </a:r>
            <a:endParaRPr sz="1600"/>
          </a:p>
        </p:txBody>
      </p:sp>
      <p:pic>
        <p:nvPicPr>
          <p:cNvPr id="302" name="Google Shape;302;p38"/>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a:t>
            </a:r>
            <a:r>
              <a:rPr lang="en"/>
              <a:t> Arbitrage</a:t>
            </a:r>
            <a:endParaRPr/>
          </a:p>
        </p:txBody>
      </p:sp>
      <p:sp>
        <p:nvSpPr>
          <p:cNvPr id="308" name="Google Shape;308;p39"/>
          <p:cNvSpPr txBox="1"/>
          <p:nvPr>
            <p:ph idx="1" type="body"/>
          </p:nvPr>
        </p:nvSpPr>
        <p:spPr>
          <a:xfrm>
            <a:off x="1297500" y="1105450"/>
            <a:ext cx="6321900" cy="385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Event arbitrage is when a HFT makes use of its speed to react to news stories faster than other players in the market</a:t>
            </a:r>
            <a:endParaRPr sz="1600"/>
          </a:p>
          <a:p>
            <a:pPr indent="-330200" lvl="0" marL="457200" rtl="0" algn="l">
              <a:spcBef>
                <a:spcPts val="1600"/>
              </a:spcBef>
              <a:spcAft>
                <a:spcPts val="0"/>
              </a:spcAft>
              <a:buSzPts val="1600"/>
              <a:buChar char="●"/>
            </a:pPr>
            <a:r>
              <a:rPr lang="en" sz="1600"/>
              <a:t>This results in significantly higher oil costs</a:t>
            </a:r>
            <a:endParaRPr sz="1600"/>
          </a:p>
          <a:p>
            <a:pPr indent="-330200" lvl="0" marL="457200" rtl="0" algn="l">
              <a:spcBef>
                <a:spcPts val="0"/>
              </a:spcBef>
              <a:spcAft>
                <a:spcPts val="0"/>
              </a:spcAft>
              <a:buSzPts val="1600"/>
              <a:buChar char="●"/>
            </a:pPr>
            <a:r>
              <a:rPr lang="en" sz="1600"/>
              <a:t>An HFT firm might see this and be able to react far more quickly than other players</a:t>
            </a:r>
            <a:endParaRPr sz="1600"/>
          </a:p>
          <a:p>
            <a:pPr indent="-330200" lvl="0" marL="457200" rtl="0" algn="l">
              <a:spcBef>
                <a:spcPts val="0"/>
              </a:spcBef>
              <a:spcAft>
                <a:spcPts val="0"/>
              </a:spcAft>
              <a:buSzPts val="1600"/>
              <a:buChar char="●"/>
            </a:pPr>
            <a:r>
              <a:rPr lang="en" sz="1600"/>
              <a:t>For example in Trump’s Inauguration speech last week: every sentence he said had the power to impact stock prices</a:t>
            </a:r>
            <a:endParaRPr sz="1600"/>
          </a:p>
        </p:txBody>
      </p:sp>
      <p:pic>
        <p:nvPicPr>
          <p:cNvPr id="309" name="Google Shape;309;p39"/>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Statistical</a:t>
            </a:r>
            <a:r>
              <a:rPr lang="en"/>
              <a:t> Arbitrage</a:t>
            </a:r>
            <a:endParaRPr/>
          </a:p>
        </p:txBody>
      </p:sp>
      <p:sp>
        <p:nvSpPr>
          <p:cNvPr id="315" name="Google Shape;315;p40"/>
          <p:cNvSpPr txBox="1"/>
          <p:nvPr>
            <p:ph idx="1" type="body"/>
          </p:nvPr>
        </p:nvSpPr>
        <p:spPr>
          <a:xfrm>
            <a:off x="1297500" y="1105450"/>
            <a:ext cx="6183900" cy="3855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Essentially a more complicated version of pairs trading</a:t>
            </a:r>
            <a:endParaRPr sz="1600"/>
          </a:p>
          <a:p>
            <a:pPr indent="-330200" lvl="0" marL="457200" rtl="0" algn="l">
              <a:spcBef>
                <a:spcPts val="0"/>
              </a:spcBef>
              <a:spcAft>
                <a:spcPts val="0"/>
              </a:spcAft>
              <a:buSzPts val="1600"/>
              <a:buChar char="●"/>
            </a:pPr>
            <a:r>
              <a:rPr lang="en" sz="1600"/>
              <a:t>Firms look at correlation between assets, and use highly technical models to bet on the convergence or divergence of certain assets or indicators</a:t>
            </a:r>
            <a:endParaRPr sz="1600"/>
          </a:p>
          <a:p>
            <a:pPr indent="-330200" lvl="0" marL="457200" rtl="0" algn="l">
              <a:spcBef>
                <a:spcPts val="0"/>
              </a:spcBef>
              <a:spcAft>
                <a:spcPts val="0"/>
              </a:spcAft>
              <a:buSzPts val="1600"/>
              <a:buChar char="●"/>
            </a:pPr>
            <a:r>
              <a:rPr lang="en" sz="1600"/>
              <a:t>Generally more common nowadays</a:t>
            </a:r>
            <a:endParaRPr sz="1600"/>
          </a:p>
        </p:txBody>
      </p:sp>
      <p:pic>
        <p:nvPicPr>
          <p:cNvPr id="316" name="Google Shape;316;p40"/>
          <p:cNvPicPr preferRelativeResize="0"/>
          <p:nvPr/>
        </p:nvPicPr>
        <p:blipFill>
          <a:blip r:embed="rId3">
            <a:alphaModFix/>
          </a:blip>
          <a:stretch>
            <a:fillRect/>
          </a:stretch>
        </p:blipFill>
        <p:spPr>
          <a:xfrm>
            <a:off x="7481275" y="0"/>
            <a:ext cx="1662724" cy="16627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type="title"/>
          </p:nvPr>
        </p:nvSpPr>
        <p:spPr>
          <a:xfrm>
            <a:off x="449275" y="2062150"/>
            <a:ext cx="56718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Discussion/</a:t>
            </a:r>
            <a:r>
              <a:rPr lang="en"/>
              <a:t>Work Time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F15D24"/>
      </a:dk1>
      <a:lt1>
        <a:srgbClr val="FFFFFF"/>
      </a:lt1>
      <a:dk2>
        <a:srgbClr val="D9D9D9"/>
      </a:dk2>
      <a:lt2>
        <a:srgbClr val="3D3D3D"/>
      </a:lt2>
      <a:accent1>
        <a:srgbClr val="FFFFFF"/>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