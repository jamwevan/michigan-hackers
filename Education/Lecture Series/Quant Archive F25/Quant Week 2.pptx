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20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09c41bbc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09c41bbc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681c12f4c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681c12f4c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067d350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067d350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067d3503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067d3503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067d35036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067d35036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b71d1aab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b71d1aab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b81eb3dc9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b81eb3dc9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6ba69423e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6ba69423e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b81eb3dc9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b81eb3dc9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067d35036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8067d35036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b81eb3dc9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b81eb3dc9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b961e4ebc2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b961e4ebc2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b81eb3dc9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b81eb3dc9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b81eb3dc9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b81eb3dc9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b81eb3dc9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b81eb3dc9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b81eb3dc9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b81eb3dc9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b81eb3dc9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b81eb3dc9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6848eae86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6848eae86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8067d35036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8067d35036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9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Week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09</a:t>
            </a:r>
            <a:r>
              <a:rPr lang="en"/>
              <a:t>/18/25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5" y="2571750"/>
            <a:ext cx="2208275" cy="22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Spotlight</a:t>
            </a:r>
            <a:endParaRPr/>
          </a:p>
        </p:txBody>
      </p:sp>
      <p:pic>
        <p:nvPicPr>
          <p:cNvPr id="141" name="Google Shape;14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4" title="Screenshot 2025-09-17 at 5.20.3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65900"/>
            <a:ext cx="8839200" cy="1411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Breaker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Favorite flavor (of anything)</a:t>
            </a:r>
            <a:endParaRPr sz="2000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1250" y="3140950"/>
            <a:ext cx="3314700" cy="1866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5" name="Google Shape;15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Bridge and Torch Problem</a:t>
            </a:r>
            <a:endParaRPr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1297500" y="1485325"/>
            <a:ext cx="7038900" cy="19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Bridge and Torch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4 people need to cross a river.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Only 2 people can cross at a time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Person A takes 10 minutes to cross, person B takes 5, C takes 2 and D takes 1.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It’s dark out so no one can cross without a torch.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Only 1 torch.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What is the fastest way to cross, and how long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would it take?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58" name="Google Shape;15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76284" y="2217302"/>
            <a:ext cx="923624" cy="923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1052550" y="21900"/>
            <a:ext cx="7038900" cy="50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Step 1: D &amp; C Cross First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	•	D and C cross together, taking 2 minutes.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	•	Now C &amp; D are on the other side.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Step 2: D Returns with the Torch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	•	D returns alone, taking 1 minute.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	•	Now A, B, and D are on the starting side, and C is on the other side.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Step 3: A &amp; B Cross Together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	•	A and B cross together, taking 10 minutes (since A is the slowest).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	•	Now A &amp; B are on the other side, and D is still on the starting side.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Step 4: C Returns with the Torch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	•	C returns alone, taking 2 minutes.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	•	Now C &amp; D are on the starting side again, and A &amp; B are on the other side.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Step 5: C &amp; D Cross Again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	•	C and D cross together, taking 2 minutes.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	•	Now everyone is on the other side.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800"/>
          </a:p>
        </p:txBody>
      </p:sp>
      <p:pic>
        <p:nvPicPr>
          <p:cNvPr id="164" name="Google Shape;16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1000" y="0"/>
            <a:ext cx="3312999" cy="248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</a:t>
            </a:r>
            <a:endParaRPr/>
          </a:p>
        </p:txBody>
      </p:sp>
      <p:pic>
        <p:nvPicPr>
          <p:cNvPr id="170" name="Google Shape;17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title="Screenshot 2025-09-17 at 8.31.44 PM.png"/>
          <p:cNvPicPr preferRelativeResize="0"/>
          <p:nvPr/>
        </p:nvPicPr>
        <p:blipFill rotWithShape="1">
          <a:blip r:embed="rId4">
            <a:alphaModFix/>
          </a:blip>
          <a:srcRect b="0" l="30579" r="0" t="0"/>
          <a:stretch/>
        </p:blipFill>
        <p:spPr>
          <a:xfrm>
            <a:off x="2032850" y="1981200"/>
            <a:ext cx="50783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 Greek Values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Greeks? </a:t>
            </a:r>
            <a:endParaRPr/>
          </a:p>
        </p:txBody>
      </p:sp>
      <p:sp>
        <p:nvSpPr>
          <p:cNvPr id="182" name="Google Shape;182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Greek values are metrics that are used to determine the performance of options in relation to their overlying asset.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These are the first partial derivatives of various factors influencing the asset value.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The primary greek values are: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Delta Δ, Theta Θ, Gamma Γ, Vega v, and Rho ⍴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Note: </a:t>
            </a:r>
            <a:r>
              <a:rPr b="1" lang="en"/>
              <a:t>Alpha </a:t>
            </a:r>
            <a:r>
              <a:rPr lang="en"/>
              <a:t>and  </a:t>
            </a:r>
            <a:r>
              <a:rPr b="1" lang="en"/>
              <a:t>Beta </a:t>
            </a:r>
            <a:r>
              <a:rPr lang="en"/>
              <a:t>are not included here.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</a:t>
            </a:r>
            <a:r>
              <a:rPr lang="en"/>
              <a:t> (not a Greek)</a:t>
            </a:r>
            <a:endParaRPr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This measures how good/bad a stock has performed compared to a benchmark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Often measured in percentage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4543"/>
          <a:stretch/>
        </p:blipFill>
        <p:spPr>
          <a:xfrm>
            <a:off x="4210675" y="3268450"/>
            <a:ext cx="4634100" cy="1726200"/>
          </a:xfrm>
          <a:prstGeom prst="roundRect">
            <a:avLst>
              <a:gd fmla="val 536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0" name="Google Shape;190;p21"/>
          <p:cNvSpPr txBox="1"/>
          <p:nvPr/>
        </p:nvSpPr>
        <p:spPr>
          <a:xfrm>
            <a:off x="4210675" y="2830700"/>
            <a:ext cx="428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From Investopedia: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708725" y="2830700"/>
            <a:ext cx="3564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Example: 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Stock Starting Price: $20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Stock Ending Price: $21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Dividend: $1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Alpha = (21 + 1 - 20) / 20 = 10%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Beta β (not a Greek)</a:t>
            </a:r>
            <a:endParaRPr/>
          </a:p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Even though Beta is a greek letter, it is not considered a greek.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It doesn’t represent a partial derivative of the overlying asset like the other values do.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Beta represents the volatility of an asset compared to the rest of the market.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In terms of statistics, this is very similar to variance but is normalized to the market as a whole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 beta of greater than 1 means the asset is more volatile than the market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A beta of less than 1 means the asset is less volatile than the market</a:t>
            </a:r>
            <a:endParaRPr sz="1600"/>
          </a:p>
        </p:txBody>
      </p:sp>
      <p:pic>
        <p:nvPicPr>
          <p:cNvPr id="198" name="Google Shape;19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250" y="791452"/>
            <a:ext cx="4150875" cy="71215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Beta β (not a Greek)</a:t>
            </a:r>
            <a:endParaRPr/>
          </a:p>
        </p:txBody>
      </p:sp>
      <p:pic>
        <p:nvPicPr>
          <p:cNvPr id="204" name="Google Shape;2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250" y="791452"/>
            <a:ext cx="4150875" cy="71215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5" name="Google Shape;205;p23" title="Screenshot 2025-09-17 at 8.23.5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6875" y="1629052"/>
            <a:ext cx="4864083" cy="3335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Delta Δ</a:t>
            </a:r>
            <a:endParaRPr/>
          </a:p>
        </p:txBody>
      </p:sp>
      <p:sp>
        <p:nvSpPr>
          <p:cNvPr id="211" name="Google Shape;211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Estimates the change in price of the derivative/option based on a $1 move in the price of the underlying asset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This value is typically not above 1.0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Example,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 stock price </a:t>
            </a:r>
            <a:r>
              <a:rPr lang="en" sz="1600"/>
              <a:t>increases</a:t>
            </a:r>
            <a:r>
              <a:rPr lang="en" sz="1600"/>
              <a:t> by $2.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 call option with a strike price of $80 </a:t>
            </a:r>
            <a:r>
              <a:rPr lang="en" sz="1600"/>
              <a:t>that</a:t>
            </a:r>
            <a:r>
              <a:rPr lang="en" sz="1600"/>
              <a:t> is currently trading at $20 has a delta of 0.8 	  What will the new price of this be?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$21.60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12713"/>
            <a:ext cx="9144003" cy="333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Theta Θ</a:t>
            </a:r>
            <a:endParaRPr/>
          </a:p>
        </p:txBody>
      </p:sp>
      <p:sp>
        <p:nvSpPr>
          <p:cNvPr id="222" name="Google Shape;222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Estimates the rate of change between price and time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Example: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 theta value is -0.5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This means that  for every day that passes, the price of the option will go down by $0.50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Gamma Γ</a:t>
            </a:r>
            <a:endParaRPr/>
          </a:p>
        </p:txBody>
      </p:sp>
      <p:sp>
        <p:nvSpPr>
          <p:cNvPr id="228" name="Google Shape;228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derivative of Delta with respect to price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Basically how fast the Delta is changing at a price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Higher gamma values mean more risk. Given 2 stocks with equal delta values that each have price changes of $5, the one with a higher gamma will have a larger change in price</a:t>
            </a:r>
            <a:endParaRPr sz="1600"/>
          </a:p>
        </p:txBody>
      </p:sp>
      <p:pic>
        <p:nvPicPr>
          <p:cNvPr id="229" name="Google Shape;22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9150" y="3168450"/>
            <a:ext cx="3738099" cy="197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Vega v</a:t>
            </a:r>
            <a:endParaRPr/>
          </a:p>
        </p:txBody>
      </p:sp>
      <p:sp>
        <p:nvSpPr>
          <p:cNvPr id="235" name="Google Shape;235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Measures change in price based on change in implied volatility.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Forward-looking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Whereas delta measures in terms of actual price change, Vega measures in terms of theoretical price changes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Rho ⍴</a:t>
            </a:r>
            <a:endParaRPr/>
          </a:p>
        </p:txBody>
      </p:sp>
      <p:sp>
        <p:nvSpPr>
          <p:cNvPr id="241" name="Google Shape;241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Measures Price change in terms of Interest Rates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Lesser Known Greeks</a:t>
            </a:r>
            <a:endParaRPr/>
          </a:p>
        </p:txBody>
      </p:sp>
      <p:sp>
        <p:nvSpPr>
          <p:cNvPr id="247" name="Google Shape;247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Lambda, Epsilon, Vomma, Vera, Zomma, and Ultima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These are second and third derivatives of the other greeks we have talked about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These trends can also be seen by those with a keen eye by looking at the main Greeks, but are explicitly calculated and named to be these variables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Becoming increasingly more important in large algorithms because </a:t>
            </a:r>
            <a:r>
              <a:rPr lang="en" sz="1600"/>
              <a:t>they are relatively easy to compute and can show hidden patterns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 txBox="1"/>
          <p:nvPr>
            <p:ph type="title"/>
          </p:nvPr>
        </p:nvSpPr>
        <p:spPr>
          <a:xfrm>
            <a:off x="449275" y="2062150"/>
            <a:ext cx="5671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Akuna Options Education</a:t>
            </a:r>
            <a:endParaRPr/>
          </a:p>
        </p:txBody>
      </p:sp>
      <p:pic>
        <p:nvPicPr>
          <p:cNvPr id="253" name="Google Shape;253;p31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305175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type="title"/>
          </p:nvPr>
        </p:nvSpPr>
        <p:spPr>
          <a:xfrm>
            <a:off x="449275" y="2062150"/>
            <a:ext cx="5671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Discussion/Work Time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