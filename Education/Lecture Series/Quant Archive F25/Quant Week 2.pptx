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embeddedFontLst>
    <p:embeddedFont>
      <p:font typeface="Montserrat"/>
      <p:regular r:id="rId26"/>
      <p:bold r:id="rId27"/>
      <p:italic r:id="rId28"/>
      <p:boldItalic r:id="rId29"/>
    </p:embeddedFont>
    <p:embeddedFont>
      <p:font typeface="Lato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regular.fntdata"/><Relationship Id="rId25" Type="http://schemas.openxmlformats.org/officeDocument/2006/relationships/slide" Target="slides/slide20.xml"/><Relationship Id="rId28" Type="http://schemas.openxmlformats.org/officeDocument/2006/relationships/font" Target="fonts/Montserrat-italic.fntdata"/><Relationship Id="rId27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Lato-bold.fntdata"/><Relationship Id="rId30" Type="http://schemas.openxmlformats.org/officeDocument/2006/relationships/font" Target="fonts/Lato-regular.fntdata"/><Relationship Id="rId11" Type="http://schemas.openxmlformats.org/officeDocument/2006/relationships/slide" Target="slides/slide6.xml"/><Relationship Id="rId33" Type="http://schemas.openxmlformats.org/officeDocument/2006/relationships/font" Target="fonts/Lato-boldItalic.fntdata"/><Relationship Id="rId10" Type="http://schemas.openxmlformats.org/officeDocument/2006/relationships/slide" Target="slides/slide5.xml"/><Relationship Id="rId32" Type="http://schemas.openxmlformats.org/officeDocument/2006/relationships/font" Target="fonts/Lato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Complete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09c41bbc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809c41bbc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6681c12f4c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6681c12f4c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8067d3503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8067d3503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8067d35036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8067d35036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8067d35036_0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8067d35036_0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2b71d1aab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2b71d1aab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2b81eb3dc9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2b81eb3dc9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6ba69423e9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6ba69423e9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2b81eb3dc90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2b81eb3dc90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8067d35036_0_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8067d35036_0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b81eb3dc9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2b81eb3dc9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b961e4ebc2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b961e4ebc2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b81eb3dc90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b81eb3dc90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b81eb3dc9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b81eb3dc9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b81eb3dc90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2b81eb3dc90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b81eb3dc90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b81eb3dc90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b81eb3dc90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2b81eb3dc90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6848eae863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6848eae86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8067d35036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8067d35036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9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 Week 4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09</a:t>
            </a:r>
            <a:r>
              <a:rPr lang="en"/>
              <a:t>/18/25</a:t>
            </a:r>
            <a:endParaRPr/>
          </a:p>
        </p:txBody>
      </p:sp>
      <p:pic>
        <p:nvPicPr>
          <p:cNvPr id="135" name="Google Shape;13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2775" y="2571750"/>
            <a:ext cx="2208275" cy="22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Spotlight</a:t>
            </a:r>
            <a:endParaRPr/>
          </a:p>
        </p:txBody>
      </p:sp>
      <p:pic>
        <p:nvPicPr>
          <p:cNvPr id="141" name="Google Shape;14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4" title="Screenshot 2025-09-17 at 5.20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865900"/>
            <a:ext cx="8839200" cy="14117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Ice Breaker</a:t>
            </a:r>
            <a:endParaRPr/>
          </a:p>
        </p:txBody>
      </p:sp>
      <p:sp>
        <p:nvSpPr>
          <p:cNvPr id="148" name="Google Shape;148;p15"/>
          <p:cNvSpPr txBox="1"/>
          <p:nvPr>
            <p:ph idx="1" type="body"/>
          </p:nvPr>
        </p:nvSpPr>
        <p:spPr>
          <a:xfrm>
            <a:off x="1297500" y="13391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2000"/>
              <a:t>Favorite flavor (of anything)</a:t>
            </a:r>
            <a:endParaRPr sz="2000"/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31250" y="3140950"/>
            <a:ext cx="3314700" cy="18669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5" name="Google Shape;15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Brain Teaser - Bridge and Torch Problem</a:t>
            </a:r>
            <a:endParaRPr/>
          </a:p>
        </p:txBody>
      </p:sp>
      <p:sp>
        <p:nvSpPr>
          <p:cNvPr id="157" name="Google Shape;157;p16"/>
          <p:cNvSpPr txBox="1"/>
          <p:nvPr>
            <p:ph idx="1" type="body"/>
          </p:nvPr>
        </p:nvSpPr>
        <p:spPr>
          <a:xfrm>
            <a:off x="1297500" y="1485325"/>
            <a:ext cx="7038900" cy="192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Bridge and Torch</a:t>
            </a:r>
            <a:endParaRPr sz="1500"/>
          </a:p>
          <a:p>
            <a:pPr indent="-323850" lvl="0" marL="457200" rtl="0" algn="l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4 people need to cross a river.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Only 2 people can cross at a time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Person A takes 10 minutes to cross, person B takes 5, C takes 2 and D takes 1.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It’s dark out so no one can cross without a torch.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Only 1 torch.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What is the fastest way to cross, and how long</a:t>
            </a:r>
            <a:endParaRPr sz="15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would it take?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 sz="1500"/>
          </a:p>
        </p:txBody>
      </p:sp>
      <p:pic>
        <p:nvPicPr>
          <p:cNvPr id="158" name="Google Shape;15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-76284" y="2217302"/>
            <a:ext cx="923624" cy="9236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7"/>
          <p:cNvSpPr txBox="1"/>
          <p:nvPr>
            <p:ph idx="1" type="body"/>
          </p:nvPr>
        </p:nvSpPr>
        <p:spPr>
          <a:xfrm>
            <a:off x="1052550" y="21900"/>
            <a:ext cx="7038900" cy="50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Step 1: D &amp; C Cross First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D and C cross together, taking 2 minutes.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Now C &amp; D are on the other side.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Step 2: D Returns with the Torch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D returns alone, taking 1 minute.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Now A, B, and D are on the starting side, and C is on the other side.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Step 3: A &amp; B Cross Together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A and B cross together, taking 10 minutes (since A is the slowest).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Now A &amp; B are on the other side, and D is still on the starting side.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Step 4: C Returns with the Torch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C returns alone, taking 2 minutes.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Now C &amp; D are on the starting side again, and A &amp; B are on the other side.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Step 5: C &amp; D Cross Again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C and D cross together, taking 2 minutes.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	•	Now everyone is on the other side.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 sz="800"/>
          </a:p>
        </p:txBody>
      </p:sp>
      <p:pic>
        <p:nvPicPr>
          <p:cNvPr id="164" name="Google Shape;16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31000" y="0"/>
            <a:ext cx="3312999" cy="2484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 txBox="1"/>
          <p:nvPr>
            <p:ph type="title"/>
          </p:nvPr>
        </p:nvSpPr>
        <p:spPr>
          <a:xfrm>
            <a:off x="1297500" y="393750"/>
            <a:ext cx="7038900" cy="64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Sequence</a:t>
            </a:r>
            <a:endParaRPr/>
          </a:p>
        </p:txBody>
      </p:sp>
      <p:pic>
        <p:nvPicPr>
          <p:cNvPr id="170" name="Google Shape;17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1275" y="0"/>
            <a:ext cx="1662724" cy="1662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8" title="Screenshot 2025-09-17 at 8.31.44 PM.png"/>
          <p:cNvPicPr preferRelativeResize="0"/>
          <p:nvPr/>
        </p:nvPicPr>
        <p:blipFill rotWithShape="1">
          <a:blip r:embed="rId4">
            <a:alphaModFix/>
          </a:blip>
          <a:srcRect b="0" l="30579" r="0" t="0"/>
          <a:stretch/>
        </p:blipFill>
        <p:spPr>
          <a:xfrm>
            <a:off x="2032850" y="1981200"/>
            <a:ext cx="5078300" cy="118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9"/>
          <p:cNvSpPr txBox="1"/>
          <p:nvPr>
            <p:ph type="title"/>
          </p:nvPr>
        </p:nvSpPr>
        <p:spPr>
          <a:xfrm>
            <a:off x="823850" y="2053000"/>
            <a:ext cx="53499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Option Greek Values 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the Greeks? </a:t>
            </a:r>
            <a:endParaRPr/>
          </a:p>
        </p:txBody>
      </p:sp>
      <p:sp>
        <p:nvSpPr>
          <p:cNvPr id="182" name="Google Shape;182;p2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The Greek values are metrics that are used to determine the performance of options in relation to their overlying asset. 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These are the first partial derivatives of various factors influencing the asset value.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The primary greek values are: 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/>
              <a:t>Delta Δ, Theta Θ, Gamma Γ, Vega v, and Rho ⍴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Note: </a:t>
            </a:r>
            <a:r>
              <a:rPr b="1" lang="en"/>
              <a:t>Alpha </a:t>
            </a:r>
            <a:r>
              <a:rPr lang="en"/>
              <a:t>and  </a:t>
            </a:r>
            <a:r>
              <a:rPr b="1" lang="en"/>
              <a:t>Beta </a:t>
            </a:r>
            <a:r>
              <a:rPr lang="en"/>
              <a:t>are not included here.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Alpha</a:t>
            </a:r>
            <a:r>
              <a:rPr lang="en"/>
              <a:t> (not a Greek)</a:t>
            </a:r>
            <a:endParaRPr/>
          </a:p>
        </p:txBody>
      </p:sp>
      <p:sp>
        <p:nvSpPr>
          <p:cNvPr id="188" name="Google Shape;188;p2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This measures how good/bad a stock has performed compared to a benchmark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Often measured in percentage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/>
          </a:p>
        </p:txBody>
      </p:sp>
      <p:pic>
        <p:nvPicPr>
          <p:cNvPr id="189" name="Google Shape;189;p21"/>
          <p:cNvPicPr preferRelativeResize="0"/>
          <p:nvPr/>
        </p:nvPicPr>
        <p:blipFill rotWithShape="1">
          <a:blip r:embed="rId3">
            <a:alphaModFix/>
          </a:blip>
          <a:srcRect b="0" l="0" r="0" t="4543"/>
          <a:stretch/>
        </p:blipFill>
        <p:spPr>
          <a:xfrm>
            <a:off x="4210675" y="3268450"/>
            <a:ext cx="4634100" cy="1726200"/>
          </a:xfrm>
          <a:prstGeom prst="roundRect">
            <a:avLst>
              <a:gd fmla="val 5366" name="adj"/>
            </a:avLst>
          </a:prstGeom>
          <a:noFill/>
          <a:ln cap="flat" cmpd="sng" w="28575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0" name="Google Shape;190;p21"/>
          <p:cNvSpPr txBox="1"/>
          <p:nvPr/>
        </p:nvSpPr>
        <p:spPr>
          <a:xfrm>
            <a:off x="4210675" y="2830700"/>
            <a:ext cx="42855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From Investopedia: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1" name="Google Shape;191;p21"/>
          <p:cNvSpPr txBox="1"/>
          <p:nvPr/>
        </p:nvSpPr>
        <p:spPr>
          <a:xfrm>
            <a:off x="708725" y="2830700"/>
            <a:ext cx="35646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Example: 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Stock Starting Price: $20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Stock Ending Price: $21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Dividend: $1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Alpha = (21 + 1 - 20) / 20 = 10%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2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Beta β (not a Greek)</a:t>
            </a:r>
            <a:endParaRPr/>
          </a:p>
        </p:txBody>
      </p:sp>
      <p:sp>
        <p:nvSpPr>
          <p:cNvPr id="197" name="Google Shape;197;p2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Even though Beta is a greek letter, it is not considered a greek. 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It doesn’t represent a partial derivative of the overlying asset like the other values do.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Beta represents the volatility of an asset compared to the rest of the market.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In terms of statistics, this is very similar to variance but is normalized to the market as a whole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A beta of greater than 1 means the asset is more volatile than the market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/>
              <a:t>A beta of less than 1 means the asset is less volatile than the market</a:t>
            </a:r>
            <a:endParaRPr sz="1600"/>
          </a:p>
        </p:txBody>
      </p:sp>
      <p:pic>
        <p:nvPicPr>
          <p:cNvPr id="198" name="Google Shape;19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3250" y="791452"/>
            <a:ext cx="4150875" cy="712150"/>
          </a:xfrm>
          <a:prstGeom prst="rect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3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Beta β (not a Greek)</a:t>
            </a:r>
            <a:endParaRPr/>
          </a:p>
        </p:txBody>
      </p:sp>
      <p:pic>
        <p:nvPicPr>
          <p:cNvPr id="204" name="Google Shape;20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3250" y="791452"/>
            <a:ext cx="4150875" cy="712150"/>
          </a:xfrm>
          <a:prstGeom prst="rect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05" name="Google Shape;205;p23" title="Screenshot 2025-09-17 at 8.23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36875" y="1629052"/>
            <a:ext cx="4864083" cy="33350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Δ</a:t>
            </a:r>
            <a:endParaRPr/>
          </a:p>
        </p:txBody>
      </p:sp>
      <p:sp>
        <p:nvSpPr>
          <p:cNvPr id="211" name="Google Shape;211;p2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Estimates the change in price of the derivative/option based on a $1 move in the price of the underlying asset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This value is typically not above 1.0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Example,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A stock price </a:t>
            </a:r>
            <a:r>
              <a:rPr lang="en" sz="1600"/>
              <a:t>increases</a:t>
            </a:r>
            <a:r>
              <a:rPr lang="en" sz="1600"/>
              <a:t> by $2.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A call option with a strike price of $80 </a:t>
            </a:r>
            <a:r>
              <a:rPr lang="en" sz="1600"/>
              <a:t>that</a:t>
            </a:r>
            <a:r>
              <a:rPr lang="en" sz="1600"/>
              <a:t> is currently trading at $20 has a delta of 0.8 	  What will the new price of this be?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/>
              <a:t>$21.60</a:t>
            </a:r>
            <a:endParaRPr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Google Shape;21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812713"/>
            <a:ext cx="9144003" cy="3330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Theta Θ</a:t>
            </a:r>
            <a:endParaRPr/>
          </a:p>
        </p:txBody>
      </p:sp>
      <p:sp>
        <p:nvSpPr>
          <p:cNvPr id="222" name="Google Shape;222;p2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Estimates the rate of change between price and time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Example: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A theta value is -0.5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This means that  for every day that passes, the price of the option will go down by $0.50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Gamma Γ</a:t>
            </a:r>
            <a:endParaRPr/>
          </a:p>
        </p:txBody>
      </p:sp>
      <p:sp>
        <p:nvSpPr>
          <p:cNvPr id="228" name="Google Shape;228;p27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The derivative of Delta with respect to price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Basically how fast the Delta is changing at a price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/>
              <a:t>Higher gamma values mean more risk. Given 2 stocks with equal delta values that each have price changes of $5, the one with a higher gamma will have a larger change in price</a:t>
            </a:r>
            <a:endParaRPr sz="1600"/>
          </a:p>
        </p:txBody>
      </p:sp>
      <p:pic>
        <p:nvPicPr>
          <p:cNvPr id="229" name="Google Shape;22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9150" y="3168450"/>
            <a:ext cx="3738099" cy="19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Vega v</a:t>
            </a:r>
            <a:endParaRPr/>
          </a:p>
        </p:txBody>
      </p:sp>
      <p:sp>
        <p:nvSpPr>
          <p:cNvPr id="235" name="Google Shape;235;p2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Measures change in price based on change in implied volatility.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/>
              <a:t>Forward-looking</a:t>
            </a:r>
            <a:endParaRPr sz="16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/>
              <a:t>Whereas delta measures in terms of actual price change, Vega measures in terms of theoretical price changes</a:t>
            </a:r>
            <a:endParaRPr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Rho ⍴</a:t>
            </a:r>
            <a:endParaRPr/>
          </a:p>
        </p:txBody>
      </p:sp>
      <p:sp>
        <p:nvSpPr>
          <p:cNvPr id="241" name="Google Shape;241;p2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/>
              <a:t>Measures Price change in terms of Interest Rates</a:t>
            </a:r>
            <a:endParaRPr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0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Lesser Known Greeks</a:t>
            </a:r>
            <a:endParaRPr/>
          </a:p>
        </p:txBody>
      </p:sp>
      <p:sp>
        <p:nvSpPr>
          <p:cNvPr id="247" name="Google Shape;247;p3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 Lambda, Epsilon, Vomma, Vera, Zomma, and Ultima</a:t>
            </a:r>
            <a:endParaRPr sz="1600"/>
          </a:p>
          <a:p>
            <a:pPr indent="-330200" lvl="0" marL="457200" rtl="0" algn="l">
              <a:spcBef>
                <a:spcPts val="160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These are second and third derivatives of the other greeks we have talked about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These trends can also be seen by those with a keen eye by looking at the main Greeks, but are explicitly calculated and named to be these variables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Becoming increasingly more important in large algorithms because </a:t>
            </a:r>
            <a:r>
              <a:rPr lang="en" sz="1600"/>
              <a:t>they are relatively easy to compute and can show hidden patterns</a:t>
            </a:r>
            <a:endParaRPr sz="16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1"/>
          <p:cNvSpPr txBox="1"/>
          <p:nvPr>
            <p:ph type="title"/>
          </p:nvPr>
        </p:nvSpPr>
        <p:spPr>
          <a:xfrm>
            <a:off x="449275" y="2062150"/>
            <a:ext cx="56718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Akuna Options Education</a:t>
            </a:r>
            <a:endParaRPr/>
          </a:p>
        </p:txBody>
      </p:sp>
      <p:pic>
        <p:nvPicPr>
          <p:cNvPr id="253" name="Google Shape;253;p31" title="imag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3305175" cy="110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2"/>
          <p:cNvSpPr txBox="1"/>
          <p:nvPr>
            <p:ph type="title"/>
          </p:nvPr>
        </p:nvSpPr>
        <p:spPr>
          <a:xfrm>
            <a:off x="449275" y="2062150"/>
            <a:ext cx="56718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Discussion/Work Time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F15D24"/>
      </a:dk1>
      <a:lt1>
        <a:srgbClr val="FFFFFF"/>
      </a:lt1>
      <a:dk2>
        <a:srgbClr val="D9D9D9"/>
      </a:dk2>
      <a:lt2>
        <a:srgbClr val="3D3D3D"/>
      </a:lt2>
      <a:accent1>
        <a:srgbClr val="FFFFFF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