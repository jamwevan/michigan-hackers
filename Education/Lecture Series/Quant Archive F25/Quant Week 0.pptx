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embeddedFontLst>
    <p:embeddedFont>
      <p:font typeface="Montserrat"/>
      <p:regular r:id="rId20"/>
      <p:bold r:id="rId21"/>
      <p:italic r:id="rId22"/>
      <p:boldItalic r:id="rId23"/>
    </p:embeddedFont>
    <p:embeddedFont>
      <p:font typeface="Lato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Montserrat-regular.fntdata"/><Relationship Id="rId22" Type="http://schemas.openxmlformats.org/officeDocument/2006/relationships/font" Target="fonts/Montserrat-italic.fntdata"/><Relationship Id="rId21" Type="http://schemas.openxmlformats.org/officeDocument/2006/relationships/font" Target="fonts/Montserrat-bold.fntdata"/><Relationship Id="rId24" Type="http://schemas.openxmlformats.org/officeDocument/2006/relationships/font" Target="fonts/Lato-regular.fntdata"/><Relationship Id="rId23" Type="http://schemas.openxmlformats.org/officeDocument/2006/relationships/font" Target="fonts/Montserrat-bold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Lato-italic.fntdata"/><Relationship Id="rId25" Type="http://schemas.openxmlformats.org/officeDocument/2006/relationships/font" Target="fonts/Lato-bold.fntdata"/><Relationship Id="rId27" Type="http://schemas.openxmlformats.org/officeDocument/2006/relationships/font" Target="fonts/Lato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Complete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28dafba25e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28dafba25e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652c8d6c02_1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652c8d6c02_1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26681c12f4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26681c12f4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26681c12f4c_2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26681c12f4c_2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652c8d6c02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652c8d6c02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88 - 8</a:t>
            </a:r>
            <a:br>
              <a:rPr lang="en"/>
            </a:br>
            <a:r>
              <a:rPr lang="en"/>
              <a:t>80 -10</a:t>
            </a:r>
            <a:br>
              <a:rPr lang="en"/>
            </a:br>
            <a:r>
              <a:rPr lang="en"/>
              <a:t>70-15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652c8d6c02_1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652c8d6c02_1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Zig zag</a:t>
            </a:r>
            <a:br>
              <a:rPr lang="en"/>
            </a:br>
            <a:r>
              <a:rPr lang="en"/>
              <a:t>1-&gt;2, 2-&gt;3, 3-&gt;4, 4-&gt;5, 5-&gt;6</a:t>
            </a:r>
            <a:br>
              <a:rPr lang="en"/>
            </a:br>
            <a:r>
              <a:rPr lang="en"/>
              <a:t>2-&gt;3, 3-&gt;4, …..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652c8d6c02_1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652c8d6c02_1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2x3</a:t>
            </a:r>
            <a:br>
              <a:rPr lang="en"/>
            </a:br>
            <a:r>
              <a:rPr lang="en"/>
              <a:t>6x1/2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3x1/6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26681c12f4c_2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26681c12f4c_2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7be451b93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7be451b93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2x3</a:t>
            </a:r>
            <a:br>
              <a:rPr lang="en"/>
            </a:br>
            <a:r>
              <a:rPr lang="en"/>
              <a:t>6x1/2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3x1/6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652c8d6c0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652c8d6c0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28d7452294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28d7452294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7be451b93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7be451b93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652c8d6c02_1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3652c8d6c02_1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3537150" y="1578400"/>
            <a:ext cx="5017500" cy="199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Quant Week 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9/4/25</a:t>
            </a:r>
            <a:endParaRPr/>
          </a:p>
        </p:txBody>
      </p:sp>
      <p:pic>
        <p:nvPicPr>
          <p:cNvPr id="135" name="Google Shape;13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2775" y="2571750"/>
            <a:ext cx="2208275" cy="2208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/>
          <p:nvPr>
            <p:ph type="title"/>
          </p:nvPr>
        </p:nvSpPr>
        <p:spPr>
          <a:xfrm>
            <a:off x="1282275" y="797600"/>
            <a:ext cx="7038900" cy="64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https://www.youtube.com/watch?v=FoYC_8cutb0</a:t>
            </a:r>
            <a:endParaRPr sz="2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00338" y="1035315"/>
            <a:ext cx="3543326" cy="30728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6"/>
          <p:cNvSpPr txBox="1"/>
          <p:nvPr>
            <p:ph type="title"/>
          </p:nvPr>
        </p:nvSpPr>
        <p:spPr>
          <a:xfrm>
            <a:off x="1297500" y="393750"/>
            <a:ext cx="7038900" cy="64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151" name="Google Shape;151;p16"/>
          <p:cNvSpPr txBox="1"/>
          <p:nvPr>
            <p:ph idx="1" type="body"/>
          </p:nvPr>
        </p:nvSpPr>
        <p:spPr>
          <a:xfrm>
            <a:off x="1297500" y="13391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" sz="2400"/>
              <a:t>Introductions</a:t>
            </a:r>
            <a:endParaRPr sz="2400"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" sz="2400"/>
              <a:t>QT Prep</a:t>
            </a:r>
            <a:endParaRPr sz="2400"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" sz="2400"/>
              <a:t>Semester Overview</a:t>
            </a:r>
            <a:endParaRPr sz="2400"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" sz="2400"/>
              <a:t>Projects</a:t>
            </a:r>
            <a:endParaRPr sz="2400"/>
          </a:p>
        </p:txBody>
      </p:sp>
      <p:pic>
        <p:nvPicPr>
          <p:cNvPr id="152" name="Google Shape;152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1275" y="0"/>
            <a:ext cx="1662724" cy="1662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7"/>
          <p:cNvSpPr txBox="1"/>
          <p:nvPr>
            <p:ph type="title"/>
          </p:nvPr>
        </p:nvSpPr>
        <p:spPr>
          <a:xfrm>
            <a:off x="1297500" y="393750"/>
            <a:ext cx="7038900" cy="64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Introductions</a:t>
            </a:r>
            <a:endParaRPr/>
          </a:p>
        </p:txBody>
      </p:sp>
      <p:sp>
        <p:nvSpPr>
          <p:cNvPr id="158" name="Google Shape;158;p17"/>
          <p:cNvSpPr txBox="1"/>
          <p:nvPr>
            <p:ph idx="1" type="body"/>
          </p:nvPr>
        </p:nvSpPr>
        <p:spPr>
          <a:xfrm>
            <a:off x="1297500" y="13391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General Introduction</a:t>
            </a:r>
            <a:endParaRPr sz="1600"/>
          </a:p>
          <a:p>
            <a:pPr indent="-330200" lvl="0" marL="457200" rtl="0" algn="l">
              <a:spcBef>
                <a:spcPts val="160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Name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Year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Major(s)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Where you’re from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Fun Fact</a:t>
            </a:r>
            <a:endParaRPr sz="1600"/>
          </a:p>
        </p:txBody>
      </p:sp>
      <p:pic>
        <p:nvPicPr>
          <p:cNvPr id="159" name="Google Shape;159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1275" y="0"/>
            <a:ext cx="1662724" cy="1662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8"/>
          <p:cNvSpPr txBox="1"/>
          <p:nvPr>
            <p:ph type="title"/>
          </p:nvPr>
        </p:nvSpPr>
        <p:spPr>
          <a:xfrm>
            <a:off x="1297500" y="393750"/>
            <a:ext cx="7038900" cy="64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Sequence One</a:t>
            </a:r>
            <a:endParaRPr/>
          </a:p>
        </p:txBody>
      </p:sp>
      <p:sp>
        <p:nvSpPr>
          <p:cNvPr id="165" name="Google Shape;165;p18"/>
          <p:cNvSpPr txBox="1"/>
          <p:nvPr>
            <p:ph idx="1" type="body"/>
          </p:nvPr>
        </p:nvSpPr>
        <p:spPr>
          <a:xfrm>
            <a:off x="1297500" y="13391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2400"/>
              <a:t>88 8 80 10 70 15 ?</a:t>
            </a:r>
            <a:endParaRPr sz="2400"/>
          </a:p>
        </p:txBody>
      </p:sp>
      <p:pic>
        <p:nvPicPr>
          <p:cNvPr id="166" name="Google Shape;16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1275" y="0"/>
            <a:ext cx="1662724" cy="1662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9"/>
          <p:cNvSpPr txBox="1"/>
          <p:nvPr>
            <p:ph type="title"/>
          </p:nvPr>
        </p:nvSpPr>
        <p:spPr>
          <a:xfrm>
            <a:off x="1297500" y="393750"/>
            <a:ext cx="7038900" cy="64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Sequence Two</a:t>
            </a:r>
            <a:endParaRPr/>
          </a:p>
        </p:txBody>
      </p:sp>
      <p:sp>
        <p:nvSpPr>
          <p:cNvPr id="172" name="Google Shape;172;p19"/>
          <p:cNvSpPr txBox="1"/>
          <p:nvPr>
            <p:ph idx="1" type="body"/>
          </p:nvPr>
        </p:nvSpPr>
        <p:spPr>
          <a:xfrm>
            <a:off x="1297500" y="13391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2400"/>
              <a:t>1/2</a:t>
            </a:r>
            <a:r>
              <a:rPr lang="en" sz="2400"/>
              <a:t> , 3/2, </a:t>
            </a:r>
            <a:r>
              <a:rPr lang="en" sz="2400"/>
              <a:t>3/4, 5/4, 5/6, ?</a:t>
            </a:r>
            <a:endParaRPr sz="2400"/>
          </a:p>
        </p:txBody>
      </p:sp>
      <p:pic>
        <p:nvPicPr>
          <p:cNvPr id="173" name="Google Shape;17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1275" y="0"/>
            <a:ext cx="1662724" cy="1662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0"/>
          <p:cNvSpPr txBox="1"/>
          <p:nvPr>
            <p:ph type="title"/>
          </p:nvPr>
        </p:nvSpPr>
        <p:spPr>
          <a:xfrm>
            <a:off x="1297500" y="393750"/>
            <a:ext cx="7038900" cy="64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Sequence Three</a:t>
            </a:r>
            <a:endParaRPr/>
          </a:p>
        </p:txBody>
      </p:sp>
      <p:sp>
        <p:nvSpPr>
          <p:cNvPr id="179" name="Google Shape;179;p20"/>
          <p:cNvSpPr txBox="1"/>
          <p:nvPr>
            <p:ph idx="1" type="body"/>
          </p:nvPr>
        </p:nvSpPr>
        <p:spPr>
          <a:xfrm>
            <a:off x="1297500" y="13391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2400"/>
              <a:t>2, 3, 6, </a:t>
            </a:r>
            <a:r>
              <a:rPr lang="en" sz="2400"/>
              <a:t>1/2, 3, 1/6, ?</a:t>
            </a:r>
            <a:endParaRPr sz="2400"/>
          </a:p>
        </p:txBody>
      </p:sp>
      <p:pic>
        <p:nvPicPr>
          <p:cNvPr id="180" name="Google Shape;18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1275" y="0"/>
            <a:ext cx="1662724" cy="1662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1"/>
          <p:cNvSpPr txBox="1"/>
          <p:nvPr>
            <p:ph type="title"/>
          </p:nvPr>
        </p:nvSpPr>
        <p:spPr>
          <a:xfrm>
            <a:off x="823850" y="2053000"/>
            <a:ext cx="53499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Semester Overview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2"/>
          <p:cNvSpPr txBox="1"/>
          <p:nvPr>
            <p:ph type="title"/>
          </p:nvPr>
        </p:nvSpPr>
        <p:spPr>
          <a:xfrm>
            <a:off x="1297500" y="393750"/>
            <a:ext cx="7038900" cy="64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Semester Overview</a:t>
            </a:r>
            <a:endParaRPr/>
          </a:p>
        </p:txBody>
      </p:sp>
      <p:sp>
        <p:nvSpPr>
          <p:cNvPr id="191" name="Google Shape;191;p22"/>
          <p:cNvSpPr txBox="1"/>
          <p:nvPr>
            <p:ph idx="1" type="body"/>
          </p:nvPr>
        </p:nvSpPr>
        <p:spPr>
          <a:xfrm>
            <a:off x="1297500" y="13391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Education</a:t>
            </a:r>
            <a:endParaRPr sz="1400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Trading Strategies</a:t>
            </a:r>
            <a:endParaRPr sz="1400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Market Making</a:t>
            </a:r>
            <a:endParaRPr sz="1400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High Frequency Trading</a:t>
            </a:r>
            <a:endParaRPr sz="1400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Interview Prep</a:t>
            </a:r>
            <a:endParaRPr sz="1400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Options Theory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Events </a:t>
            </a:r>
            <a:endParaRPr sz="1400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Insider Trading Game </a:t>
            </a:r>
            <a:endParaRPr sz="1400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Jane Street Puzzle </a:t>
            </a:r>
            <a:endParaRPr sz="1400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Game Theory Poker Class </a:t>
            </a:r>
            <a:endParaRPr sz="1400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Market Making Game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Projects</a:t>
            </a:r>
            <a:endParaRPr sz="2400"/>
          </a:p>
        </p:txBody>
      </p:sp>
      <p:pic>
        <p:nvPicPr>
          <p:cNvPr id="192" name="Google Shape;192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1275" y="0"/>
            <a:ext cx="1662724" cy="1662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3"/>
          <p:cNvSpPr txBox="1"/>
          <p:nvPr>
            <p:ph type="title"/>
          </p:nvPr>
        </p:nvSpPr>
        <p:spPr>
          <a:xfrm>
            <a:off x="823850" y="2053000"/>
            <a:ext cx="53499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Projects</a:t>
            </a:r>
            <a:endParaRPr/>
          </a:p>
        </p:txBody>
      </p:sp>
      <p:sp>
        <p:nvSpPr>
          <p:cNvPr id="203" name="Google Shape;203;p2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Reinforcement Learning </a:t>
            </a:r>
            <a:endParaRPr/>
          </a:p>
          <a:p>
            <a:pPr indent="-311150" lvl="0" marL="457200" rtl="0" algn="l">
              <a:spcBef>
                <a:spcPts val="16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Develop a trading algorithm using Reinforcement Learning. Last semester, I </a:t>
            </a:r>
            <a:r>
              <a:rPr lang="en"/>
              <a:t>built</a:t>
            </a:r>
            <a:r>
              <a:rPr lang="en"/>
              <a:t> an algo with another machine learning model: Random Forest! 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Gamma Scalper </a:t>
            </a:r>
            <a:endParaRPr/>
          </a:p>
          <a:p>
            <a:pPr indent="-311150" lvl="0" marL="457200" rtl="0" algn="l">
              <a:spcBef>
                <a:spcPts val="16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Opportunity to learn  about Options and Algorithmic trading. Gamma Scalping will be discussed in a future lecture. 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Kraken Live trading </a:t>
            </a:r>
            <a:endParaRPr/>
          </a:p>
          <a:p>
            <a:pPr indent="-311150" lvl="0" marL="457200" rtl="0" algn="l">
              <a:spcBef>
                <a:spcPts val="16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Integrate an elementary trading algorithm with Kraken’s API  to autonomously place live trades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Projects</a:t>
            </a:r>
            <a:endParaRPr/>
          </a:p>
        </p:txBody>
      </p:sp>
      <p:sp>
        <p:nvSpPr>
          <p:cNvPr id="209" name="Google Shape;209;p25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</a:t>
            </a:r>
            <a:endParaRPr/>
          </a:p>
          <a:p>
            <a:pPr indent="-311150" lvl="0" marL="457200" rtl="0" algn="l">
              <a:spcBef>
                <a:spcPts val="16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Use ML to predict pairs trading opportunities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Deep Learning</a:t>
            </a:r>
            <a:endParaRPr/>
          </a:p>
          <a:p>
            <a:pPr indent="-311150" lvl="0" marL="457200" rtl="0" algn="l">
              <a:spcBef>
                <a:spcPts val="16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Use LSTM or Transformer networks to detect nonlinear relationships in statistical arbitrage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6"/>
          <p:cNvSpPr txBox="1"/>
          <p:nvPr>
            <p:ph type="title"/>
          </p:nvPr>
        </p:nvSpPr>
        <p:spPr>
          <a:xfrm>
            <a:off x="823850" y="2053000"/>
            <a:ext cx="53499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F15D24"/>
      </a:dk1>
      <a:lt1>
        <a:srgbClr val="FFFFFF"/>
      </a:lt1>
      <a:dk2>
        <a:srgbClr val="D9D9D9"/>
      </a:dk2>
      <a:lt2>
        <a:srgbClr val="3D3D3D"/>
      </a:lt2>
      <a:accent1>
        <a:srgbClr val="FFFFFF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