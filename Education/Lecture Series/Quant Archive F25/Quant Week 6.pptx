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0dad272e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0dad272e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4 8 16 32 64 128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6 8 12 12 9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+2, -4, +4/*3; *1; *3/2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+2; -4; *4; *2; *4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⅔  ⅔ 2/4 ⅜ 3/16 9/128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4 4  6   6   6   9      9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6 6 12 16 32 128  136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681c12f4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681c12f4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0dad272e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0dad272e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b81eb3dc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b81eb3dc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81eb3dc9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b81eb3dc9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b961e4eb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b961e4eb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b961e4ebc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b961e4ebc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513a47188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513a47188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5a9561c1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5a9561c1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81eb3dc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81eb3dc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81eb3dc9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b81eb3dc9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b81eb3dc9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b81eb3dc9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961e4ebc2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b961e4ebc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9ae6b15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b9ae6b15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b961e4ebc2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b961e4ebc2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961e4ebc2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961e4ebc2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b961e4ebc2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b961e4ebc2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6848eae8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6848eae8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2.jpg"/><Relationship Id="rId6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11/6/25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What’s your </a:t>
            </a:r>
            <a:r>
              <a:rPr lang="en" sz="1600"/>
              <a:t>costume?</a:t>
            </a:r>
            <a:endParaRPr sz="16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Sequence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title="Screenshot 2025-10-30 at 6.45.2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8325" y="2085975"/>
            <a:ext cx="546735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Roulette</a:t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25603" r="25608" t="0"/>
          <a:stretch/>
        </p:blipFill>
        <p:spPr>
          <a:xfrm>
            <a:off x="46800" y="1382675"/>
            <a:ext cx="2062699" cy="2378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quid Game creator finally reveals dark backstory of The Recruiter" id="157" name="Google Shape;15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9400" y="2571750"/>
            <a:ext cx="3505199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xploring Love Again in Squid Game Season 2" id="158" name="Google Shape;15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9200" y="2028319"/>
            <a:ext cx="2334800" cy="31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Roulette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and a friend are playing russian roulette with a blick.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 bullet is put into a revolver with 6 chambers, the bullet is equally likely to be in any hole. The barrel is randomly spun ONCE.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If you get the bullet you lose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Would you rather go first or second?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Roulette Part 2</a:t>
            </a:r>
            <a:endParaRPr/>
          </a:p>
        </p:txBody>
      </p:sp>
      <p:sp>
        <p:nvSpPr>
          <p:cNvPr id="172" name="Google Shape;172;p18"/>
          <p:cNvSpPr txBox="1"/>
          <p:nvPr>
            <p:ph idx="1" type="body"/>
          </p:nvPr>
        </p:nvSpPr>
        <p:spPr>
          <a:xfrm>
            <a:off x="1297500" y="14853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Would you rather go first or second?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First Player: 1st, 3rd, or 5th spin.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First Player: </a:t>
            </a:r>
            <a:r>
              <a:rPr lang="en" sz="1700"/>
              <a:t>1/6</a:t>
            </a:r>
            <a:r>
              <a:rPr lang="en" sz="1700"/>
              <a:t> + </a:t>
            </a:r>
            <a:r>
              <a:rPr lang="en" sz="1700"/>
              <a:t>5/6</a:t>
            </a:r>
            <a:r>
              <a:rPr lang="en" sz="1700"/>
              <a:t>*</a:t>
            </a:r>
            <a:r>
              <a:rPr lang="en" sz="1700"/>
              <a:t>4/5</a:t>
            </a:r>
            <a:r>
              <a:rPr lang="en" sz="1700"/>
              <a:t>*</a:t>
            </a:r>
            <a:r>
              <a:rPr lang="en" sz="1700"/>
              <a:t>1/4 </a:t>
            </a:r>
            <a:r>
              <a:rPr lang="en" sz="1700"/>
              <a:t>+ </a:t>
            </a:r>
            <a:r>
              <a:rPr lang="en" sz="1700"/>
              <a:t>5/6</a:t>
            </a:r>
            <a:r>
              <a:rPr lang="en" sz="1700"/>
              <a:t>*</a:t>
            </a:r>
            <a:r>
              <a:rPr lang="en" sz="1700"/>
              <a:t>4/5</a:t>
            </a:r>
            <a:r>
              <a:rPr lang="en" sz="1700"/>
              <a:t>*</a:t>
            </a:r>
            <a:r>
              <a:rPr lang="en" sz="1700"/>
              <a:t>3/4</a:t>
            </a:r>
            <a:r>
              <a:rPr lang="en" sz="1700"/>
              <a:t>*</a:t>
            </a:r>
            <a:r>
              <a:rPr lang="en" sz="1700"/>
              <a:t>2/3</a:t>
            </a:r>
            <a:r>
              <a:rPr lang="en" sz="1700"/>
              <a:t>*</a:t>
            </a:r>
            <a:r>
              <a:rPr lang="en" sz="1700"/>
              <a:t>1/2</a:t>
            </a:r>
            <a:r>
              <a:rPr lang="en" sz="1700"/>
              <a:t>=0.5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Second Player: 2nd, 4th, or 6th spin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Second Player: </a:t>
            </a:r>
            <a:r>
              <a:rPr lang="en" sz="1700"/>
              <a:t>5/6</a:t>
            </a:r>
            <a:r>
              <a:rPr lang="en" sz="1700"/>
              <a:t>*</a:t>
            </a:r>
            <a:r>
              <a:rPr lang="en" sz="1700"/>
              <a:t>1/5</a:t>
            </a:r>
            <a:r>
              <a:rPr lang="en" sz="1700"/>
              <a:t> + </a:t>
            </a:r>
            <a:r>
              <a:rPr lang="en" sz="1700"/>
              <a:t>5/6</a:t>
            </a:r>
            <a:r>
              <a:rPr lang="en" sz="1700"/>
              <a:t>*</a:t>
            </a:r>
            <a:r>
              <a:rPr lang="en" sz="1700"/>
              <a:t>4/5</a:t>
            </a:r>
            <a:r>
              <a:rPr lang="en" sz="1700"/>
              <a:t>*</a:t>
            </a:r>
            <a:r>
              <a:rPr lang="en" sz="1700"/>
              <a:t>3/4</a:t>
            </a:r>
            <a:r>
              <a:rPr lang="en" sz="1700"/>
              <a:t>*</a:t>
            </a:r>
            <a:r>
              <a:rPr lang="en" sz="1700"/>
              <a:t>1/3</a:t>
            </a:r>
            <a:r>
              <a:rPr lang="en" sz="1700"/>
              <a:t> + </a:t>
            </a:r>
            <a:r>
              <a:rPr lang="en" sz="1700"/>
              <a:t>5/6</a:t>
            </a:r>
            <a:r>
              <a:rPr lang="en" sz="1700"/>
              <a:t>*</a:t>
            </a:r>
            <a:r>
              <a:rPr lang="en" sz="1700"/>
              <a:t>4/5</a:t>
            </a:r>
            <a:r>
              <a:rPr lang="en" sz="1700"/>
              <a:t>*</a:t>
            </a:r>
            <a:r>
              <a:rPr lang="en" sz="1700"/>
              <a:t>3/4</a:t>
            </a:r>
            <a:r>
              <a:rPr lang="en" sz="1700"/>
              <a:t>*</a:t>
            </a:r>
            <a:r>
              <a:rPr lang="en" sz="1700"/>
              <a:t>2/3</a:t>
            </a:r>
            <a:r>
              <a:rPr lang="en" sz="1700"/>
              <a:t>*1/2*1 =0.5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Equal </a:t>
            </a:r>
            <a:r>
              <a:rPr lang="en" sz="1700"/>
              <a:t>probabilities</a:t>
            </a:r>
            <a:r>
              <a:rPr lang="en" sz="1700"/>
              <a:t>. Intuition: The bullet is either in slot 1,2, or 3, or 2, 4, or 6 so it’s fixed from the beginning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3" name="Google Shape;173;p18"/>
          <p:cNvSpPr txBox="1"/>
          <p:nvPr/>
        </p:nvSpPr>
        <p:spPr>
          <a:xfrm>
            <a:off x="1297500" y="4171825"/>
            <a:ext cx="5955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if we spin the barrel after every shot? 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Roulette Part 2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1243375" y="2133025"/>
            <a:ext cx="72570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Now every shot has </a:t>
            </a:r>
            <a:r>
              <a:rPr lang="en" sz="1700"/>
              <a:t>1/6</a:t>
            </a:r>
            <a:r>
              <a:rPr lang="en" sz="1700"/>
              <a:t> probability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probability that you lose at all is p, so the probability your opponent loses is 1-p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p=1*</a:t>
            </a:r>
            <a:r>
              <a:rPr lang="en" sz="1700"/>
              <a:t>1/6</a:t>
            </a:r>
            <a:r>
              <a:rPr lang="en" sz="1700"/>
              <a:t> + (1-p)*5/6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 = 6/11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This means that you should go second, your odds of losing are 5/11</a:t>
            </a:r>
            <a:endParaRPr sz="1700"/>
          </a:p>
        </p:txBody>
      </p:sp>
      <p:sp>
        <p:nvSpPr>
          <p:cNvPr id="181" name="Google Shape;181;p19"/>
          <p:cNvSpPr txBox="1"/>
          <p:nvPr/>
        </p:nvSpPr>
        <p:spPr>
          <a:xfrm>
            <a:off x="1297500" y="1485325"/>
            <a:ext cx="5955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What if we spin the barrel after every shot? 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Roulette Part 3</a:t>
            </a:r>
            <a:endParaRPr/>
          </a:p>
        </p:txBody>
      </p:sp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1232475" y="2514425"/>
            <a:ext cx="7257000" cy="19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If you spin, the probability of losing is 2/6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If you don’t spin the probability of losing is 2/5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So yes, spin the barrel</a:t>
            </a:r>
            <a:endParaRPr sz="1700"/>
          </a:p>
        </p:txBody>
      </p:sp>
      <p:sp>
        <p:nvSpPr>
          <p:cNvPr id="189" name="Google Shape;189;p20"/>
          <p:cNvSpPr txBox="1"/>
          <p:nvPr/>
        </p:nvSpPr>
        <p:spPr>
          <a:xfrm>
            <a:off x="1297500" y="1485325"/>
            <a:ext cx="5955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 now have 2 bullets, you have the option to spin the barrel if you want. Should you spin the barrel?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Roulette Part 4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1232475" y="2514425"/>
            <a:ext cx="7257000" cy="19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Lets say the bullets are in positions 5 and 6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This means if your opponent survives, he either hit 1, 2, 3, or 4.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This means you will hit either 2, 3, 4, or 5, so you will have a 1 in 4 chance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If you spin, the probability of losing is still 2/6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If you don’t spin the probability of losing is 1/4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So no, don’t spin the barrel</a:t>
            </a:r>
            <a:endParaRPr sz="1700"/>
          </a:p>
        </p:txBody>
      </p:sp>
      <p:sp>
        <p:nvSpPr>
          <p:cNvPr id="197" name="Google Shape;197;p21"/>
          <p:cNvSpPr txBox="1"/>
          <p:nvPr/>
        </p:nvSpPr>
        <p:spPr>
          <a:xfrm>
            <a:off x="1297500" y="1485325"/>
            <a:ext cx="5955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 are still 2 bullets, but they’re in consecutive positions now. If your opponent survives the first </a:t>
            </a:r>
            <a:r>
              <a:rPr b="1"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round</a:t>
            </a:r>
            <a:r>
              <a:rPr b="1"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should you spin the barrel?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Betting Against an Asset</a:t>
            </a:r>
            <a:endParaRPr/>
          </a:p>
        </p:txBody>
      </p:sp>
      <p:sp>
        <p:nvSpPr>
          <p:cNvPr id="208" name="Google Shape;208;p23"/>
          <p:cNvSpPr txBox="1"/>
          <p:nvPr>
            <p:ph idx="1" type="body"/>
          </p:nvPr>
        </p:nvSpPr>
        <p:spPr>
          <a:xfrm>
            <a:off x="1105450" y="1207350"/>
            <a:ext cx="64683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Suppose AAPL is trading at $100, and you believe that it’s true value is closer to $150. Given that assets tend towards their true value, a way you could profit off of this belief is just buying AAPL. If your belief is accurate, you will eventually gain $50 per share that you purchase.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Now suppose AAPL is trading at $100, but you believe that it should be valued at $50. There is clearly a price discrepancy between AAPL and your opinion of it’s true value, so you should be able to profit off of this.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One way might be to find an asset that has negative correlation with AAPL’s stock price, and buy that. </a:t>
            </a:r>
            <a:r>
              <a:rPr lang="en" sz="1600"/>
              <a:t>Another</a:t>
            </a:r>
            <a:r>
              <a:rPr lang="en" sz="1600"/>
              <a:t> way is to short AAPL.</a:t>
            </a:r>
            <a:endParaRPr sz="1600"/>
          </a:p>
        </p:txBody>
      </p:sp>
      <p:pic>
        <p:nvPicPr>
          <p:cNvPr id="209" name="Google Shape;2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Shorting?</a:t>
            </a:r>
            <a:endParaRPr/>
          </a:p>
        </p:txBody>
      </p:sp>
      <p:sp>
        <p:nvSpPr>
          <p:cNvPr id="215" name="Google Shape;215;p24"/>
          <p:cNvSpPr txBox="1"/>
          <p:nvPr>
            <p:ph idx="1" type="body"/>
          </p:nvPr>
        </p:nvSpPr>
        <p:spPr>
          <a:xfrm>
            <a:off x="1105450" y="1207350"/>
            <a:ext cx="64683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short is a trade in which several things occur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 trader borrows some asset (shares of stock, bonds, options, etc.)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The trader than sells that asset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After some time, the trader buys back that asset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The trader returns the asset to its original owner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Example: AAPL trades at $100, you think it’s worth $50. You short a share of AAPL, and wait. The price then drops to $50, you close out your position (buy back a share) and walk away $50 richer</a:t>
            </a:r>
            <a:endParaRPr sz="1600"/>
          </a:p>
        </p:txBody>
      </p:sp>
      <p:pic>
        <p:nvPicPr>
          <p:cNvPr id="216" name="Google Shape;2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Downsides</a:t>
            </a:r>
            <a:endParaRPr/>
          </a:p>
        </p:txBody>
      </p:sp>
      <p:sp>
        <p:nvSpPr>
          <p:cNvPr id="222" name="Google Shape;222;p25"/>
          <p:cNvSpPr txBox="1"/>
          <p:nvPr>
            <p:ph idx="1" type="body"/>
          </p:nvPr>
        </p:nvSpPr>
        <p:spPr>
          <a:xfrm>
            <a:off x="1105450" y="1207350"/>
            <a:ext cx="6468300" cy="3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Buying (longing) a stock and shorting are inverse actions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Buying has limited downside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Most assets can only go down to $0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Shorting has unlimited downside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 price of any given asset can be arbitrarily high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Additional downsides to shorting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Usually you must pay a premium to whomever you are borrowing from, especially for larger orders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Owning a share of stock entitles you to a portion of the company, and (theoretically) a portion of the profits</a:t>
            </a:r>
            <a:endParaRPr sz="1600"/>
          </a:p>
        </p:txBody>
      </p:sp>
      <p:pic>
        <p:nvPicPr>
          <p:cNvPr id="223" name="Google Shape;2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823850" y="2053000"/>
            <a:ext cx="534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Buying on the margin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Buying 1000 shares at $40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You have $20k, so you must borrow the rest.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Your margin is equity/stock value, this situation is 50% margin, or also 2x leverage</a:t>
            </a:r>
            <a:endParaRPr sz="1300"/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1297475" y="2451725"/>
            <a:ext cx="34032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$40,000 (1000*$40)</a:t>
            </a:r>
            <a:endParaRPr/>
          </a:p>
        </p:txBody>
      </p:sp>
      <p:sp>
        <p:nvSpPr>
          <p:cNvPr id="235" name="Google Shape;235;p27"/>
          <p:cNvSpPr txBox="1"/>
          <p:nvPr>
            <p:ph idx="2" type="body"/>
          </p:nvPr>
        </p:nvSpPr>
        <p:spPr>
          <a:xfrm>
            <a:off x="4933200" y="2451650"/>
            <a:ext cx="34032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$20,000 Loan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$20,000 Equity</a:t>
            </a:r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1297475" y="202475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Assets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7" name="Google Shape;237;p27"/>
          <p:cNvCxnSpPr/>
          <p:nvPr/>
        </p:nvCxnSpPr>
        <p:spPr>
          <a:xfrm rot="10800000">
            <a:off x="4802475" y="1985150"/>
            <a:ext cx="0" cy="3486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7"/>
          <p:cNvCxnSpPr/>
          <p:nvPr/>
        </p:nvCxnSpPr>
        <p:spPr>
          <a:xfrm>
            <a:off x="1087725" y="2413625"/>
            <a:ext cx="71058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7"/>
          <p:cNvSpPr txBox="1"/>
          <p:nvPr/>
        </p:nvSpPr>
        <p:spPr>
          <a:xfrm>
            <a:off x="4904275" y="199070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Liabilities + Equity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Buying on the margin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goes </a:t>
            </a:r>
            <a:r>
              <a:rPr lang="en"/>
              <a:t>to $50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Margin of equity to assets has dropped to  0.33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Usually a minimum margin exists. If it’s hit, you will be forced to sell</a:t>
            </a:r>
            <a:endParaRPr sz="1300"/>
          </a:p>
        </p:txBody>
      </p:sp>
      <p:sp>
        <p:nvSpPr>
          <p:cNvPr id="245" name="Google Shape;245;p28"/>
          <p:cNvSpPr txBox="1"/>
          <p:nvPr>
            <p:ph idx="1" type="body"/>
          </p:nvPr>
        </p:nvSpPr>
        <p:spPr>
          <a:xfrm>
            <a:off x="1297475" y="2451725"/>
            <a:ext cx="34032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$50,000 (1000*$50)</a:t>
            </a:r>
            <a:endParaRPr/>
          </a:p>
        </p:txBody>
      </p:sp>
      <p:sp>
        <p:nvSpPr>
          <p:cNvPr id="246" name="Google Shape;246;p28"/>
          <p:cNvSpPr txBox="1"/>
          <p:nvPr>
            <p:ph idx="2" type="body"/>
          </p:nvPr>
        </p:nvSpPr>
        <p:spPr>
          <a:xfrm>
            <a:off x="4933200" y="2451650"/>
            <a:ext cx="34032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$20,000 Loan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$30,000 Equity</a:t>
            </a: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1297475" y="202475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Assets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8" name="Google Shape;248;p28"/>
          <p:cNvCxnSpPr/>
          <p:nvPr/>
        </p:nvCxnSpPr>
        <p:spPr>
          <a:xfrm rot="10800000">
            <a:off x="4802475" y="1985150"/>
            <a:ext cx="0" cy="3486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8"/>
          <p:cNvCxnSpPr/>
          <p:nvPr/>
        </p:nvCxnSpPr>
        <p:spPr>
          <a:xfrm>
            <a:off x="1087725" y="2413625"/>
            <a:ext cx="71058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8"/>
          <p:cNvSpPr txBox="1"/>
          <p:nvPr/>
        </p:nvSpPr>
        <p:spPr>
          <a:xfrm>
            <a:off x="4904275" y="199070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Liabilities + Equity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1865575" y="4075200"/>
            <a:ext cx="30387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Price rise of 25% leads to a 50% gain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Buying on the margin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drops to $30 (bad)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Margin of equity to assets has dropped to  0.33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Usually a minimum margin exists. If it’s hit, you will be forced to sell</a:t>
            </a:r>
            <a:endParaRPr sz="1300"/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1297475" y="2451725"/>
            <a:ext cx="34032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$30,000 (1000*$30)</a:t>
            </a:r>
            <a:endParaRPr/>
          </a:p>
        </p:txBody>
      </p:sp>
      <p:sp>
        <p:nvSpPr>
          <p:cNvPr id="258" name="Google Shape;258;p29"/>
          <p:cNvSpPr txBox="1"/>
          <p:nvPr>
            <p:ph idx="2" type="body"/>
          </p:nvPr>
        </p:nvSpPr>
        <p:spPr>
          <a:xfrm>
            <a:off x="4933200" y="2451650"/>
            <a:ext cx="34032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$20,000 Loan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$10,000 Equity</a:t>
            </a:r>
            <a:endParaRPr/>
          </a:p>
        </p:txBody>
      </p:sp>
      <p:sp>
        <p:nvSpPr>
          <p:cNvPr id="259" name="Google Shape;259;p29"/>
          <p:cNvSpPr txBox="1"/>
          <p:nvPr/>
        </p:nvSpPr>
        <p:spPr>
          <a:xfrm>
            <a:off x="1297475" y="202475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Assets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0" name="Google Shape;260;p29"/>
          <p:cNvCxnSpPr/>
          <p:nvPr/>
        </p:nvCxnSpPr>
        <p:spPr>
          <a:xfrm rot="10800000">
            <a:off x="4802475" y="1985150"/>
            <a:ext cx="0" cy="3486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9"/>
          <p:cNvCxnSpPr/>
          <p:nvPr/>
        </p:nvCxnSpPr>
        <p:spPr>
          <a:xfrm>
            <a:off x="1087725" y="2413625"/>
            <a:ext cx="71058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9"/>
          <p:cNvSpPr txBox="1"/>
          <p:nvPr/>
        </p:nvSpPr>
        <p:spPr>
          <a:xfrm>
            <a:off x="4904275" y="199070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Liabilities + Equity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1865575" y="4075200"/>
            <a:ext cx="30387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Price drop of 25% leads to a 50% loss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Selling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Shorting 1000 shares at $40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1297475" y="2451725"/>
            <a:ext cx="35526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$40,000 (unchanging, sale already happened)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$20,000 (initial deposit)</a:t>
            </a:r>
            <a:endParaRPr/>
          </a:p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3200" y="2451650"/>
            <a:ext cx="34032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$40,000 Loan (1000*$40)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$20,000 Equity</a:t>
            </a:r>
            <a:endParaRPr/>
          </a:p>
        </p:txBody>
      </p:sp>
      <p:sp>
        <p:nvSpPr>
          <p:cNvPr id="271" name="Google Shape;271;p30"/>
          <p:cNvSpPr txBox="1"/>
          <p:nvPr/>
        </p:nvSpPr>
        <p:spPr>
          <a:xfrm>
            <a:off x="1297475" y="202475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Assets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2" name="Google Shape;272;p30"/>
          <p:cNvCxnSpPr/>
          <p:nvPr/>
        </p:nvCxnSpPr>
        <p:spPr>
          <a:xfrm rot="10800000">
            <a:off x="4802475" y="1985150"/>
            <a:ext cx="0" cy="3486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0"/>
          <p:cNvCxnSpPr/>
          <p:nvPr/>
        </p:nvCxnSpPr>
        <p:spPr>
          <a:xfrm>
            <a:off x="1087725" y="2413625"/>
            <a:ext cx="71058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30"/>
          <p:cNvSpPr txBox="1"/>
          <p:nvPr/>
        </p:nvSpPr>
        <p:spPr>
          <a:xfrm>
            <a:off x="4904275" y="199070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Liabilities + Equity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Selling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falls to $30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1297475" y="2451725"/>
            <a:ext cx="35526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$40,000 (unchanging, sale already happened)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$20,000 (initial deposit)</a:t>
            </a:r>
            <a:endParaRPr/>
          </a:p>
        </p:txBody>
      </p:sp>
      <p:sp>
        <p:nvSpPr>
          <p:cNvPr id="281" name="Google Shape;281;p31"/>
          <p:cNvSpPr txBox="1"/>
          <p:nvPr>
            <p:ph idx="2" type="body"/>
          </p:nvPr>
        </p:nvSpPr>
        <p:spPr>
          <a:xfrm>
            <a:off x="4933200" y="2451650"/>
            <a:ext cx="3403200" cy="24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$30,000 Loan (1000*$30)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$30,000 Equity</a:t>
            </a:r>
            <a:endParaRPr/>
          </a:p>
        </p:txBody>
      </p:sp>
      <p:sp>
        <p:nvSpPr>
          <p:cNvPr id="282" name="Google Shape;282;p31"/>
          <p:cNvSpPr txBox="1"/>
          <p:nvPr/>
        </p:nvSpPr>
        <p:spPr>
          <a:xfrm>
            <a:off x="1297475" y="202475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Assets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83" name="Google Shape;283;p31"/>
          <p:cNvCxnSpPr/>
          <p:nvPr/>
        </p:nvCxnSpPr>
        <p:spPr>
          <a:xfrm rot="10800000">
            <a:off x="4802475" y="1985150"/>
            <a:ext cx="0" cy="3486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1"/>
          <p:cNvCxnSpPr/>
          <p:nvPr/>
        </p:nvCxnSpPr>
        <p:spPr>
          <a:xfrm>
            <a:off x="1087725" y="2413625"/>
            <a:ext cx="71058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1"/>
          <p:cNvSpPr txBox="1"/>
          <p:nvPr/>
        </p:nvSpPr>
        <p:spPr>
          <a:xfrm>
            <a:off x="4904275" y="1990700"/>
            <a:ext cx="34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Liabilities + Equity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