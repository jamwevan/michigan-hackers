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Average"/>
      <p:regular r:id="rId30"/>
    </p:embeddedFont>
    <p:embeddedFont>
      <p:font typeface="Oswald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CD6B10-8D25-42B3-80F6-E5688D02C74D}">
  <a:tblStyle styleId="{71CD6B10-8D25-42B3-80F6-E5688D02C7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swald-regular.fntdata"/><Relationship Id="rId30" Type="http://schemas.openxmlformats.org/officeDocument/2006/relationships/font" Target="fonts/Average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Oswa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5f883ec6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5f883ec6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85af9b6d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85af9b6d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5af9b6d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85af9b6d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85af9b6df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85af9b6df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85af9b6df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85af9b6df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85af9b6df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85af9b6df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5af9b6df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5af9b6df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5f8c9c06fc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5f8c9c06f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5f8c9c06f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5f8c9c06f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5f883ec6a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5f883ec6a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85af9b6df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85af9b6df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5f8c9c06fc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5f8c9c06f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5f8c9c06fc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5f8c9c06fc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04e31332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04e31332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04e313326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04e313326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85af9b6df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85af9b6df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85af9b6df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85af9b6df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04e31332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04e31332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5f8c9c06fc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5f8c9c06fc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5f8c9c06fc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5f8c9c06fc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5f8c9c06fc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5f8c9c06fc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85af9b6df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85af9b6df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Hack Night #3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2/2/2022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 + Brain Teasers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Prices Indicate Buyer/Seller Views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Order Matching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Market Making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Games! (More will be played next week)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Slide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0300" y="1274450"/>
            <a:ext cx="3163400" cy="31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Question 1 part 1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353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0">
                <a:solidFill>
                  <a:schemeClr val="dk1"/>
                </a:solidFill>
              </a:rPr>
              <a:t>1000!</a:t>
            </a:r>
            <a:endParaRPr sz="100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574200" y="1152475"/>
            <a:ext cx="48588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What is the last digit of this expression and why?</a:t>
            </a:r>
            <a:endParaRPr sz="4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Question 1 part 2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353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0">
                <a:solidFill>
                  <a:schemeClr val="dk1"/>
                </a:solidFill>
              </a:rPr>
              <a:t>1000!</a:t>
            </a:r>
            <a:endParaRPr sz="10000"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574200" y="1152475"/>
            <a:ext cx="48588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How many trailing </a:t>
            </a:r>
            <a:r>
              <a:rPr lang="en" sz="4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zeros</a:t>
            </a:r>
            <a:r>
              <a:rPr lang="en" sz="4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are in this expression (example 5! = 240 and has 1)</a:t>
            </a:r>
            <a:endParaRPr sz="4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Question 1 part 3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353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0">
                <a:solidFill>
                  <a:schemeClr val="dk1"/>
                </a:solidFill>
              </a:rPr>
              <a:t>1000!</a:t>
            </a:r>
            <a:endParaRPr sz="10000"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3574200" y="1152475"/>
            <a:ext cx="48588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How many trailing zeros are in this expression if it were in base 25</a:t>
            </a:r>
            <a:endParaRPr sz="40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Question 2 part 1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4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We roll a 6 sided die until we get a 5 and a 6 (not necessarily one after another). What is the expected number of rolls?</a:t>
            </a:r>
            <a:endParaRPr sz="3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Question 2 part 2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4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500">
                <a:solidFill>
                  <a:schemeClr val="dk1"/>
                </a:solidFill>
              </a:rPr>
              <a:t>We roll a fair 6-sided die twice. What is the probability that the first roll was a 4 given that the second roll was greater than the first?</a:t>
            </a:r>
            <a:endParaRPr sz="3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Prices for Buyers and Sellers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Buyer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Has some form of money (cash for example) and would like to trade this in for another type of good (a share of stock for example)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What factors affect whether or not buyer A will buy a specific good?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Price of the good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Valuation of the good according to buyer A’s needs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If Valuation(Good) &gt; Price, Buyer A should buy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What if Valuation(Good) = Price?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Prices for Buyers and Sellers (cont.)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Seller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Has some type of good (a share of stock for example) and would like to trade this in for some money (cash for example)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What factors affect whether or not seller B will sell a specific good?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Price of the good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Valuation of the good according to seller B’s needs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If Valuation(Good) &lt;  Price, Seller B should sell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What if Valuation(Good) = Price?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Movements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</a:t>
            </a:r>
            <a:r>
              <a:rPr lang="en"/>
              <a:t> consider an analogy with buying a new video game . . 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438" y="1850225"/>
            <a:ext cx="2255373" cy="150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5194525" y="2302325"/>
            <a:ext cx="96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$500</a:t>
            </a:r>
            <a:endParaRPr sz="2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1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2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313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02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3"/>
          <p:cNvCxnSpPr>
            <a:stCxn id="124" idx="2"/>
            <a:endCxn id="126" idx="0"/>
          </p:cNvCxnSpPr>
          <p:nvPr/>
        </p:nvCxnSpPr>
        <p:spPr>
          <a:xfrm flipH="1">
            <a:off x="954324" y="3353801"/>
            <a:ext cx="2941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3"/>
          <p:cNvCxnSpPr>
            <a:stCxn id="124" idx="2"/>
            <a:endCxn id="127" idx="0"/>
          </p:cNvCxnSpPr>
          <p:nvPr/>
        </p:nvCxnSpPr>
        <p:spPr>
          <a:xfrm flipH="1">
            <a:off x="2418924" y="3353801"/>
            <a:ext cx="14772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3"/>
          <p:cNvCxnSpPr>
            <a:stCxn id="124" idx="2"/>
            <a:endCxn id="128" idx="0"/>
          </p:cNvCxnSpPr>
          <p:nvPr/>
        </p:nvCxnSpPr>
        <p:spPr>
          <a:xfrm>
            <a:off x="3896124" y="3353801"/>
            <a:ext cx="29421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3"/>
          <p:cNvCxnSpPr>
            <a:stCxn id="124" idx="2"/>
            <a:endCxn id="129" idx="0"/>
          </p:cNvCxnSpPr>
          <p:nvPr/>
        </p:nvCxnSpPr>
        <p:spPr>
          <a:xfrm>
            <a:off x="3896124" y="3353801"/>
            <a:ext cx="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" name="Google Shape;135;p23"/>
          <p:cNvCxnSpPr>
            <a:stCxn id="124" idx="2"/>
            <a:endCxn id="130" idx="0"/>
          </p:cNvCxnSpPr>
          <p:nvPr/>
        </p:nvCxnSpPr>
        <p:spPr>
          <a:xfrm>
            <a:off x="3896124" y="3353801"/>
            <a:ext cx="1405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3"/>
          <p:cNvSpPr txBox="1"/>
          <p:nvPr/>
        </p:nvSpPr>
        <p:spPr>
          <a:xfrm>
            <a:off x="65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$600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21359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$550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6130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$525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501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$700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65550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$830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Movements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Say that Person 3 Buys the Playstation for $500 and it is now sold out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438" y="1850225"/>
            <a:ext cx="2255373" cy="150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 txBox="1"/>
          <p:nvPr/>
        </p:nvSpPr>
        <p:spPr>
          <a:xfrm>
            <a:off x="5194525" y="2302325"/>
            <a:ext cx="96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$500</a:t>
            </a:r>
            <a:endParaRPr sz="2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1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2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313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02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24"/>
          <p:cNvCxnSpPr>
            <a:stCxn id="147" idx="2"/>
            <a:endCxn id="149" idx="0"/>
          </p:cNvCxnSpPr>
          <p:nvPr/>
        </p:nvCxnSpPr>
        <p:spPr>
          <a:xfrm flipH="1">
            <a:off x="954324" y="3353801"/>
            <a:ext cx="2941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4"/>
          <p:cNvCxnSpPr>
            <a:stCxn id="147" idx="2"/>
            <a:endCxn id="150" idx="0"/>
          </p:cNvCxnSpPr>
          <p:nvPr/>
        </p:nvCxnSpPr>
        <p:spPr>
          <a:xfrm flipH="1">
            <a:off x="2418924" y="3353801"/>
            <a:ext cx="14772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4"/>
          <p:cNvCxnSpPr>
            <a:stCxn id="147" idx="2"/>
            <a:endCxn id="151" idx="0"/>
          </p:cNvCxnSpPr>
          <p:nvPr/>
        </p:nvCxnSpPr>
        <p:spPr>
          <a:xfrm>
            <a:off x="3896124" y="3353801"/>
            <a:ext cx="29421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4"/>
          <p:cNvCxnSpPr>
            <a:stCxn id="147" idx="2"/>
            <a:endCxn id="152" idx="0"/>
          </p:cNvCxnSpPr>
          <p:nvPr/>
        </p:nvCxnSpPr>
        <p:spPr>
          <a:xfrm>
            <a:off x="3896124" y="3353801"/>
            <a:ext cx="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4"/>
          <p:cNvCxnSpPr>
            <a:stCxn id="147" idx="2"/>
            <a:endCxn id="153" idx="0"/>
          </p:cNvCxnSpPr>
          <p:nvPr/>
        </p:nvCxnSpPr>
        <p:spPr>
          <a:xfrm>
            <a:off x="3896124" y="3353801"/>
            <a:ext cx="1405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4"/>
          <p:cNvSpPr txBox="1"/>
          <p:nvPr/>
        </p:nvSpPr>
        <p:spPr>
          <a:xfrm>
            <a:off x="65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$600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21359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$550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36130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$525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501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$700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65550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$830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64" name="Google Shape;164;p24"/>
          <p:cNvCxnSpPr/>
          <p:nvPr/>
        </p:nvCxnSpPr>
        <p:spPr>
          <a:xfrm>
            <a:off x="2367900" y="1636325"/>
            <a:ext cx="3149700" cy="18429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24"/>
          <p:cNvCxnSpPr/>
          <p:nvPr/>
        </p:nvCxnSpPr>
        <p:spPr>
          <a:xfrm flipH="1">
            <a:off x="2384550" y="1619550"/>
            <a:ext cx="2999100" cy="19266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Movements</a:t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Playstation can now increase its prices…</a:t>
            </a:r>
            <a:endParaRPr/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438" y="1850225"/>
            <a:ext cx="2255373" cy="150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/>
          <p:nvPr/>
        </p:nvSpPr>
        <p:spPr>
          <a:xfrm>
            <a:off x="5194525" y="2302325"/>
            <a:ext cx="96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$600</a:t>
            </a:r>
            <a:endParaRPr sz="2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1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2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313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02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5"/>
          <p:cNvCxnSpPr>
            <a:stCxn id="172" idx="2"/>
            <a:endCxn id="174" idx="0"/>
          </p:cNvCxnSpPr>
          <p:nvPr/>
        </p:nvCxnSpPr>
        <p:spPr>
          <a:xfrm flipH="1">
            <a:off x="954324" y="3353801"/>
            <a:ext cx="2941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5"/>
          <p:cNvCxnSpPr>
            <a:stCxn id="172" idx="2"/>
            <a:endCxn id="176" idx="0"/>
          </p:cNvCxnSpPr>
          <p:nvPr/>
        </p:nvCxnSpPr>
        <p:spPr>
          <a:xfrm>
            <a:off x="3896124" y="3353801"/>
            <a:ext cx="29421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25"/>
          <p:cNvCxnSpPr>
            <a:stCxn id="172" idx="2"/>
            <a:endCxn id="178" idx="0"/>
          </p:cNvCxnSpPr>
          <p:nvPr/>
        </p:nvCxnSpPr>
        <p:spPr>
          <a:xfrm>
            <a:off x="3896124" y="3353801"/>
            <a:ext cx="1405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25"/>
          <p:cNvSpPr txBox="1"/>
          <p:nvPr/>
        </p:nvSpPr>
        <p:spPr>
          <a:xfrm>
            <a:off x="65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$600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21359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$550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36130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$525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501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$700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65550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$830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2142099" y="4096713"/>
            <a:ext cx="566100" cy="7246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  <p:sp>
        <p:nvSpPr>
          <p:cNvPr id="188" name="Google Shape;188;p25"/>
          <p:cNvSpPr/>
          <p:nvPr/>
        </p:nvSpPr>
        <p:spPr>
          <a:xfrm>
            <a:off x="3577349" y="4096713"/>
            <a:ext cx="566100" cy="7246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Movements</a:t>
            </a:r>
            <a:endParaRPr/>
          </a:p>
        </p:txBody>
      </p:sp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5" name="Google Shape;19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438" y="1850225"/>
            <a:ext cx="2255373" cy="150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5194525" y="2302325"/>
            <a:ext cx="96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$650</a:t>
            </a:r>
            <a:endParaRPr sz="2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1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2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313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02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2" name="Google Shape;202;p26"/>
          <p:cNvCxnSpPr>
            <a:stCxn id="197" idx="0"/>
            <a:endCxn id="195" idx="2"/>
          </p:cNvCxnSpPr>
          <p:nvPr/>
        </p:nvCxnSpPr>
        <p:spPr>
          <a:xfrm flipH="1" rot="10800000">
            <a:off x="954175" y="3353825"/>
            <a:ext cx="2941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6"/>
          <p:cNvSpPr txBox="1"/>
          <p:nvPr/>
        </p:nvSpPr>
        <p:spPr>
          <a:xfrm>
            <a:off x="65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$600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21359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$550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36130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$525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501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$700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65550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$830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208" name="Google Shape;208;p26"/>
          <p:cNvCxnSpPr>
            <a:stCxn id="198" idx="0"/>
            <a:endCxn id="195" idx="2"/>
          </p:cNvCxnSpPr>
          <p:nvPr/>
        </p:nvCxnSpPr>
        <p:spPr>
          <a:xfrm flipH="1" rot="10800000">
            <a:off x="2418975" y="3353825"/>
            <a:ext cx="14772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p26"/>
          <p:cNvCxnSpPr>
            <a:stCxn id="200" idx="0"/>
            <a:endCxn id="195" idx="2"/>
          </p:cNvCxnSpPr>
          <p:nvPr/>
        </p:nvCxnSpPr>
        <p:spPr>
          <a:xfrm rot="10800000">
            <a:off x="3896113" y="3353825"/>
            <a:ext cx="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Matching System</a:t>
            </a:r>
            <a:endParaRPr/>
          </a:p>
        </p:txBody>
      </p:sp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System used by brokerages to match buy and sell orders together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Core of all </a:t>
            </a:r>
            <a:r>
              <a:rPr lang="en">
                <a:solidFill>
                  <a:schemeClr val="dk1"/>
                </a:solidFill>
              </a:rPr>
              <a:t>electronic</a:t>
            </a:r>
            <a:r>
              <a:rPr lang="en">
                <a:solidFill>
                  <a:schemeClr val="dk1"/>
                </a:solidFill>
              </a:rPr>
              <a:t> exchanges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Lots of quant firms may ask coding questions related to building your own order matching system (Ex: IMC Trading)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Two states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Continuous</a:t>
            </a:r>
            <a:r>
              <a:rPr lang="en">
                <a:solidFill>
                  <a:schemeClr val="dk1"/>
                </a:solidFill>
              </a:rPr>
              <a:t> System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Orders matched immediately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Auction State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Matching is done at fixed intervals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When the market opens for the day and a number of orders builds up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May use a priority queue and priority stack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</a:t>
            </a:r>
            <a:endParaRPr/>
          </a:p>
        </p:txBody>
      </p:sp>
      <p:graphicFrame>
        <p:nvGraphicFramePr>
          <p:cNvPr id="221" name="Google Shape;221;p28"/>
          <p:cNvGraphicFramePr/>
          <p:nvPr/>
        </p:nvGraphicFramePr>
        <p:xfrm>
          <a:off x="784975" y="11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{71CD6B10-8D25-42B3-80F6-E5688D02C74D}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Bid (Volume)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Price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Ask (Volume)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150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60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99.99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120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99.98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180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99.97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 continued</a:t>
            </a:r>
            <a:endParaRPr/>
          </a:p>
        </p:txBody>
      </p:sp>
      <p:graphicFrame>
        <p:nvGraphicFramePr>
          <p:cNvPr id="227" name="Google Shape;227;p29"/>
          <p:cNvGraphicFramePr/>
          <p:nvPr/>
        </p:nvGraphicFramePr>
        <p:xfrm>
          <a:off x="784975" y="11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{71CD6B10-8D25-42B3-80F6-E5688D02C74D}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Bid (Volume)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Price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Ask (Volume)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150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 (SOLD)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50 (SOLD)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60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99.99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120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99.98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180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99.97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Book Example continued</a:t>
            </a:r>
            <a:endParaRPr/>
          </a:p>
        </p:txBody>
      </p:sp>
      <p:graphicFrame>
        <p:nvGraphicFramePr>
          <p:cNvPr id="233" name="Google Shape;233;p30"/>
          <p:cNvGraphicFramePr/>
          <p:nvPr/>
        </p:nvGraphicFramePr>
        <p:xfrm>
          <a:off x="784975" y="11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{71CD6B10-8D25-42B3-80F6-E5688D02C74D}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Bid (Volume)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Price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Ask (Volume)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100.05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150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9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60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100.01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120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6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180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99.99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Order Matching</a:t>
            </a:r>
            <a:endParaRPr/>
          </a:p>
        </p:txBody>
      </p:sp>
      <p:pic>
        <p:nvPicPr>
          <p:cNvPr id="239" name="Google Shape;2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5650"/>
            <a:ext cx="9144001" cy="325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 Market</a:t>
            </a:r>
            <a:endParaRPr/>
          </a:p>
        </p:txBody>
      </p:sp>
      <p:sp>
        <p:nvSpPr>
          <p:cNvPr id="245" name="Google Shape;24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can “make a market” to reflect our sentiment about how much we value a certain product.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Includes a lower and an upper bound, or a range in which we believe the value of the product lies inside.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Person A is willing to buy a share of AAPL at $100 and sell it at $105</a:t>
            </a:r>
            <a:endParaRPr>
              <a:solidFill>
                <a:schemeClr val="dk1"/>
              </a:solidFill>
            </a:endParaRPr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What does this imply?</a:t>
            </a:r>
            <a:endParaRPr>
              <a:solidFill>
                <a:schemeClr val="dk1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Person A’s market is 100 @ 105.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Trades in the Market</a:t>
            </a:r>
            <a:endParaRPr/>
          </a:p>
        </p:txBody>
      </p:sp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Everyone who trades in the financial market has this upper and lower bound!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 when does a trade between 2 people occur?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Person A wants to buy something at a price $X. If someone wants to sell to Person A at price $X, there will be a trade.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Person A’s market on apple is 100 @ 105.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Person B’s market on AAPL is 102 @ 106.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Person C’s market on AAPL is 98 @ 105.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Person D’s market on AAPL is 90 @ 95.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Person</a:t>
            </a:r>
            <a:r>
              <a:rPr lang="en">
                <a:solidFill>
                  <a:schemeClr val="dk1"/>
                </a:solidFill>
              </a:rPr>
              <a:t> E’s market on AAPL is 105 @ 110.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 the above scenario who will trade with A?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Person A will trade with D and 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Making Game!</a:t>
            </a:r>
            <a:endParaRPr/>
          </a:p>
        </p:txBody>
      </p:sp>
      <p:sp>
        <p:nvSpPr>
          <p:cNvPr id="257" name="Google Shape;25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Get into groups of (3 or 4?)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Once you have a group we will begin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will roll a 10 sided dice 5 times and make a market around the total sum of the rolls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Each person in your group will take turns being the market maker. They will </a:t>
            </a:r>
            <a:r>
              <a:rPr lang="en">
                <a:solidFill>
                  <a:schemeClr val="dk1"/>
                </a:solidFill>
              </a:rPr>
              <a:t>provide</a:t>
            </a:r>
            <a:r>
              <a:rPr lang="en">
                <a:solidFill>
                  <a:schemeClr val="dk1"/>
                </a:solidFill>
              </a:rPr>
              <a:t> a range (ex. 24 @ 30) and </a:t>
            </a:r>
            <a:r>
              <a:rPr lang="en">
                <a:solidFill>
                  <a:schemeClr val="dk1"/>
                </a:solidFill>
              </a:rPr>
              <a:t>everyone else in the group will be able to trade with them. You can either buy or sell 1 share to the market maker.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Keep track of how many shares each person has in a google doc/spreadsheet.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Make a market on the sum of the numbers given to your group.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Making Game</a:t>
            </a:r>
            <a:endParaRPr/>
          </a:p>
        </p:txBody>
      </p:sp>
      <p:sp>
        <p:nvSpPr>
          <p:cNvPr id="263" name="Google Shape;263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How many countries in the world have over 50 million people?</a:t>
            </a: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