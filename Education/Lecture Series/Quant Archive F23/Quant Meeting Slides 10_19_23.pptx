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Montserrat"/>
      <p:regular r:id="rId17"/>
      <p:bold r:id="rId18"/>
      <p:italic r:id="rId19"/>
      <p:boldItalic r:id="rId20"/>
    </p:embeddedFont>
    <p:embeddedFont>
      <p:font typeface="La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boldItalic.fntdata"/><Relationship Id="rId11" Type="http://schemas.openxmlformats.org/officeDocument/2006/relationships/slide" Target="slides/slide6.xml"/><Relationship Id="rId22" Type="http://schemas.openxmlformats.org/officeDocument/2006/relationships/font" Target="fonts/Lato-bold.fntdata"/><Relationship Id="rId10" Type="http://schemas.openxmlformats.org/officeDocument/2006/relationships/slide" Target="slides/slide5.xml"/><Relationship Id="rId21" Type="http://schemas.openxmlformats.org/officeDocument/2006/relationships/font" Target="fonts/Lato-regular.fntdata"/><Relationship Id="rId13" Type="http://schemas.openxmlformats.org/officeDocument/2006/relationships/slide" Target="slides/slide8.xml"/><Relationship Id="rId24" Type="http://schemas.openxmlformats.org/officeDocument/2006/relationships/font" Target="fonts/Lato-boldItalic.fntdata"/><Relationship Id="rId12" Type="http://schemas.openxmlformats.org/officeDocument/2006/relationships/slide" Target="slides/slide7.xml"/><Relationship Id="rId23" Type="http://schemas.openxmlformats.org/officeDocument/2006/relationships/font" Target="fonts/La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Montserrat-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Montserrat-italic.fntdata"/><Relationship Id="rId6" Type="http://schemas.openxmlformats.org/officeDocument/2006/relationships/slide" Target="slides/slide1.xml"/><Relationship Id="rId18" Type="http://schemas.openxmlformats.org/officeDocument/2006/relationships/font" Target="fonts/Montserrat-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913fb11ab7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913fb11ab7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913fb11ab7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913fb11ab7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913fb11ab7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913fb11ab7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913fb11ab7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913fb11ab7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913fb11ab7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913fb11ab7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913fb11ab7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913fb11ab7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913fb11ab7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913fb11ab7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913fb11ab7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913fb11ab7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913fb11ab7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913fb11ab7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913fb11ab7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913fb11ab7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www.kaggle.com/learn/python"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Market Making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Agenda</a:t>
            </a:r>
            <a:endParaRPr/>
          </a:p>
        </p:txBody>
      </p:sp>
      <p:sp>
        <p:nvSpPr>
          <p:cNvPr id="140" name="Google Shape;140;p1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SzPts val="2400"/>
              <a:buChar char="●"/>
            </a:pPr>
            <a:r>
              <a:rPr lang="en" sz="2400"/>
              <a:t>Attendance</a:t>
            </a:r>
            <a:endParaRPr sz="2400"/>
          </a:p>
          <a:p>
            <a:pPr indent="-381000" lvl="0" marL="457200" rtl="0" algn="l">
              <a:spcBef>
                <a:spcPts val="0"/>
              </a:spcBef>
              <a:spcAft>
                <a:spcPts val="0"/>
              </a:spcAft>
              <a:buSzPts val="2400"/>
              <a:buChar char="●"/>
            </a:pPr>
            <a:r>
              <a:rPr lang="en" sz="2400"/>
              <a:t>Brain Teasers</a:t>
            </a:r>
            <a:endParaRPr sz="2400"/>
          </a:p>
          <a:p>
            <a:pPr indent="-381000" lvl="0" marL="457200" rtl="0" algn="l">
              <a:spcBef>
                <a:spcPts val="0"/>
              </a:spcBef>
              <a:spcAft>
                <a:spcPts val="0"/>
              </a:spcAft>
              <a:buSzPts val="2400"/>
              <a:buChar char="●"/>
            </a:pPr>
            <a:r>
              <a:rPr lang="en" sz="2400"/>
              <a:t>Project Introduction</a:t>
            </a:r>
            <a:endParaRPr sz="2400"/>
          </a:p>
          <a:p>
            <a:pPr indent="-381000" lvl="0" marL="457200" rtl="0" algn="l">
              <a:spcBef>
                <a:spcPts val="0"/>
              </a:spcBef>
              <a:spcAft>
                <a:spcPts val="0"/>
              </a:spcAft>
              <a:buSzPts val="2400"/>
              <a:buChar char="●"/>
            </a:pPr>
            <a:r>
              <a:rPr lang="en" sz="2400"/>
              <a:t>Intro to Python (Might be skipped)</a:t>
            </a:r>
            <a:endParaRPr sz="2400"/>
          </a:p>
          <a:p>
            <a:pPr indent="-381000" lvl="0" marL="457200" rtl="0" algn="l">
              <a:spcBef>
                <a:spcPts val="0"/>
              </a:spcBef>
              <a:spcAft>
                <a:spcPts val="0"/>
              </a:spcAft>
              <a:buSzPts val="2400"/>
              <a:buChar char="●"/>
            </a:pPr>
            <a:r>
              <a:rPr lang="en" sz="2400"/>
              <a:t>Begin project</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Attendance Form</a:t>
            </a:r>
            <a:endParaRPr/>
          </a:p>
        </p:txBody>
      </p:sp>
      <p:pic>
        <p:nvPicPr>
          <p:cNvPr id="146" name="Google Shape;146;p15"/>
          <p:cNvPicPr preferRelativeResize="0"/>
          <p:nvPr/>
        </p:nvPicPr>
        <p:blipFill>
          <a:blip r:embed="rId3">
            <a:alphaModFix/>
          </a:blip>
          <a:stretch>
            <a:fillRect/>
          </a:stretch>
        </p:blipFill>
        <p:spPr>
          <a:xfrm>
            <a:off x="3426300" y="1307850"/>
            <a:ext cx="2781300" cy="28003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Brain Teaser</a:t>
            </a:r>
            <a:endParaRPr/>
          </a:p>
        </p:txBody>
      </p:sp>
      <p:sp>
        <p:nvSpPr>
          <p:cNvPr id="152" name="Google Shape;152;p16"/>
          <p:cNvSpPr txBox="1"/>
          <p:nvPr>
            <p:ph idx="1" type="body"/>
          </p:nvPr>
        </p:nvSpPr>
        <p:spPr>
          <a:xfrm>
            <a:off x="1297500" y="1435275"/>
            <a:ext cx="7038900" cy="3043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2400"/>
              <a:t>Two people are playing a game with a circular </a:t>
            </a:r>
            <a:r>
              <a:rPr lang="en" sz="2400"/>
              <a:t>table</a:t>
            </a:r>
            <a:r>
              <a:rPr lang="en" sz="2400"/>
              <a:t>. Each turn a player places a quarter on the table. The coin must not overlap any coins. Once a player can not make a move they lose the game. Write a winning strategy for the first player to guarantee they win the game.</a:t>
            </a:r>
            <a:endParaRPr sz="2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Brain Teaser</a:t>
            </a:r>
            <a:endParaRPr/>
          </a:p>
        </p:txBody>
      </p:sp>
      <p:sp>
        <p:nvSpPr>
          <p:cNvPr id="158" name="Google Shape;158;p1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t>Given a number n create an algorithm to count how many </a:t>
            </a:r>
            <a:r>
              <a:rPr lang="en" sz="2400"/>
              <a:t>sets of consecutive positive integers add up to that number n.</a:t>
            </a:r>
            <a:endParaRPr sz="2400"/>
          </a:p>
          <a:p>
            <a:pPr indent="0" lvl="0" marL="0" rtl="0" algn="l">
              <a:spcBef>
                <a:spcPts val="1200"/>
              </a:spcBef>
              <a:spcAft>
                <a:spcPts val="0"/>
              </a:spcAft>
              <a:buNone/>
            </a:pPr>
            <a:r>
              <a:rPr lang="en" sz="2400"/>
              <a:t>Ex: (6) -&gt; {6}, {1,2,3}</a:t>
            </a:r>
            <a:endParaRPr sz="2400"/>
          </a:p>
          <a:p>
            <a:pPr indent="0" lvl="0" marL="0" rtl="0" algn="l">
              <a:spcBef>
                <a:spcPts val="1200"/>
              </a:spcBef>
              <a:spcAft>
                <a:spcPts val="1200"/>
              </a:spcAft>
              <a:buNone/>
            </a:pPr>
            <a:r>
              <a:rPr lang="en" sz="2400"/>
              <a:t>Ex: (15) -&gt; {15}, {7,8}, {4,5,6},  {1,2,3,4,5}</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Brain Teaser - Prisoner Hats</a:t>
            </a:r>
            <a:endParaRPr/>
          </a:p>
        </p:txBody>
      </p:sp>
      <p:sp>
        <p:nvSpPr>
          <p:cNvPr id="164" name="Google Shape;164;p18"/>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rPr lang="en" sz="2400"/>
              <a:t>One hundred prisoners are each randomly assigned a hat that is either red or blue. They stand in a single file line where each person can only see the hat of the people in front of them. Starting from the back they each say one word “red” or “blue”. If the color matches their hat they are set free. Find a strategy that the prisoners can use to guarantee the highest </a:t>
            </a:r>
            <a:r>
              <a:rPr lang="en" sz="2400"/>
              <a:t>amount</a:t>
            </a:r>
            <a:r>
              <a:rPr lang="en" sz="2400"/>
              <a:t>  get set free.</a:t>
            </a: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Brain Teaser - Tigers and Sheep</a:t>
            </a:r>
            <a:endParaRPr/>
          </a:p>
        </p:txBody>
      </p:sp>
      <p:sp>
        <p:nvSpPr>
          <p:cNvPr id="170" name="Google Shape;170;p19"/>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400"/>
              <a:t>Let’s say we have 100 Tigers and 1 Sheep on an island. The Tigers want to eat sheep. If a tiger eats a sheep it turns into a sheep. Each tiger prioritizes its life first and then eating a sheep. What happens?</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0"/>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Introduction - Market Making Simulator</a:t>
            </a:r>
            <a:endParaRPr/>
          </a:p>
        </p:txBody>
      </p:sp>
      <p:sp>
        <p:nvSpPr>
          <p:cNvPr id="176" name="Google Shape;176;p20"/>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t>We will be building an simulator for a dice related market making game.</a:t>
            </a:r>
            <a:endParaRPr sz="2400"/>
          </a:p>
          <a:p>
            <a:pPr indent="-381000" lvl="0" marL="457200" rtl="0" algn="l">
              <a:spcBef>
                <a:spcPts val="1200"/>
              </a:spcBef>
              <a:spcAft>
                <a:spcPts val="0"/>
              </a:spcAft>
              <a:buSzPts val="2400"/>
              <a:buChar char="●"/>
            </a:pPr>
            <a:r>
              <a:rPr lang="en" sz="2400"/>
              <a:t>We will have cpu players</a:t>
            </a:r>
            <a:endParaRPr sz="2400"/>
          </a:p>
          <a:p>
            <a:pPr indent="-381000" lvl="0" marL="457200" rtl="0" algn="l">
              <a:spcBef>
                <a:spcPts val="0"/>
              </a:spcBef>
              <a:spcAft>
                <a:spcPts val="0"/>
              </a:spcAft>
              <a:buSzPts val="2400"/>
              <a:buChar char="●"/>
            </a:pPr>
            <a:r>
              <a:rPr lang="en" sz="2400"/>
              <a:t>User players</a:t>
            </a:r>
            <a:endParaRPr sz="2400"/>
          </a:p>
          <a:p>
            <a:pPr indent="-381000" lvl="0" marL="457200" rtl="0" algn="l">
              <a:spcBef>
                <a:spcPts val="0"/>
              </a:spcBef>
              <a:spcAft>
                <a:spcPts val="0"/>
              </a:spcAft>
              <a:buSzPts val="2400"/>
              <a:buChar char="●"/>
            </a:pPr>
            <a:r>
              <a:rPr lang="en" sz="2400"/>
              <a:t>Ways to simulate dice rolls</a:t>
            </a:r>
            <a:endParaRPr sz="2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 CPU Player Strategies</a:t>
            </a:r>
            <a:endParaRPr/>
          </a:p>
        </p:txBody>
      </p:sp>
      <p:sp>
        <p:nvSpPr>
          <p:cNvPr id="182" name="Google Shape;182;p21"/>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lnSpcReduction="10000"/>
          </a:bodyPr>
          <a:lstStyle/>
          <a:p>
            <a:pPr indent="-381000" lvl="0" marL="457200" rtl="0" algn="l">
              <a:spcBef>
                <a:spcPts val="0"/>
              </a:spcBef>
              <a:spcAft>
                <a:spcPts val="0"/>
              </a:spcAft>
              <a:buSzPts val="2400"/>
              <a:buChar char="●"/>
            </a:pPr>
            <a:r>
              <a:rPr lang="en" sz="2400"/>
              <a:t>CPU that lags behind the actual dice rolls (1 turn behind)</a:t>
            </a:r>
            <a:endParaRPr sz="2400"/>
          </a:p>
          <a:p>
            <a:pPr indent="-381000" lvl="0" marL="457200" rtl="0" algn="l">
              <a:spcBef>
                <a:spcPts val="0"/>
              </a:spcBef>
              <a:spcAft>
                <a:spcPts val="0"/>
              </a:spcAft>
              <a:buSzPts val="2400"/>
              <a:buChar char="●"/>
            </a:pPr>
            <a:r>
              <a:rPr lang="en" sz="2400"/>
              <a:t>CPU that knows the next roll before it happens</a:t>
            </a:r>
            <a:endParaRPr sz="2400"/>
          </a:p>
          <a:p>
            <a:pPr indent="-381000" lvl="0" marL="457200" rtl="0" algn="l">
              <a:spcBef>
                <a:spcPts val="0"/>
              </a:spcBef>
              <a:spcAft>
                <a:spcPts val="0"/>
              </a:spcAft>
              <a:buSzPts val="2400"/>
              <a:buChar char="●"/>
            </a:pPr>
            <a:r>
              <a:rPr lang="en" sz="2400"/>
              <a:t>CPU that underestimates the market</a:t>
            </a:r>
            <a:endParaRPr sz="2400"/>
          </a:p>
          <a:p>
            <a:pPr indent="-381000" lvl="0" marL="457200" rtl="0" algn="l">
              <a:spcBef>
                <a:spcPts val="0"/>
              </a:spcBef>
              <a:spcAft>
                <a:spcPts val="0"/>
              </a:spcAft>
              <a:buSzPts val="2400"/>
              <a:buChar char="●"/>
            </a:pPr>
            <a:r>
              <a:rPr lang="en" sz="2400"/>
              <a:t>CPU that overestimates the market</a:t>
            </a:r>
            <a:endParaRPr sz="2400"/>
          </a:p>
          <a:p>
            <a:pPr indent="-381000" lvl="0" marL="457200" rtl="0" algn="l">
              <a:spcBef>
                <a:spcPts val="0"/>
              </a:spcBef>
              <a:spcAft>
                <a:spcPts val="0"/>
              </a:spcAft>
              <a:buSzPts val="2400"/>
              <a:buChar char="●"/>
            </a:pPr>
            <a:r>
              <a:rPr lang="en" sz="2400"/>
              <a:t>CPU that properly assesses the market</a:t>
            </a:r>
            <a:endParaRPr sz="2400"/>
          </a:p>
          <a:p>
            <a:pPr indent="-381000" lvl="0" marL="457200" rtl="0" algn="l">
              <a:spcBef>
                <a:spcPts val="0"/>
              </a:spcBef>
              <a:spcAft>
                <a:spcPts val="0"/>
              </a:spcAft>
              <a:buSzPts val="2400"/>
              <a:buChar char="●"/>
            </a:pPr>
            <a:r>
              <a:rPr lang="en" sz="2400"/>
              <a:t>CPU that rigs a dice roll</a:t>
            </a:r>
            <a:endParaRPr sz="2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 to Python</a:t>
            </a:r>
            <a:endParaRPr/>
          </a:p>
        </p:txBody>
      </p:sp>
      <p:sp>
        <p:nvSpPr>
          <p:cNvPr id="188" name="Google Shape;188;p22"/>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400" u="sng">
                <a:solidFill>
                  <a:schemeClr val="hlink"/>
                </a:solidFill>
                <a:hlinkClick r:id="rId3"/>
              </a:rPr>
              <a:t>https://www.kaggle.com/learn/python</a:t>
            </a:r>
            <a:r>
              <a:rPr lang="en" sz="2400"/>
              <a:t> </a:t>
            </a:r>
            <a:endParaRPr sz="2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3"/>
          <p:cNvSpPr txBox="1"/>
          <p:nvPr>
            <p:ph type="title"/>
          </p:nvPr>
        </p:nvSpPr>
        <p:spPr>
          <a:xfrm>
            <a:off x="1264000" y="819600"/>
            <a:ext cx="7068300" cy="3504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5000"/>
              <a:t>Begin Working on the Project</a:t>
            </a:r>
            <a:endParaRPr sz="5000"/>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