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913fb11ab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913fb11ab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913fb11ab7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913fb11ab7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93e4bf96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93e4bf96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93e4bf966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93e4bf966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93e4bf966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93e4bf966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3e4bf966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93e4bf966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93e4bf966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93e4bf966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913fb11ab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913fb11ab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93e56ad73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93e56ad73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93e56ad73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93e56ad73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Meeting 10/26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140" name="Google Shape;140;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sz="2400"/>
              <a:t>Attendance</a:t>
            </a:r>
            <a:endParaRPr sz="2400"/>
          </a:p>
          <a:p>
            <a:pPr indent="-381000" lvl="0" marL="457200" rtl="0" algn="l">
              <a:spcBef>
                <a:spcPts val="0"/>
              </a:spcBef>
              <a:spcAft>
                <a:spcPts val="0"/>
              </a:spcAft>
              <a:buSzPts val="2400"/>
              <a:buChar char="●"/>
            </a:pPr>
            <a:r>
              <a:rPr lang="en" sz="2400"/>
              <a:t>Brain Teasers</a:t>
            </a:r>
            <a:endParaRPr sz="2400"/>
          </a:p>
          <a:p>
            <a:pPr indent="-381000" lvl="0" marL="457200" rtl="0" algn="l">
              <a:spcBef>
                <a:spcPts val="0"/>
              </a:spcBef>
              <a:spcAft>
                <a:spcPts val="0"/>
              </a:spcAft>
              <a:buSzPts val="2400"/>
              <a:buChar char="●"/>
            </a:pPr>
            <a:r>
              <a:rPr lang="en" sz="2400"/>
              <a:t>Split into Project Groups</a:t>
            </a:r>
            <a:endParaRPr sz="2400"/>
          </a:p>
          <a:p>
            <a:pPr indent="-381000" lvl="0" marL="457200" rtl="0" algn="l">
              <a:spcBef>
                <a:spcPts val="0"/>
              </a:spcBef>
              <a:spcAft>
                <a:spcPts val="0"/>
              </a:spcAft>
              <a:buSzPts val="2400"/>
              <a:buChar char="●"/>
            </a:pPr>
            <a:r>
              <a:rPr lang="en" sz="2400"/>
              <a:t>Begin project</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Attendance Form</a:t>
            </a:r>
            <a:endParaRPr/>
          </a:p>
        </p:txBody>
      </p:sp>
      <p:pic>
        <p:nvPicPr>
          <p:cNvPr id="146" name="Google Shape;146;p15"/>
          <p:cNvPicPr preferRelativeResize="0"/>
          <p:nvPr/>
        </p:nvPicPr>
        <p:blipFill>
          <a:blip r:embed="rId3">
            <a:alphaModFix/>
          </a:blip>
          <a:stretch>
            <a:fillRect/>
          </a:stretch>
        </p:blipFill>
        <p:spPr>
          <a:xfrm>
            <a:off x="3011250" y="1307850"/>
            <a:ext cx="3121499" cy="3114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Teasers</a:t>
            </a:r>
            <a:endParaRPr/>
          </a:p>
        </p:txBody>
      </p:sp>
      <p:sp>
        <p:nvSpPr>
          <p:cNvPr id="152" name="Google Shape;152;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3000"/>
              <a:t>Given that you have </a:t>
            </a:r>
            <a:r>
              <a:rPr lang="en" sz="3000"/>
              <a:t>5 consecutive numbers (a &lt; b &lt; c &lt; d &lt; e) such that b + c + d is a perfect square and a + b + c + d + e is a perfect cube. What is the smallest possible value of c</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Teasers (Trick Question)</a:t>
            </a:r>
            <a:endParaRPr/>
          </a:p>
        </p:txBody>
      </p:sp>
      <p:sp>
        <p:nvSpPr>
          <p:cNvPr id="158" name="Google Shape;158;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Can you find the missing letter in the sequence ?</a:t>
            </a:r>
            <a:endParaRPr sz="2500"/>
          </a:p>
          <a:p>
            <a:pPr indent="0" lvl="0" marL="0" rtl="0" algn="l">
              <a:spcBef>
                <a:spcPts val="1200"/>
              </a:spcBef>
              <a:spcAft>
                <a:spcPts val="0"/>
              </a:spcAft>
              <a:buNone/>
            </a:pPr>
            <a:r>
              <a:rPr lang="en" sz="2500"/>
              <a:t>S - T - I - L - ? - T - F - Y - C</a:t>
            </a:r>
            <a:endParaRPr sz="2500"/>
          </a:p>
          <a:p>
            <a:pPr indent="0" lvl="0" marL="0" rtl="0" algn="l">
              <a:spcBef>
                <a:spcPts val="1200"/>
              </a:spcBef>
              <a:spcAft>
                <a:spcPts val="1200"/>
              </a:spcAft>
              <a:buNone/>
            </a:pPr>
            <a:r>
              <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a:t>
            </a:r>
            <a:endParaRPr/>
          </a:p>
        </p:txBody>
      </p:sp>
      <p:sp>
        <p:nvSpPr>
          <p:cNvPr id="164" name="Google Shape;164;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3000">
                <a:solidFill>
                  <a:srgbClr val="D1D5DB"/>
                </a:solidFill>
                <a:highlight>
                  <a:srgbClr val="27272A"/>
                </a:highlight>
                <a:latin typeface="Roboto"/>
                <a:ea typeface="Roboto"/>
                <a:cs typeface="Roboto"/>
                <a:sym typeface="Roboto"/>
              </a:rPr>
              <a:t>You have a 10 x 10 x 10 cube made out of individual unpainted 1 x 1 x 1 cubes. If you dip the entire outside in paint how many individual cubes did not touch paint. </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a:t>
            </a:r>
            <a:endParaRPr/>
          </a:p>
        </p:txBody>
      </p:sp>
      <p:sp>
        <p:nvSpPr>
          <p:cNvPr id="170" name="Google Shape;170;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D1D5DB"/>
                </a:solidFill>
                <a:highlight>
                  <a:srgbClr val="27272A"/>
                </a:highlight>
                <a:latin typeface="Roboto"/>
                <a:ea typeface="Roboto"/>
                <a:cs typeface="Roboto"/>
                <a:sym typeface="Roboto"/>
              </a:rPr>
              <a:t>An electronic safe has a three digit code. You are given two hints regarding the code to the safe:</a:t>
            </a:r>
            <a:endParaRPr sz="2000">
              <a:solidFill>
                <a:srgbClr val="D1D5DB"/>
              </a:solidFill>
              <a:highlight>
                <a:srgbClr val="27272A"/>
              </a:highlight>
              <a:latin typeface="Roboto"/>
              <a:ea typeface="Roboto"/>
              <a:cs typeface="Roboto"/>
              <a:sym typeface="Roboto"/>
            </a:endParaRPr>
          </a:p>
          <a:p>
            <a:pPr indent="-355600" lvl="0" marL="457200" rtl="0" algn="l">
              <a:spcBef>
                <a:spcPts val="1200"/>
              </a:spcBef>
              <a:spcAft>
                <a:spcPts val="0"/>
              </a:spcAft>
              <a:buClr>
                <a:srgbClr val="D1D5DB"/>
              </a:buClr>
              <a:buSzPts val="2000"/>
              <a:buFont typeface="Roboto"/>
              <a:buAutoNum type="arabicPeriod"/>
            </a:pPr>
            <a:r>
              <a:rPr lang="en" sz="2000">
                <a:solidFill>
                  <a:srgbClr val="D1D5DB"/>
                </a:solidFill>
                <a:highlight>
                  <a:srgbClr val="27272A"/>
                </a:highlight>
                <a:latin typeface="Roboto"/>
                <a:ea typeface="Roboto"/>
                <a:cs typeface="Roboto"/>
                <a:sym typeface="Roboto"/>
              </a:rPr>
              <a:t>None of the digits are zero</a:t>
            </a:r>
            <a:endParaRPr sz="2000">
              <a:solidFill>
                <a:srgbClr val="D1D5DB"/>
              </a:solidFill>
              <a:highlight>
                <a:srgbClr val="27272A"/>
              </a:highlight>
              <a:latin typeface="Roboto"/>
              <a:ea typeface="Roboto"/>
              <a:cs typeface="Roboto"/>
              <a:sym typeface="Roboto"/>
            </a:endParaRPr>
          </a:p>
          <a:p>
            <a:pPr indent="-355600" lvl="0" marL="457200" rtl="0" algn="l">
              <a:spcBef>
                <a:spcPts val="0"/>
              </a:spcBef>
              <a:spcAft>
                <a:spcPts val="0"/>
              </a:spcAft>
              <a:buClr>
                <a:srgbClr val="D1D5DB"/>
              </a:buClr>
              <a:buSzPts val="2000"/>
              <a:buFont typeface="Roboto"/>
              <a:buAutoNum type="arabicPeriod"/>
            </a:pPr>
            <a:r>
              <a:rPr lang="en" sz="2000">
                <a:solidFill>
                  <a:srgbClr val="D1D5DB"/>
                </a:solidFill>
                <a:highlight>
                  <a:srgbClr val="27272A"/>
                </a:highlight>
                <a:latin typeface="Roboto"/>
                <a:ea typeface="Roboto"/>
                <a:cs typeface="Roboto"/>
                <a:sym typeface="Roboto"/>
              </a:rPr>
              <a:t>The sum of the digits does not exceed ten</a:t>
            </a:r>
            <a:endParaRPr sz="2000">
              <a:solidFill>
                <a:srgbClr val="D1D5DB"/>
              </a:solidFill>
              <a:highlight>
                <a:srgbClr val="27272A"/>
              </a:highlight>
              <a:latin typeface="Roboto"/>
              <a:ea typeface="Roboto"/>
              <a:cs typeface="Roboto"/>
              <a:sym typeface="Roboto"/>
            </a:endParaRPr>
          </a:p>
          <a:p>
            <a:pPr indent="0" lvl="0" marL="0" rtl="0" algn="l">
              <a:spcBef>
                <a:spcPts val="1200"/>
              </a:spcBef>
              <a:spcAft>
                <a:spcPts val="0"/>
              </a:spcAft>
              <a:buNone/>
            </a:pPr>
            <a:r>
              <a:rPr lang="en" sz="2000">
                <a:solidFill>
                  <a:srgbClr val="D1D5DB"/>
                </a:solidFill>
                <a:highlight>
                  <a:srgbClr val="27272A"/>
                </a:highlight>
                <a:latin typeface="Roboto"/>
                <a:ea typeface="Roboto"/>
                <a:cs typeface="Roboto"/>
                <a:sym typeface="Roboto"/>
              </a:rPr>
              <a:t>How many possible three digit entries satisfy these two requirements?</a:t>
            </a:r>
            <a:endParaRPr sz="2000">
              <a:solidFill>
                <a:srgbClr val="D1D5DB"/>
              </a:solidFill>
              <a:highlight>
                <a:srgbClr val="27272A"/>
              </a:highlight>
              <a:latin typeface="Roboto"/>
              <a:ea typeface="Roboto"/>
              <a:cs typeface="Roboto"/>
              <a:sym typeface="Roboto"/>
            </a:endParaRPr>
          </a:p>
          <a:p>
            <a:pPr indent="0" lvl="0" marL="0" rtl="0" algn="l">
              <a:spcBef>
                <a:spcPts val="1200"/>
              </a:spcBef>
              <a:spcAft>
                <a:spcPts val="1200"/>
              </a:spcAft>
              <a:buNone/>
            </a:pPr>
            <a:r>
              <a:t/>
            </a:r>
            <a:endParaRPr sz="2000">
              <a:solidFill>
                <a:srgbClr val="D1D5DB"/>
              </a:solidFill>
              <a:highlight>
                <a:srgbClr val="27272A"/>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a:t>
            </a:r>
            <a:endParaRPr/>
          </a:p>
        </p:txBody>
      </p:sp>
      <p:sp>
        <p:nvSpPr>
          <p:cNvPr id="176" name="Google Shape;176;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1264000" y="819600"/>
            <a:ext cx="7068300" cy="350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5000"/>
              <a:t>Begin Working on the Project</a:t>
            </a:r>
            <a:endParaRPr sz="5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Basic Overview - Pairs Trading</a:t>
            </a:r>
            <a:endParaRPr/>
          </a:p>
        </p:txBody>
      </p:sp>
      <p:sp>
        <p:nvSpPr>
          <p:cNvPr id="187" name="Google Shape;187;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Fundamental Idea of Pairs Trading is finding two assets that are correlated in some way, and using that correlation to make trades.</a:t>
            </a:r>
            <a:endParaRPr sz="1800"/>
          </a:p>
          <a:p>
            <a:pPr indent="0" lvl="0" marL="0" rtl="0" algn="l">
              <a:spcBef>
                <a:spcPts val="1200"/>
              </a:spcBef>
              <a:spcAft>
                <a:spcPts val="1200"/>
              </a:spcAft>
              <a:buNone/>
            </a:pPr>
            <a:r>
              <a:rPr lang="en" sz="1800"/>
              <a:t>For example, take the stocks of AAPL and MSFT. Consider when AAPL increases in price significantly and MSFT does not. Because we expect these assets to be similar, we expect MSFT to follow, and as a </a:t>
            </a:r>
            <a:r>
              <a:rPr lang="en" sz="1800"/>
              <a:t>result, we take opposite positions in each asset. We short AAPL and long MSFT, expecting their prices to converge.</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Basic Overview - Pairs Trading</a:t>
            </a:r>
            <a:endParaRPr/>
          </a:p>
        </p:txBody>
      </p:sp>
      <p:sp>
        <p:nvSpPr>
          <p:cNvPr id="193" name="Google Shape;193;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https://www.stat.berkeley.edu/~aldous/Research/Ugrad/Amy_Zhang.pdf</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