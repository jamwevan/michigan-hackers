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Montserrat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237169-8275-45F0-BF06-DE6C057E3E1B}">
  <a:tblStyle styleId="{25237169-8275-45F0-BF06-DE6C057E3E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4.xml"/><Relationship Id="rId41" Type="http://schemas.openxmlformats.org/officeDocument/2006/relationships/font" Target="fonts/Lat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Montserrat-bold.fntdata"/><Relationship Id="rId12" Type="http://schemas.openxmlformats.org/officeDocument/2006/relationships/slide" Target="slides/slide6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39" Type="http://schemas.openxmlformats.org/officeDocument/2006/relationships/font" Target="fonts/Lato-bold.fntdata"/><Relationship Id="rId16" Type="http://schemas.openxmlformats.org/officeDocument/2006/relationships/slide" Target="slides/slide10.xml"/><Relationship Id="rId38" Type="http://schemas.openxmlformats.org/officeDocument/2006/relationships/font" Target="fonts/La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681c12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681c12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6ba69423e9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6ba69423e9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ba69423e9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6ba69423e9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6681c12f4c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6681c12f4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505d509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c505d509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848eae8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848eae8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505d5091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c505d5091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6c3f830c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6c3f830c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6c3f830cb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6c3f830cb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6c3f830cb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6c3f830cb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c3f830cb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6c3f830cb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6c3f830cb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6c3f830cb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c3f830cb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6c3f830cb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6c3f830cb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6c3f830cb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6c3f830cbd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6c3f830cbd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6c3f830cbd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6c3f830cbd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c3f830cb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6c3f830cb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6c3f830cbd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6c3f830cbd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6c3f830cbd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6c3f830cbd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c505d509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c505d509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6ba69423e9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6ba69423e9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6ba69423e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6ba69423e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6ba69423e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6ba69423e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6ba69423e9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6ba69423e9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6681c12f4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6681c12f4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areers.imc.com/us/en/launchpa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ocs.google.com/document/d/1oA2q-qjPCw1bY79zWf1LtpeN_da65L0ntnxzCQSsJRc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3/21/24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Icebreaker Question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Brainteasers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Zetamac?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VWAP &amp; TWAP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Project</a:t>
            </a:r>
            <a:endParaRPr sz="24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Favorite place to eat in Ann Arbor</a:t>
            </a:r>
            <a:endParaRPr sz="20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IMC Sponsorship!</a:t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250" y="1131350"/>
            <a:ext cx="4980152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475" y="1443450"/>
            <a:ext cx="2090700" cy="20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244950" y="4275490"/>
            <a:ext cx="19047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Referal Code: 3MRLW8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IMC Sponsorship!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297500" y="1485325"/>
            <a:ext cx="72570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Sophomores, apply to IMC Launchpad: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uFill>
                  <a:noFill/>
                </a:uFill>
                <a:hlinkClick r:id="rId3"/>
              </a:rPr>
              <a:t>https://careers.imc.com/us/en/launchpad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Great opportunity to learn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If you get in, IMC gives you a final round internship interview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IMC Event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Time/Date TBD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Card Game</a:t>
            </a:r>
            <a:endParaRPr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485325"/>
            <a:ext cx="72570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are playing a simple card game in which you and the dealer both draw a card.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win if your card is higher than theirs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lose if your card is lower than or equal to theirs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What is the probability that you win?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Card Game - Solution</a:t>
            </a:r>
            <a:endParaRPr/>
          </a:p>
        </p:txBody>
      </p:sp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1297500" y="1485325"/>
            <a:ext cx="84474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What is the probability that you win?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Each card has a 1/13 chance of being picked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1/13 * (0+4/51+8/51+ . . . +48/51) = 4/(13*51)*(0+1+ . . . + 13) = 4(13*51)*12*13/2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= 8/17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Simpler way: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</a:t>
            </a:r>
            <a:r>
              <a:rPr baseline="-25000" lang="en" sz="1700"/>
              <a:t>1</a:t>
            </a:r>
            <a:r>
              <a:rPr lang="en" sz="1700"/>
              <a:t> = your card is higher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</a:t>
            </a:r>
            <a:r>
              <a:rPr baseline="-25000" lang="en" sz="1700"/>
              <a:t>2</a:t>
            </a:r>
            <a:r>
              <a:rPr lang="en" sz="1700"/>
              <a:t> = your card is the same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</a:t>
            </a:r>
            <a:r>
              <a:rPr baseline="-25000" lang="en" sz="1700"/>
              <a:t>3</a:t>
            </a:r>
            <a:r>
              <a:rPr lang="en" sz="1700"/>
              <a:t> = your card is lower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8" name="Google Shape;178;p19"/>
          <p:cNvSpPr txBox="1"/>
          <p:nvPr/>
        </p:nvSpPr>
        <p:spPr>
          <a:xfrm>
            <a:off x="4370700" y="3058975"/>
            <a:ext cx="39657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= 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+ 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+ 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= 1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and then you can calculate it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= 3/51 = 1/17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2*P(E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+ 1/17 = 1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P(E</a:t>
            </a:r>
            <a:r>
              <a:rPr baseline="-25000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= 8/17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Schedule-Based Single Order Algorithms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Let’s say 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you are a trader and your firm wants to buy (or sell) a large volume of a single stock.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A large volume in this context is one that will change the price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>
            <p:ph type="title"/>
          </p:nvPr>
        </p:nvSpPr>
        <p:spPr>
          <a:xfrm>
            <a:off x="10689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Example, Market Order of 1000</a:t>
            </a:r>
            <a:endParaRPr/>
          </a:p>
        </p:txBody>
      </p:sp>
      <p:graphicFrame>
        <p:nvGraphicFramePr>
          <p:cNvPr id="196" name="Google Shape;196;p22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{25237169-8275-45F0-BF06-DE6C057E3E1B}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5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3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45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20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>
            <p:ph type="title"/>
          </p:nvPr>
        </p:nvSpPr>
        <p:spPr>
          <a:xfrm>
            <a:off x="10689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Example, Market Order of 1000</a:t>
            </a:r>
            <a:endParaRPr/>
          </a:p>
        </p:txBody>
      </p:sp>
      <p:graphicFrame>
        <p:nvGraphicFramePr>
          <p:cNvPr id="203" name="Google Shape;203;p23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{25237169-8275-45F0-BF06-DE6C057E3E1B}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350 (150 SOLD)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450 (SOLD)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200 (SOLD)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150 (SOLD)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50 (SOLD)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11451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</a:t>
            </a:r>
            <a:endParaRPr/>
          </a:p>
        </p:txBody>
      </p:sp>
      <p:pic>
        <p:nvPicPr>
          <p:cNvPr id="209" name="Google Shape;2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0" name="Google Shape;210;p24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{25237169-8275-45F0-BF06-DE6C057E3E1B}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As you can see, the best ask when the market order was placed was 10.01.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Some orders went through at this price, but not all of them. 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Some went through as high as 10.05.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type="title"/>
          </p:nvPr>
        </p:nvSpPr>
        <p:spPr>
          <a:xfrm>
            <a:off x="11451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</a:t>
            </a:r>
            <a:endParaRPr/>
          </a:p>
        </p:txBody>
      </p:sp>
      <p:graphicFrame>
        <p:nvGraphicFramePr>
          <p:cNvPr id="222" name="Google Shape;222;p26"/>
          <p:cNvGraphicFramePr/>
          <p:nvPr/>
        </p:nvGraphicFramePr>
        <p:xfrm>
          <a:off x="5763600" y="13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{25237169-8275-45F0-BF06-DE6C057E3E1B}</a:tableStyleId>
              </a:tblPr>
              <a:tblGrid>
                <a:gridCol w="863825"/>
                <a:gridCol w="1086375"/>
                <a:gridCol w="1001150"/>
              </a:tblGrid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120.00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200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….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100.10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100.09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100.08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100.07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60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100.06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40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200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11451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</a:t>
            </a:r>
            <a:endParaRPr/>
          </a:p>
        </p:txBody>
      </p:sp>
      <p:graphicFrame>
        <p:nvGraphicFramePr>
          <p:cNvPr id="228" name="Google Shape;228;p27"/>
          <p:cNvGraphicFramePr/>
          <p:nvPr/>
        </p:nvGraphicFramePr>
        <p:xfrm>
          <a:off x="5763600" y="13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{25237169-8275-45F0-BF06-DE6C057E3E1B}</a:tableStyleId>
              </a:tblPr>
              <a:tblGrid>
                <a:gridCol w="863825"/>
                <a:gridCol w="1086375"/>
                <a:gridCol w="1001150"/>
              </a:tblGrid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12</a:t>
                      </a:r>
                      <a:r>
                        <a:rPr lang="en" sz="800">
                          <a:solidFill>
                            <a:srgbClr val="FFFFFF"/>
                          </a:solidFill>
                        </a:rPr>
                        <a:t>0.01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120.00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200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….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100.10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100.09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100.08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100.07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60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100.06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40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50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200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</a:t>
                      </a:r>
                      <a:r>
                        <a:rPr lang="en" sz="800">
                          <a:solidFill>
                            <a:schemeClr val="lt1"/>
                          </a:solidFill>
                        </a:rPr>
                        <a:t>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 (SOLD)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27"/>
          <p:cNvSpPr txBox="1"/>
          <p:nvPr/>
        </p:nvSpPr>
        <p:spPr>
          <a:xfrm>
            <a:off x="1146475" y="1620700"/>
            <a:ext cx="2951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a larger example, if there is not much demand at all, transacting may lead to much higher prices.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Here some orders are placed at $120 because the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market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is “thin”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thin means relatively few buyers/sellers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 txBox="1"/>
          <p:nvPr>
            <p:ph type="title"/>
          </p:nvPr>
        </p:nvSpPr>
        <p:spPr>
          <a:xfrm>
            <a:off x="10689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Example, LimitOrder of 1000</a:t>
            </a:r>
            <a:endParaRPr/>
          </a:p>
        </p:txBody>
      </p:sp>
      <p:graphicFrame>
        <p:nvGraphicFramePr>
          <p:cNvPr id="236" name="Google Shape;236;p28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{25237169-8275-45F0-BF06-DE6C057E3E1B}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350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450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9"/>
          <p:cNvSpPr txBox="1"/>
          <p:nvPr>
            <p:ph type="title"/>
          </p:nvPr>
        </p:nvSpPr>
        <p:spPr>
          <a:xfrm>
            <a:off x="10689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Example, Limit Order of 1000</a:t>
            </a:r>
            <a:endParaRPr/>
          </a:p>
        </p:txBody>
      </p:sp>
      <p:graphicFrame>
        <p:nvGraphicFramePr>
          <p:cNvPr id="243" name="Google Shape;243;p29"/>
          <p:cNvGraphicFramePr/>
          <p:nvPr/>
        </p:nvGraphicFramePr>
        <p:xfrm>
          <a:off x="823325" y="14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{25237169-8275-45F0-BF06-DE6C057E3E1B}</a:tableStyleId>
              </a:tblPr>
              <a:tblGrid>
                <a:gridCol w="2413000"/>
                <a:gridCol w="2413000"/>
                <a:gridCol w="2413000"/>
              </a:tblGrid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Bid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Ask (Volume)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100.05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350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100.04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450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100.03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200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100.02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100.01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50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1,</a:t>
                      </a: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120 (1,120 Yours)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100.00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180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</a:rPr>
                        <a:t>99.99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People will be able to see that you placed this order, and others will try to “front run” your order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Others </a:t>
            </a:r>
            <a:r>
              <a:rPr lang="en" sz="1700"/>
              <a:t>know this order is likely to make prices go up so others will try to buy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They see your order exists and has not transacted yet, so they will try to beat </a:t>
            </a:r>
            <a:r>
              <a:rPr lang="en" sz="1700"/>
              <a:t>you</a:t>
            </a:r>
            <a:r>
              <a:rPr lang="en" sz="1700"/>
              <a:t> to it by buying one cent above you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This makes YOU lose out on profits!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 these things</a:t>
            </a:r>
            <a:endParaRPr/>
          </a:p>
        </p:txBody>
      </p:sp>
      <p:sp>
        <p:nvSpPr>
          <p:cNvPr id="255" name="Google Shape;255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Use a combination of both market and limit orders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Sell over time</a:t>
            </a:r>
            <a:endParaRPr sz="17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TWAP - Time-Weighted Average Price</a:t>
            </a:r>
            <a:endParaRPr sz="1700"/>
          </a:p>
          <a:p>
            <a:pPr indent="-336550" lvl="0" marL="914400" rtl="0" algn="l">
              <a:spcBef>
                <a:spcPts val="16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Buy/Sell a </a:t>
            </a:r>
            <a:r>
              <a:rPr lang="en" sz="1700"/>
              <a:t>handful of the stock in intervals</a:t>
            </a:r>
            <a:endParaRPr sz="1700"/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This way others won’t see your large limit orders, and market orders will (hopefully) get better prices</a:t>
            </a:r>
            <a:endParaRPr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TWAP &amp; VWAP</a:t>
            </a:r>
            <a:endParaRPr/>
          </a:p>
        </p:txBody>
      </p:sp>
      <p:sp>
        <p:nvSpPr>
          <p:cNvPr id="261" name="Google Shape;261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TWAP - Time-Weighted Average Price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VWAP - Volume-Weighted Average Price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Match the intervals to corresponding trading volume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2321"/>
            <a:ext cx="9143999" cy="3918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Discussion/Work Time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Environment</a:t>
            </a:r>
            <a:endParaRPr/>
          </a:p>
        </p:txBody>
      </p:sp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of right now, we’ll use Google Drive/Colab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.py files stored in the drive, need to be implemented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.ipynb file for driver, also needs to be implemented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Hoping to move to git/github and conda environments soon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Review the guide and setup your python and conda environments accordingly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you get stuck, I will be available to help out next week outside of our normal meeting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Colab</a:t>
            </a:r>
            <a:endParaRPr/>
          </a:p>
        </p:txBody>
      </p:sp>
      <p:sp>
        <p:nvSpPr>
          <p:cNvPr id="285" name="Google Shape;285;p3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Located in Quant Drive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Copy this and put it in your drive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Sample </a:t>
            </a:r>
            <a:r>
              <a:rPr lang="en" sz="1600"/>
              <a:t>finance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commands/functions,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What we’ve been working on</a:t>
            </a:r>
            <a:endParaRPr sz="1600"/>
          </a:p>
        </p:txBody>
      </p:sp>
      <p:pic>
        <p:nvPicPr>
          <p:cNvPr id="286" name="Google Shape;28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225" y="1394200"/>
            <a:ext cx="3877176" cy="325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algorithm.py</a:t>
            </a:r>
            <a:endParaRPr/>
          </a:p>
        </p:txBody>
      </p:sp>
      <p:sp>
        <p:nvSpPr>
          <p:cNvPr id="292" name="Google Shape;292;p37"/>
          <p:cNvSpPr txBox="1"/>
          <p:nvPr>
            <p:ph idx="1" type="body"/>
          </p:nvPr>
        </p:nvSpPr>
        <p:spPr>
          <a:xfrm>
            <a:off x="877050" y="1567550"/>
            <a:ext cx="7619400" cy="3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Base class for algorithms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Other algorithms we develop will inherit from this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Necessary to standardize input/output so we can backtest many types of algos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Member </a:t>
            </a:r>
            <a:r>
              <a:rPr lang="en" sz="1600"/>
              <a:t>variables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portfolio: dictionary of (Ticker, # of shares)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</a:t>
            </a:r>
            <a:r>
              <a:rPr lang="en" sz="1600"/>
              <a:t>ash: amount of cash on hand (can be negative)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Member functions: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buy(Ticker): increases ticker value, decreases cash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sell(Ticker): decreases ticker value, increases cash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backtest</a:t>
            </a:r>
            <a:r>
              <a:rPr lang="en"/>
              <a:t>.py</a:t>
            </a:r>
            <a:endParaRPr/>
          </a:p>
        </p:txBody>
      </p:sp>
      <p:sp>
        <p:nvSpPr>
          <p:cNvPr id="298" name="Google Shape;298;p38"/>
          <p:cNvSpPr txBox="1"/>
          <p:nvPr>
            <p:ph idx="1" type="body"/>
          </p:nvPr>
        </p:nvSpPr>
        <p:spPr>
          <a:xfrm>
            <a:off x="877050" y="1567550"/>
            <a:ext cx="8039700" cy="3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Backtest class contains functions for running algorithms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</a:t>
            </a:r>
            <a:r>
              <a:rPr lang="en" sz="1600"/>
              <a:t>un(algorithm, startDate, endDate): runs the algorithm on a particular date range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Logs relevant information, like when trades are made, portfolio value at each time step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graphReturns(): creates a plot of returns vs. time (using matplotlib)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</a:t>
            </a:r>
            <a:r>
              <a:rPr lang="en" sz="1600"/>
              <a:t>alculateVol(): calculates the volatility of the algorithm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calculateSharpe(): calculates the Sharpe ratio of the algorithm (risk v. return)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Form</a:t>
            </a:r>
            <a:endParaRPr/>
          </a:p>
        </p:txBody>
      </p:sp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5632513" y="884875"/>
            <a:ext cx="30540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Link to Onboarding Document, Slack and Team Folder</a:t>
            </a:r>
            <a:endParaRPr/>
          </a:p>
        </p:txBody>
      </p:sp>
      <p:sp>
        <p:nvSpPr>
          <p:cNvPr id="305" name="Google Shape;305;p39"/>
          <p:cNvSpPr txBox="1"/>
          <p:nvPr/>
        </p:nvSpPr>
        <p:spPr>
          <a:xfrm>
            <a:off x="1153900" y="978425"/>
            <a:ext cx="305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one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39"/>
          <p:cNvSpPr/>
          <p:nvPr/>
        </p:nvSpPr>
        <p:spPr>
          <a:xfrm>
            <a:off x="2439075" y="876175"/>
            <a:ext cx="352500" cy="492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39"/>
          <p:cNvSpPr txBox="1"/>
          <p:nvPr/>
        </p:nvSpPr>
        <p:spPr>
          <a:xfrm>
            <a:off x="731050" y="4496125"/>
            <a:ext cx="328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9"/>
          <p:cNvSpPr txBox="1"/>
          <p:nvPr/>
        </p:nvSpPr>
        <p:spPr>
          <a:xfrm>
            <a:off x="5230150" y="37953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https://docs.google.com/document/d/1oA2q-qjPCw1bY79zWf1LtpeN_da65L0ntnxzCQSsJRc/edit?usp=sharing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9"/>
          <p:cNvSpPr txBox="1"/>
          <p:nvPr/>
        </p:nvSpPr>
        <p:spPr>
          <a:xfrm>
            <a:off x="431775" y="2294700"/>
            <a:ext cx="436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https://tinyurl.com/2fk3aemj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