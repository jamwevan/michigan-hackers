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Lst>
  <p:sldSz cy="5143500" cx="9144000"/>
  <p:notesSz cx="6858000" cy="9144000"/>
  <p:embeddedFontLst>
    <p:embeddedFont>
      <p:font typeface="Montserrat"/>
      <p:regular r:id="rId55"/>
      <p:bold r:id="rId56"/>
      <p:italic r:id="rId57"/>
      <p:boldItalic r:id="rId58"/>
    </p:embeddedFont>
    <p:embeddedFont>
      <p:font typeface="Lato"/>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Lato-boldItalic.fntdata"/><Relationship Id="rId61" Type="http://schemas.openxmlformats.org/officeDocument/2006/relationships/font" Target="fonts/Lato-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Lato-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Montserrat-regular.fntdata"/><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Montserrat-italic.fntdata"/><Relationship Id="rId12" Type="http://schemas.openxmlformats.org/officeDocument/2006/relationships/slide" Target="slides/slide7.xml"/><Relationship Id="rId56" Type="http://schemas.openxmlformats.org/officeDocument/2006/relationships/font" Target="fonts/Montserrat-bold.fntdata"/><Relationship Id="rId15" Type="http://schemas.openxmlformats.org/officeDocument/2006/relationships/slide" Target="slides/slide10.xml"/><Relationship Id="rId59" Type="http://schemas.openxmlformats.org/officeDocument/2006/relationships/font" Target="fonts/Lato-regular.fntdata"/><Relationship Id="rId14" Type="http://schemas.openxmlformats.org/officeDocument/2006/relationships/slide" Target="slides/slide9.xml"/><Relationship Id="rId58" Type="http://schemas.openxmlformats.org/officeDocument/2006/relationships/font" Target="fonts/Montserrat-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Complete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6681c12f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6681c12f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6681c12f4c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6681c12f4c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6681c12f4c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6681c12f4c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b81eb3dc9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b81eb3dc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b81eb3dc9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b81eb3dc9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b961e4eb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b961e4eb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b961e4ebc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b961e4ebc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513a471880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513a471880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b5a9561c1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2b5a9561c1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b81eb3dc9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b81eb3dc9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b81eb3dc90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b81eb3dc90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b81eb3dc90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b81eb3dc90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b9b9f6ebcc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b9b9f6ebcc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b9b9f6ebcc_1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b9b9f6ebcc_1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b9b9f6ebcc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b9b9f6ebcc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b9b9f6ebcc_1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b9b9f6ebcc_1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b9b9f6ebcc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b9b9f6ebcc_1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b81eb3dc90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2b81eb3dc90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b81eb3dc90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2b81eb3dc90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b81eb3dc90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2b81eb3dc90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b81eb3dc90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b81eb3dc90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b961e4ebc2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2b961e4ebc2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b81eb3dc90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b81eb3dc90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b71d1aab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b71d1aab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b81eb3dc9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b81eb3dc9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b81eb3dc9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2b81eb3dc9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b81eb3dc90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2b81eb3dc90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b81eb3dc90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b81eb3dc90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b81eb3dc9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2b81eb3dc9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b961e4ebc2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2b961e4ebc2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2b81eb3dc90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2b81eb3dc9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b9b9f6ebcc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b9b9f6ebcc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b81eb3dc9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2b81eb3dc9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b81eb3dc90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b81eb3dc90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b81eb3dc90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2b81eb3dc90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b81eb3dc90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2b81eb3dc9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2b961e4ebc2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2b961e4ebc2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2b9ae6b152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2b9ae6b152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2b961e4ebc2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2b961e4ebc2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2b961e4ebc2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2b961e4ebc2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2b961e4ebc2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2b961e4ebc2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26848eae86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26848eae86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Idea:</a:t>
            </a:r>
            <a:endParaRPr/>
          </a:p>
          <a:p>
            <a:pPr indent="0" lvl="0" marL="0" rtl="0" algn="l">
              <a:spcBef>
                <a:spcPts val="0"/>
              </a:spcBef>
              <a:spcAft>
                <a:spcPts val="0"/>
              </a:spcAft>
              <a:buNone/>
            </a:pPr>
            <a:r>
              <a:rPr lang="en"/>
              <a:t>We’ll write the platform to make and conduct trading strategies.</a:t>
            </a:r>
            <a:endParaRPr/>
          </a:p>
          <a:p>
            <a:pPr indent="0" lvl="0" marL="0" rtl="0" algn="l">
              <a:spcBef>
                <a:spcPts val="0"/>
              </a:spcBef>
              <a:spcAft>
                <a:spcPts val="0"/>
              </a:spcAft>
              <a:buNone/>
            </a:pPr>
            <a:r>
              <a:rPr lang="en"/>
              <a:t>You guys will write and implement the strategies, test them on prior data</a:t>
            </a:r>
            <a:endParaRPr/>
          </a:p>
          <a:p>
            <a:pPr indent="0" lvl="0" marL="0" rtl="0" algn="l">
              <a:spcBef>
                <a:spcPts val="0"/>
              </a:spcBef>
              <a:spcAft>
                <a:spcPts val="0"/>
              </a:spcAft>
              <a:buNone/>
            </a:pPr>
            <a:r>
              <a:rPr lang="en"/>
              <a:t>Alternate for more software-oriented people you guys could also make the platform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do this in python/C++, if python use numPy and Yahoo Finance data</a:t>
            </a:r>
            <a:endParaRPr/>
          </a:p>
          <a:p>
            <a:pPr indent="0" lvl="0" marL="0" rtl="0" algn="l">
              <a:spcBef>
                <a:spcPts val="0"/>
              </a:spcBef>
              <a:spcAft>
                <a:spcPts val="0"/>
              </a:spcAft>
              <a:buNone/>
            </a:pPr>
            <a:r>
              <a:rPr lang="en"/>
              <a:t>Use matplotlib plot graphs, show that in pdf/md/html file through github</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2b9ae6b15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2b9ae6b15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2b9ae6b1521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2b9ae6b1521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2b9ae6b1521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2b9ae6b1521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2b9ae6b152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2b9ae6b152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2b9ae6b1521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2b9ae6b152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26681c12f4c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26681c12f4c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png"/><Relationship Id="rId4" Type="http://schemas.openxmlformats.org/officeDocument/2006/relationships/image" Target="../media/image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hyperlink" Target="https://forms.gle/Up9noY4arbndAj5p7" TargetMode="External"/><Relationship Id="rId4" Type="http://schemas.openxmlformats.org/officeDocument/2006/relationships/image" Target="../media/image8.png"/><Relationship Id="rId5" Type="http://schemas.openxmlformats.org/officeDocument/2006/relationships/hyperlink" Target="https://docs.google.com/document/d/1oA2q-qjPCw1bY79zWf1LtpeN_da65L0ntnxzCQSsJRc/edit?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99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Quant Week 4</a:t>
            </a:r>
            <a:endParaRPr/>
          </a:p>
          <a:p>
            <a:pPr indent="0" lvl="0" marL="0" rtl="0" algn="l">
              <a:spcBef>
                <a:spcPts val="0"/>
              </a:spcBef>
              <a:spcAft>
                <a:spcPts val="0"/>
              </a:spcAft>
              <a:buNone/>
            </a:pPr>
            <a:r>
              <a:rPr lang="en"/>
              <a:t>2/15/24</a:t>
            </a:r>
            <a:endParaRPr/>
          </a:p>
        </p:txBody>
      </p:sp>
      <p:pic>
        <p:nvPicPr>
          <p:cNvPr id="135" name="Google Shape;135;p13"/>
          <p:cNvPicPr preferRelativeResize="0"/>
          <p:nvPr/>
        </p:nvPicPr>
        <p:blipFill>
          <a:blip r:embed="rId3">
            <a:alphaModFix/>
          </a:blip>
          <a:stretch>
            <a:fillRect/>
          </a:stretch>
        </p:blipFill>
        <p:spPr>
          <a:xfrm>
            <a:off x="322775" y="2571750"/>
            <a:ext cx="2208275" cy="2208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6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141" name="Google Shape;141;p14"/>
          <p:cNvSpPr txBox="1"/>
          <p:nvPr>
            <p:ph idx="1" type="body"/>
          </p:nvPr>
        </p:nvSpPr>
        <p:spPr>
          <a:xfrm>
            <a:off x="1297500" y="1339150"/>
            <a:ext cx="7038900" cy="29112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AutoNum type="arabicPeriod"/>
            </a:pPr>
            <a:r>
              <a:rPr lang="en" sz="2400"/>
              <a:t>Icebreaker Question</a:t>
            </a:r>
            <a:endParaRPr sz="2400"/>
          </a:p>
          <a:p>
            <a:pPr indent="-381000" lvl="0" marL="457200" rtl="0" algn="l">
              <a:spcBef>
                <a:spcPts val="0"/>
              </a:spcBef>
              <a:spcAft>
                <a:spcPts val="0"/>
              </a:spcAft>
              <a:buSzPts val="2400"/>
              <a:buAutoNum type="arabicPeriod"/>
            </a:pPr>
            <a:r>
              <a:rPr lang="en" sz="2400"/>
              <a:t>Brainteasers</a:t>
            </a:r>
            <a:endParaRPr sz="2400"/>
          </a:p>
          <a:p>
            <a:pPr indent="-381000" lvl="0" marL="457200" rtl="0" algn="l">
              <a:spcBef>
                <a:spcPts val="0"/>
              </a:spcBef>
              <a:spcAft>
                <a:spcPts val="0"/>
              </a:spcAft>
              <a:buSzPts val="2400"/>
              <a:buAutoNum type="arabicPeriod"/>
            </a:pPr>
            <a:r>
              <a:rPr lang="en" sz="2400"/>
              <a:t>Shorting</a:t>
            </a:r>
            <a:endParaRPr sz="2400"/>
          </a:p>
          <a:p>
            <a:pPr indent="-381000" lvl="0" marL="457200" rtl="0" algn="l">
              <a:spcBef>
                <a:spcPts val="0"/>
              </a:spcBef>
              <a:spcAft>
                <a:spcPts val="0"/>
              </a:spcAft>
              <a:buSzPts val="2400"/>
              <a:buAutoNum type="arabicPeriod"/>
            </a:pPr>
            <a:r>
              <a:rPr lang="en" sz="2400"/>
              <a:t>Margin</a:t>
            </a:r>
            <a:endParaRPr sz="2400"/>
          </a:p>
          <a:p>
            <a:pPr indent="-381000" lvl="0" marL="457200" rtl="0" algn="l">
              <a:spcBef>
                <a:spcPts val="0"/>
              </a:spcBef>
              <a:spcAft>
                <a:spcPts val="0"/>
              </a:spcAft>
              <a:buSzPts val="2400"/>
              <a:buAutoNum type="arabicPeriod"/>
            </a:pPr>
            <a:r>
              <a:rPr lang="en" sz="2400"/>
              <a:t>Options</a:t>
            </a:r>
            <a:endParaRPr sz="2400"/>
          </a:p>
          <a:p>
            <a:pPr indent="-381000" lvl="0" marL="457200" rtl="0" algn="l">
              <a:spcBef>
                <a:spcPts val="0"/>
              </a:spcBef>
              <a:spcAft>
                <a:spcPts val="0"/>
              </a:spcAft>
              <a:buSzPts val="2400"/>
              <a:buAutoNum type="arabicPeriod"/>
            </a:pPr>
            <a:r>
              <a:rPr lang="en" sz="2400"/>
              <a:t>Project</a:t>
            </a:r>
            <a:endParaRPr sz="2400"/>
          </a:p>
        </p:txBody>
      </p:sp>
      <p:pic>
        <p:nvPicPr>
          <p:cNvPr id="142" name="Google Shape;142;p14"/>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1297500" y="393750"/>
            <a:ext cx="7038900" cy="6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Ice Breaker</a:t>
            </a:r>
            <a:endParaRPr/>
          </a:p>
        </p:txBody>
      </p:sp>
      <p:sp>
        <p:nvSpPr>
          <p:cNvPr id="148" name="Google Shape;148;p15"/>
          <p:cNvSpPr txBox="1"/>
          <p:nvPr>
            <p:ph idx="1" type="body"/>
          </p:nvPr>
        </p:nvSpPr>
        <p:spPr>
          <a:xfrm>
            <a:off x="1297500" y="13391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Favorite holiday</a:t>
            </a:r>
            <a:endParaRPr sz="1600"/>
          </a:p>
        </p:txBody>
      </p:sp>
      <p:pic>
        <p:nvPicPr>
          <p:cNvPr id="149" name="Google Shape;149;p15"/>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16"/>
          <p:cNvPicPr preferRelativeResize="0"/>
          <p:nvPr/>
        </p:nvPicPr>
        <p:blipFill>
          <a:blip r:embed="rId3">
            <a:alphaModFix/>
          </a:blip>
          <a:stretch>
            <a:fillRect/>
          </a:stretch>
        </p:blipFill>
        <p:spPr>
          <a:xfrm>
            <a:off x="7481275" y="0"/>
            <a:ext cx="1662724" cy="1662725"/>
          </a:xfrm>
          <a:prstGeom prst="rect">
            <a:avLst/>
          </a:prstGeom>
          <a:noFill/>
          <a:ln>
            <a:noFill/>
          </a:ln>
        </p:spPr>
      </p:pic>
      <p:sp>
        <p:nvSpPr>
          <p:cNvPr id="155" name="Google Shape;155;p16"/>
          <p:cNvSpPr txBox="1"/>
          <p:nvPr>
            <p:ph type="title"/>
          </p:nvPr>
        </p:nvSpPr>
        <p:spPr>
          <a:xfrm>
            <a:off x="1297500" y="393750"/>
            <a:ext cx="7038900" cy="6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Brain Teaser - Roulette</a:t>
            </a:r>
            <a:endParaRPr/>
          </a:p>
        </p:txBody>
      </p:sp>
      <p:sp>
        <p:nvSpPr>
          <p:cNvPr id="156" name="Google Shape;156;p16"/>
          <p:cNvSpPr txBox="1"/>
          <p:nvPr>
            <p:ph idx="1" type="body"/>
          </p:nvPr>
        </p:nvSpPr>
        <p:spPr>
          <a:xfrm>
            <a:off x="1297500" y="1485325"/>
            <a:ext cx="7257000" cy="268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You and a </a:t>
            </a:r>
            <a:r>
              <a:rPr lang="en" sz="1700"/>
              <a:t>friend</a:t>
            </a:r>
            <a:r>
              <a:rPr lang="en" sz="1700"/>
              <a:t> are playing russian roulette with a toy revolver.</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A (toy) bullet is put into a (toy) revolver with 6 chambers, the bullet is equally likely to be in any hole. The barrel is randomly spun ONCE. </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If you get the bullet you lose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Would you rather go first or second?</a:t>
            </a:r>
            <a:endParaRPr sz="1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17"/>
          <p:cNvPicPr preferRelativeResize="0"/>
          <p:nvPr/>
        </p:nvPicPr>
        <p:blipFill>
          <a:blip r:embed="rId3">
            <a:alphaModFix/>
          </a:blip>
          <a:stretch>
            <a:fillRect/>
          </a:stretch>
        </p:blipFill>
        <p:spPr>
          <a:xfrm>
            <a:off x="7481275" y="0"/>
            <a:ext cx="1662724" cy="1662725"/>
          </a:xfrm>
          <a:prstGeom prst="rect">
            <a:avLst/>
          </a:prstGeom>
          <a:noFill/>
          <a:ln>
            <a:noFill/>
          </a:ln>
        </p:spPr>
      </p:pic>
      <p:sp>
        <p:nvSpPr>
          <p:cNvPr id="162" name="Google Shape;162;p17"/>
          <p:cNvSpPr txBox="1"/>
          <p:nvPr>
            <p:ph type="title"/>
          </p:nvPr>
        </p:nvSpPr>
        <p:spPr>
          <a:xfrm>
            <a:off x="1297500" y="393750"/>
            <a:ext cx="7038900" cy="6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Brain Teaser - Roulette Part 2</a:t>
            </a:r>
            <a:endParaRPr/>
          </a:p>
        </p:txBody>
      </p:sp>
      <p:sp>
        <p:nvSpPr>
          <p:cNvPr id="163" name="Google Shape;163;p17"/>
          <p:cNvSpPr txBox="1"/>
          <p:nvPr>
            <p:ph idx="1" type="body"/>
          </p:nvPr>
        </p:nvSpPr>
        <p:spPr>
          <a:xfrm>
            <a:off x="1297500" y="1485325"/>
            <a:ext cx="7257000" cy="268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Would you rather go first or second?</a:t>
            </a:r>
            <a:endParaRPr sz="1700"/>
          </a:p>
          <a:p>
            <a:pPr indent="0" lvl="0" marL="0" rtl="0" algn="l">
              <a:spcBef>
                <a:spcPts val="0"/>
              </a:spcBef>
              <a:spcAft>
                <a:spcPts val="0"/>
              </a:spcAft>
              <a:buNone/>
            </a:pPr>
            <a:r>
              <a:rPr lang="en" sz="1700"/>
              <a:t>First Player: 1st, 3rd, or 5th spin.</a:t>
            </a:r>
            <a:endParaRPr sz="1700"/>
          </a:p>
          <a:p>
            <a:pPr indent="0" lvl="0" marL="0" rtl="0" algn="l">
              <a:spcBef>
                <a:spcPts val="0"/>
              </a:spcBef>
              <a:spcAft>
                <a:spcPts val="0"/>
              </a:spcAft>
              <a:buNone/>
            </a:pPr>
            <a:r>
              <a:rPr lang="en" sz="1700"/>
              <a:t>First Player: </a:t>
            </a:r>
            <a:r>
              <a:rPr lang="en" sz="1700"/>
              <a:t>1/6</a:t>
            </a:r>
            <a:r>
              <a:rPr lang="en" sz="1700"/>
              <a:t> + </a:t>
            </a:r>
            <a:r>
              <a:rPr lang="en" sz="1700"/>
              <a:t>5/6</a:t>
            </a:r>
            <a:r>
              <a:rPr lang="en" sz="1700"/>
              <a:t>*</a:t>
            </a:r>
            <a:r>
              <a:rPr lang="en" sz="1700"/>
              <a:t>4/5</a:t>
            </a:r>
            <a:r>
              <a:rPr lang="en" sz="1700"/>
              <a:t>*</a:t>
            </a:r>
            <a:r>
              <a:rPr lang="en" sz="1700"/>
              <a:t>1/4 </a:t>
            </a:r>
            <a:r>
              <a:rPr lang="en" sz="1700"/>
              <a:t>+ </a:t>
            </a:r>
            <a:r>
              <a:rPr lang="en" sz="1700"/>
              <a:t>5/6</a:t>
            </a:r>
            <a:r>
              <a:rPr lang="en" sz="1700"/>
              <a:t>*</a:t>
            </a:r>
            <a:r>
              <a:rPr lang="en" sz="1700"/>
              <a:t>4/5</a:t>
            </a:r>
            <a:r>
              <a:rPr lang="en" sz="1700"/>
              <a:t>*</a:t>
            </a:r>
            <a:r>
              <a:rPr lang="en" sz="1700"/>
              <a:t>3/4</a:t>
            </a:r>
            <a:r>
              <a:rPr lang="en" sz="1700"/>
              <a:t>*</a:t>
            </a:r>
            <a:r>
              <a:rPr lang="en" sz="1700"/>
              <a:t>2/3</a:t>
            </a:r>
            <a:r>
              <a:rPr lang="en" sz="1700"/>
              <a:t>*</a:t>
            </a:r>
            <a:r>
              <a:rPr lang="en" sz="1700"/>
              <a:t>1/2</a:t>
            </a:r>
            <a:r>
              <a:rPr lang="en" sz="1700"/>
              <a:t>=0.5</a:t>
            </a:r>
            <a:endParaRPr sz="1700"/>
          </a:p>
          <a:p>
            <a:pPr indent="0" lvl="0" marL="0" rtl="0" algn="l">
              <a:spcBef>
                <a:spcPts val="0"/>
              </a:spcBef>
              <a:spcAft>
                <a:spcPts val="0"/>
              </a:spcAft>
              <a:buNone/>
            </a:pPr>
            <a:r>
              <a:rPr lang="en" sz="1700"/>
              <a:t>Second Player: 2nd, 4th, or 5th spin</a:t>
            </a:r>
            <a:endParaRPr sz="1700"/>
          </a:p>
          <a:p>
            <a:pPr indent="0" lvl="0" marL="0" rtl="0" algn="l">
              <a:spcBef>
                <a:spcPts val="0"/>
              </a:spcBef>
              <a:spcAft>
                <a:spcPts val="0"/>
              </a:spcAft>
              <a:buNone/>
            </a:pPr>
            <a:r>
              <a:rPr lang="en" sz="1700"/>
              <a:t>Second Player: </a:t>
            </a:r>
            <a:r>
              <a:rPr lang="en" sz="1700"/>
              <a:t>5/6</a:t>
            </a:r>
            <a:r>
              <a:rPr lang="en" sz="1700"/>
              <a:t>*</a:t>
            </a:r>
            <a:r>
              <a:rPr lang="en" sz="1700"/>
              <a:t>1/5</a:t>
            </a:r>
            <a:r>
              <a:rPr lang="en" sz="1700"/>
              <a:t> + </a:t>
            </a:r>
            <a:r>
              <a:rPr lang="en" sz="1700"/>
              <a:t>5/6</a:t>
            </a:r>
            <a:r>
              <a:rPr lang="en" sz="1700"/>
              <a:t>*</a:t>
            </a:r>
            <a:r>
              <a:rPr lang="en" sz="1700"/>
              <a:t>4/5</a:t>
            </a:r>
            <a:r>
              <a:rPr lang="en" sz="1700"/>
              <a:t>*</a:t>
            </a:r>
            <a:r>
              <a:rPr lang="en" sz="1700"/>
              <a:t>3/4</a:t>
            </a:r>
            <a:r>
              <a:rPr lang="en" sz="1700"/>
              <a:t>*</a:t>
            </a:r>
            <a:r>
              <a:rPr lang="en" sz="1700"/>
              <a:t>1/3</a:t>
            </a:r>
            <a:r>
              <a:rPr lang="en" sz="1700"/>
              <a:t> + </a:t>
            </a:r>
            <a:r>
              <a:rPr lang="en" sz="1700"/>
              <a:t>5/6</a:t>
            </a:r>
            <a:r>
              <a:rPr lang="en" sz="1700"/>
              <a:t>*</a:t>
            </a:r>
            <a:r>
              <a:rPr lang="en" sz="1700"/>
              <a:t>4/5</a:t>
            </a:r>
            <a:r>
              <a:rPr lang="en" sz="1700"/>
              <a:t>*</a:t>
            </a:r>
            <a:r>
              <a:rPr lang="en" sz="1700"/>
              <a:t>3/4</a:t>
            </a:r>
            <a:r>
              <a:rPr lang="en" sz="1700"/>
              <a:t>*</a:t>
            </a:r>
            <a:r>
              <a:rPr lang="en" sz="1700"/>
              <a:t>2/3</a:t>
            </a:r>
            <a:r>
              <a:rPr lang="en" sz="1700"/>
              <a:t>*1/2*1 =0.5</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Equal </a:t>
            </a:r>
            <a:r>
              <a:rPr lang="en" sz="1700"/>
              <a:t>probabilities</a:t>
            </a:r>
            <a:r>
              <a:rPr lang="en" sz="1700"/>
              <a:t>. Intuition: The bullet is either in slot 1,2, or 3, or 2, 4, or 6 so it’s fixed from the beginning</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t/>
            </a:r>
            <a:endParaRPr sz="1700"/>
          </a:p>
        </p:txBody>
      </p:sp>
      <p:sp>
        <p:nvSpPr>
          <p:cNvPr id="164" name="Google Shape;164;p17"/>
          <p:cNvSpPr txBox="1"/>
          <p:nvPr/>
        </p:nvSpPr>
        <p:spPr>
          <a:xfrm>
            <a:off x="1297500" y="4171825"/>
            <a:ext cx="5955600" cy="6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lt1"/>
                </a:solidFill>
                <a:latin typeface="Lato"/>
                <a:ea typeface="Lato"/>
                <a:cs typeface="Lato"/>
                <a:sym typeface="Lato"/>
              </a:rPr>
              <a:t>What if we spin the barrel after every shot? </a:t>
            </a:r>
            <a:endParaRPr b="1" sz="2000">
              <a:solidFill>
                <a:schemeClr val="l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18"/>
          <p:cNvPicPr preferRelativeResize="0"/>
          <p:nvPr/>
        </p:nvPicPr>
        <p:blipFill>
          <a:blip r:embed="rId3">
            <a:alphaModFix/>
          </a:blip>
          <a:stretch>
            <a:fillRect/>
          </a:stretch>
        </p:blipFill>
        <p:spPr>
          <a:xfrm>
            <a:off x="7481275" y="0"/>
            <a:ext cx="1662724" cy="1662725"/>
          </a:xfrm>
          <a:prstGeom prst="rect">
            <a:avLst/>
          </a:prstGeom>
          <a:noFill/>
          <a:ln>
            <a:noFill/>
          </a:ln>
        </p:spPr>
      </p:pic>
      <p:sp>
        <p:nvSpPr>
          <p:cNvPr id="170" name="Google Shape;170;p18"/>
          <p:cNvSpPr txBox="1"/>
          <p:nvPr>
            <p:ph type="title"/>
          </p:nvPr>
        </p:nvSpPr>
        <p:spPr>
          <a:xfrm>
            <a:off x="1297500" y="393750"/>
            <a:ext cx="7038900" cy="6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Brain Teaser - Roulette Part 2</a:t>
            </a:r>
            <a:endParaRPr/>
          </a:p>
        </p:txBody>
      </p:sp>
      <p:sp>
        <p:nvSpPr>
          <p:cNvPr id="171" name="Google Shape;171;p18"/>
          <p:cNvSpPr txBox="1"/>
          <p:nvPr>
            <p:ph idx="1" type="body"/>
          </p:nvPr>
        </p:nvSpPr>
        <p:spPr>
          <a:xfrm>
            <a:off x="1243375" y="2133025"/>
            <a:ext cx="7257000" cy="268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Now every shot has </a:t>
            </a:r>
            <a:r>
              <a:rPr lang="en" sz="1700"/>
              <a:t>1/6</a:t>
            </a:r>
            <a:r>
              <a:rPr lang="en" sz="1700"/>
              <a:t> probability</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The probability that you lose at all is p, so the probability your opponent loses is 1-p</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p=1*</a:t>
            </a:r>
            <a:r>
              <a:rPr lang="en" sz="1700"/>
              <a:t>1/6</a:t>
            </a:r>
            <a:r>
              <a:rPr lang="en" sz="1700"/>
              <a:t> + (1-p)*5/6 </a:t>
            </a:r>
            <a:endParaRPr sz="1700"/>
          </a:p>
          <a:p>
            <a:pPr indent="0" lvl="0" marL="0" rtl="0" algn="l">
              <a:spcBef>
                <a:spcPts val="0"/>
              </a:spcBef>
              <a:spcAft>
                <a:spcPts val="0"/>
              </a:spcAft>
              <a:buNone/>
            </a:pPr>
            <a:r>
              <a:rPr lang="en" sz="1700"/>
              <a:t>p = 6/11</a:t>
            </a:r>
            <a:endParaRPr sz="1700"/>
          </a:p>
          <a:p>
            <a:pPr indent="0" lvl="0" marL="0" rtl="0" algn="l">
              <a:spcBef>
                <a:spcPts val="0"/>
              </a:spcBef>
              <a:spcAft>
                <a:spcPts val="0"/>
              </a:spcAft>
              <a:buNone/>
            </a:pPr>
            <a:r>
              <a:rPr lang="en" sz="1700"/>
              <a:t>This means that you should go second, your odds of losing are 5/11</a:t>
            </a:r>
            <a:endParaRPr sz="1700"/>
          </a:p>
        </p:txBody>
      </p:sp>
      <p:sp>
        <p:nvSpPr>
          <p:cNvPr id="172" name="Google Shape;172;p18"/>
          <p:cNvSpPr txBox="1"/>
          <p:nvPr/>
        </p:nvSpPr>
        <p:spPr>
          <a:xfrm>
            <a:off x="1297500" y="1485325"/>
            <a:ext cx="5955600" cy="6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lt1"/>
                </a:solidFill>
                <a:latin typeface="Lato"/>
                <a:ea typeface="Lato"/>
                <a:cs typeface="Lato"/>
                <a:sym typeface="Lato"/>
              </a:rPr>
              <a:t>What if we spin the barrel after every shot? </a:t>
            </a:r>
            <a:endParaRPr b="1" sz="2000">
              <a:solidFill>
                <a:schemeClr val="l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p19"/>
          <p:cNvPicPr preferRelativeResize="0"/>
          <p:nvPr/>
        </p:nvPicPr>
        <p:blipFill>
          <a:blip r:embed="rId3">
            <a:alphaModFix/>
          </a:blip>
          <a:stretch>
            <a:fillRect/>
          </a:stretch>
        </p:blipFill>
        <p:spPr>
          <a:xfrm>
            <a:off x="7481275" y="0"/>
            <a:ext cx="1662724" cy="1662725"/>
          </a:xfrm>
          <a:prstGeom prst="rect">
            <a:avLst/>
          </a:prstGeom>
          <a:noFill/>
          <a:ln>
            <a:noFill/>
          </a:ln>
        </p:spPr>
      </p:pic>
      <p:sp>
        <p:nvSpPr>
          <p:cNvPr id="178" name="Google Shape;178;p19"/>
          <p:cNvSpPr txBox="1"/>
          <p:nvPr>
            <p:ph type="title"/>
          </p:nvPr>
        </p:nvSpPr>
        <p:spPr>
          <a:xfrm>
            <a:off x="1297500" y="393750"/>
            <a:ext cx="7038900" cy="6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Brain Teaser - Roulette Part 3</a:t>
            </a:r>
            <a:endParaRPr/>
          </a:p>
        </p:txBody>
      </p:sp>
      <p:sp>
        <p:nvSpPr>
          <p:cNvPr id="179" name="Google Shape;179;p19"/>
          <p:cNvSpPr txBox="1"/>
          <p:nvPr>
            <p:ph idx="1" type="body"/>
          </p:nvPr>
        </p:nvSpPr>
        <p:spPr>
          <a:xfrm>
            <a:off x="1232475" y="2514425"/>
            <a:ext cx="7257000" cy="190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If you spin, the probability of losing is 2/6</a:t>
            </a:r>
            <a:endParaRPr sz="1700"/>
          </a:p>
          <a:p>
            <a:pPr indent="0" lvl="0" marL="0" rtl="0" algn="l">
              <a:spcBef>
                <a:spcPts val="0"/>
              </a:spcBef>
              <a:spcAft>
                <a:spcPts val="0"/>
              </a:spcAft>
              <a:buNone/>
            </a:pPr>
            <a:r>
              <a:rPr lang="en" sz="1700"/>
              <a:t>If you don’t spin the probability of losing is ⅖</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So yes, spin the barrel</a:t>
            </a:r>
            <a:endParaRPr sz="1700"/>
          </a:p>
        </p:txBody>
      </p:sp>
      <p:sp>
        <p:nvSpPr>
          <p:cNvPr id="180" name="Google Shape;180;p19"/>
          <p:cNvSpPr txBox="1"/>
          <p:nvPr/>
        </p:nvSpPr>
        <p:spPr>
          <a:xfrm>
            <a:off x="1297500" y="1485325"/>
            <a:ext cx="5955600" cy="6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lt1"/>
                </a:solidFill>
                <a:latin typeface="Lato"/>
                <a:ea typeface="Lato"/>
                <a:cs typeface="Lato"/>
                <a:sym typeface="Lato"/>
              </a:rPr>
              <a:t>You now have 2 bullets, you have the option to spin the barrel if you want. Should you spin the barrel?</a:t>
            </a:r>
            <a:endParaRPr b="1" sz="2000">
              <a:solidFill>
                <a:schemeClr val="l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20"/>
          <p:cNvPicPr preferRelativeResize="0"/>
          <p:nvPr/>
        </p:nvPicPr>
        <p:blipFill>
          <a:blip r:embed="rId3">
            <a:alphaModFix/>
          </a:blip>
          <a:stretch>
            <a:fillRect/>
          </a:stretch>
        </p:blipFill>
        <p:spPr>
          <a:xfrm>
            <a:off x="7481275" y="0"/>
            <a:ext cx="1662724" cy="1662725"/>
          </a:xfrm>
          <a:prstGeom prst="rect">
            <a:avLst/>
          </a:prstGeom>
          <a:noFill/>
          <a:ln>
            <a:noFill/>
          </a:ln>
        </p:spPr>
      </p:pic>
      <p:sp>
        <p:nvSpPr>
          <p:cNvPr id="186" name="Google Shape;186;p20"/>
          <p:cNvSpPr txBox="1"/>
          <p:nvPr>
            <p:ph type="title"/>
          </p:nvPr>
        </p:nvSpPr>
        <p:spPr>
          <a:xfrm>
            <a:off x="1297500" y="393750"/>
            <a:ext cx="7038900" cy="6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Brain Teaser - Roulette Part 4</a:t>
            </a:r>
            <a:endParaRPr/>
          </a:p>
        </p:txBody>
      </p:sp>
      <p:sp>
        <p:nvSpPr>
          <p:cNvPr id="187" name="Google Shape;187;p20"/>
          <p:cNvSpPr txBox="1"/>
          <p:nvPr>
            <p:ph idx="1" type="body"/>
          </p:nvPr>
        </p:nvSpPr>
        <p:spPr>
          <a:xfrm>
            <a:off x="1232475" y="2514425"/>
            <a:ext cx="7257000" cy="190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Lets say the bullets are in positions 5 and 6</a:t>
            </a:r>
            <a:endParaRPr sz="1700"/>
          </a:p>
          <a:p>
            <a:pPr indent="0" lvl="0" marL="0" rtl="0" algn="l">
              <a:spcBef>
                <a:spcPts val="0"/>
              </a:spcBef>
              <a:spcAft>
                <a:spcPts val="0"/>
              </a:spcAft>
              <a:buNone/>
            </a:pPr>
            <a:r>
              <a:rPr lang="en" sz="1700"/>
              <a:t>This means if your opponent survives, he either hit 1, 2, 3, or 4.</a:t>
            </a:r>
            <a:endParaRPr sz="1700"/>
          </a:p>
          <a:p>
            <a:pPr indent="0" lvl="0" marL="0" rtl="0" algn="l">
              <a:spcBef>
                <a:spcPts val="0"/>
              </a:spcBef>
              <a:spcAft>
                <a:spcPts val="0"/>
              </a:spcAft>
              <a:buNone/>
            </a:pPr>
            <a:r>
              <a:rPr lang="en" sz="1700"/>
              <a:t>This means you will hit either 2, 3, 4, or 5, so you will have a 1 in 4 chance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If you spin, the probability of losing is still 2/6</a:t>
            </a:r>
            <a:endParaRPr sz="1700"/>
          </a:p>
          <a:p>
            <a:pPr indent="0" lvl="0" marL="0" rtl="0" algn="l">
              <a:spcBef>
                <a:spcPts val="0"/>
              </a:spcBef>
              <a:spcAft>
                <a:spcPts val="0"/>
              </a:spcAft>
              <a:buNone/>
            </a:pPr>
            <a:r>
              <a:rPr lang="en" sz="1700"/>
              <a:t>If you don’t spin the probability of losing is 1/4</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So no, don’t spin the barrel</a:t>
            </a:r>
            <a:endParaRPr sz="1700"/>
          </a:p>
        </p:txBody>
      </p:sp>
      <p:sp>
        <p:nvSpPr>
          <p:cNvPr id="188" name="Google Shape;188;p20"/>
          <p:cNvSpPr txBox="1"/>
          <p:nvPr/>
        </p:nvSpPr>
        <p:spPr>
          <a:xfrm>
            <a:off x="1297500" y="1485325"/>
            <a:ext cx="5955600" cy="6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lt1"/>
                </a:solidFill>
                <a:latin typeface="Lato"/>
                <a:ea typeface="Lato"/>
                <a:cs typeface="Lato"/>
                <a:sym typeface="Lato"/>
              </a:rPr>
              <a:t>There are still 2 bullets, but they’re in consecutive positions now. If your opponent survives the first </a:t>
            </a:r>
            <a:r>
              <a:rPr b="1" lang="en" sz="2000">
                <a:solidFill>
                  <a:schemeClr val="lt1"/>
                </a:solidFill>
                <a:latin typeface="Lato"/>
                <a:ea typeface="Lato"/>
                <a:cs typeface="Lato"/>
                <a:sym typeface="Lato"/>
              </a:rPr>
              <a:t>round</a:t>
            </a:r>
            <a:r>
              <a:rPr b="1" lang="en" sz="2000">
                <a:solidFill>
                  <a:schemeClr val="lt1"/>
                </a:solidFill>
                <a:latin typeface="Lato"/>
                <a:ea typeface="Lato"/>
                <a:cs typeface="Lato"/>
                <a:sym typeface="Lato"/>
              </a:rPr>
              <a:t> should you spin the barrel?</a:t>
            </a:r>
            <a:endParaRPr b="1" sz="2000">
              <a:solidFill>
                <a:schemeClr val="l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1"/>
          <p:cNvSpPr txBox="1"/>
          <p:nvPr>
            <p:ph type="title"/>
          </p:nvPr>
        </p:nvSpPr>
        <p:spPr>
          <a:xfrm>
            <a:off x="823850" y="2053000"/>
            <a:ext cx="53499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Shorting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Betting Against an Asset</a:t>
            </a:r>
            <a:endParaRPr/>
          </a:p>
        </p:txBody>
      </p:sp>
      <p:sp>
        <p:nvSpPr>
          <p:cNvPr id="199" name="Google Shape;199;p22"/>
          <p:cNvSpPr txBox="1"/>
          <p:nvPr>
            <p:ph idx="1" type="body"/>
          </p:nvPr>
        </p:nvSpPr>
        <p:spPr>
          <a:xfrm>
            <a:off x="1105450" y="1207350"/>
            <a:ext cx="6468300" cy="339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Suppose AAPL is trading at $100, and you believe that it’s true value is closer to $150. Given that assets tend towards their true value, a way you could profit off of this belief is just buying AAPL. If your belief is accurate, you will eventually gain $50 per share that you purchase.</a:t>
            </a:r>
            <a:endParaRPr sz="1600"/>
          </a:p>
          <a:p>
            <a:pPr indent="0" lvl="0" marL="0" rtl="0" algn="l">
              <a:spcBef>
                <a:spcPts val="1600"/>
              </a:spcBef>
              <a:spcAft>
                <a:spcPts val="0"/>
              </a:spcAft>
              <a:buNone/>
            </a:pPr>
            <a:r>
              <a:rPr lang="en" sz="1600"/>
              <a:t>Now suppose AAPL is trading at $100, but you believe that it should be valued at $50. There is clearly a price discrepancy between AAPL and your opinion of it’s true value, so you should be able to profit off of this.</a:t>
            </a:r>
            <a:endParaRPr sz="1600"/>
          </a:p>
          <a:p>
            <a:pPr indent="0" lvl="0" marL="0" rtl="0" algn="l">
              <a:spcBef>
                <a:spcPts val="1600"/>
              </a:spcBef>
              <a:spcAft>
                <a:spcPts val="1600"/>
              </a:spcAft>
              <a:buNone/>
            </a:pPr>
            <a:r>
              <a:rPr lang="en" sz="1600"/>
              <a:t>One way might be to find an asset that has negative correlation with AAPL’s stock price, and buy that. </a:t>
            </a:r>
            <a:r>
              <a:rPr lang="en" sz="1600"/>
              <a:t>Another</a:t>
            </a:r>
            <a:r>
              <a:rPr lang="en" sz="1600"/>
              <a:t> way is to short AAPL.</a:t>
            </a:r>
            <a:endParaRPr sz="1600"/>
          </a:p>
        </p:txBody>
      </p:sp>
      <p:pic>
        <p:nvPicPr>
          <p:cNvPr id="200" name="Google Shape;200;p22"/>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Shorting?</a:t>
            </a:r>
            <a:endParaRPr/>
          </a:p>
        </p:txBody>
      </p:sp>
      <p:sp>
        <p:nvSpPr>
          <p:cNvPr id="206" name="Google Shape;206;p23"/>
          <p:cNvSpPr txBox="1"/>
          <p:nvPr>
            <p:ph idx="1" type="body"/>
          </p:nvPr>
        </p:nvSpPr>
        <p:spPr>
          <a:xfrm>
            <a:off x="1105450" y="1207350"/>
            <a:ext cx="6468300" cy="339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A short is a trade in which several things occur</a:t>
            </a:r>
            <a:endParaRPr sz="1600"/>
          </a:p>
          <a:p>
            <a:pPr indent="-330200" lvl="0" marL="457200" rtl="0" algn="l">
              <a:spcBef>
                <a:spcPts val="1600"/>
              </a:spcBef>
              <a:spcAft>
                <a:spcPts val="0"/>
              </a:spcAft>
              <a:buSzPts val="1600"/>
              <a:buAutoNum type="arabicPeriod"/>
            </a:pPr>
            <a:r>
              <a:rPr lang="en" sz="1600"/>
              <a:t>A trader borrows some asset (shares of stock, bonds, options, etc.)</a:t>
            </a:r>
            <a:endParaRPr sz="1600"/>
          </a:p>
          <a:p>
            <a:pPr indent="-330200" lvl="0" marL="457200" rtl="0" algn="l">
              <a:spcBef>
                <a:spcPts val="0"/>
              </a:spcBef>
              <a:spcAft>
                <a:spcPts val="0"/>
              </a:spcAft>
              <a:buSzPts val="1600"/>
              <a:buAutoNum type="arabicPeriod"/>
            </a:pPr>
            <a:r>
              <a:rPr lang="en" sz="1600"/>
              <a:t>The trader than sells that asset</a:t>
            </a:r>
            <a:endParaRPr sz="1600"/>
          </a:p>
          <a:p>
            <a:pPr indent="-330200" lvl="0" marL="457200" rtl="0" algn="l">
              <a:spcBef>
                <a:spcPts val="0"/>
              </a:spcBef>
              <a:spcAft>
                <a:spcPts val="0"/>
              </a:spcAft>
              <a:buSzPts val="1600"/>
              <a:buAutoNum type="arabicPeriod"/>
            </a:pPr>
            <a:r>
              <a:rPr lang="en" sz="1600"/>
              <a:t>After some time, the trader buys back that asset</a:t>
            </a:r>
            <a:endParaRPr sz="1600"/>
          </a:p>
          <a:p>
            <a:pPr indent="-330200" lvl="0" marL="457200" rtl="0" algn="l">
              <a:spcBef>
                <a:spcPts val="0"/>
              </a:spcBef>
              <a:spcAft>
                <a:spcPts val="0"/>
              </a:spcAft>
              <a:buSzPts val="1600"/>
              <a:buAutoNum type="arabicPeriod"/>
            </a:pPr>
            <a:r>
              <a:rPr lang="en" sz="1600"/>
              <a:t>The trader returns the asset to its original owner</a:t>
            </a:r>
            <a:endParaRPr sz="1600"/>
          </a:p>
          <a:p>
            <a:pPr indent="0" lvl="0" marL="0" rtl="0" algn="l">
              <a:spcBef>
                <a:spcPts val="1600"/>
              </a:spcBef>
              <a:spcAft>
                <a:spcPts val="1600"/>
              </a:spcAft>
              <a:buNone/>
            </a:pPr>
            <a:r>
              <a:rPr lang="en" sz="1600"/>
              <a:t>Example: AAPL trades at $100, you think it’s worth $50. You short a share of AAPL, and wait. The price then drops to $50, you </a:t>
            </a:r>
            <a:r>
              <a:rPr lang="en" sz="1600"/>
              <a:t>close out your position (buy back a share) and walk away $50 richer</a:t>
            </a:r>
            <a:endParaRPr sz="1600"/>
          </a:p>
        </p:txBody>
      </p:sp>
      <p:pic>
        <p:nvPicPr>
          <p:cNvPr id="207" name="Google Shape;207;p23"/>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Downsides</a:t>
            </a:r>
            <a:endParaRPr/>
          </a:p>
        </p:txBody>
      </p:sp>
      <p:sp>
        <p:nvSpPr>
          <p:cNvPr id="213" name="Google Shape;213;p24"/>
          <p:cNvSpPr txBox="1"/>
          <p:nvPr>
            <p:ph idx="1" type="body"/>
          </p:nvPr>
        </p:nvSpPr>
        <p:spPr>
          <a:xfrm>
            <a:off x="1105450" y="1207350"/>
            <a:ext cx="6468300" cy="388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Buying (longing) a stock and shorting are inverse actions</a:t>
            </a:r>
            <a:endParaRPr sz="1600"/>
          </a:p>
          <a:p>
            <a:pPr indent="-330200" lvl="0" marL="457200" rtl="0" algn="l">
              <a:spcBef>
                <a:spcPts val="1600"/>
              </a:spcBef>
              <a:spcAft>
                <a:spcPts val="0"/>
              </a:spcAft>
              <a:buSzPts val="1600"/>
              <a:buChar char="●"/>
            </a:pPr>
            <a:r>
              <a:rPr lang="en" sz="1600"/>
              <a:t>Buying has limited downside </a:t>
            </a:r>
            <a:endParaRPr sz="1600"/>
          </a:p>
          <a:p>
            <a:pPr indent="-330200" lvl="1" marL="914400" rtl="0" algn="l">
              <a:spcBef>
                <a:spcPts val="0"/>
              </a:spcBef>
              <a:spcAft>
                <a:spcPts val="0"/>
              </a:spcAft>
              <a:buSzPts val="1600"/>
              <a:buChar char="○"/>
            </a:pPr>
            <a:r>
              <a:rPr lang="en" sz="1600"/>
              <a:t>Most assets can only go down to $0</a:t>
            </a:r>
            <a:endParaRPr sz="1600"/>
          </a:p>
          <a:p>
            <a:pPr indent="-330200" lvl="0" marL="457200" rtl="0" algn="l">
              <a:spcBef>
                <a:spcPts val="0"/>
              </a:spcBef>
              <a:spcAft>
                <a:spcPts val="0"/>
              </a:spcAft>
              <a:buSzPts val="1600"/>
              <a:buChar char="●"/>
            </a:pPr>
            <a:r>
              <a:rPr lang="en" sz="1600"/>
              <a:t>Shorting has unlimited downside</a:t>
            </a:r>
            <a:endParaRPr sz="1600"/>
          </a:p>
          <a:p>
            <a:pPr indent="-330200" lvl="1" marL="914400" rtl="0" algn="l">
              <a:spcBef>
                <a:spcPts val="0"/>
              </a:spcBef>
              <a:spcAft>
                <a:spcPts val="0"/>
              </a:spcAft>
              <a:buSzPts val="1600"/>
              <a:buChar char="○"/>
            </a:pPr>
            <a:r>
              <a:rPr lang="en" sz="1600"/>
              <a:t>The price of any given asset can be arbitrarily high</a:t>
            </a:r>
            <a:endParaRPr sz="1600"/>
          </a:p>
          <a:p>
            <a:pPr indent="0" lvl="0" marL="0" rtl="0" algn="l">
              <a:spcBef>
                <a:spcPts val="1600"/>
              </a:spcBef>
              <a:spcAft>
                <a:spcPts val="0"/>
              </a:spcAft>
              <a:buNone/>
            </a:pPr>
            <a:r>
              <a:rPr lang="en" sz="1600"/>
              <a:t>Additional downsides to shorting</a:t>
            </a:r>
            <a:endParaRPr sz="1600"/>
          </a:p>
          <a:p>
            <a:pPr indent="-330200" lvl="0" marL="457200" rtl="0" algn="l">
              <a:spcBef>
                <a:spcPts val="1600"/>
              </a:spcBef>
              <a:spcAft>
                <a:spcPts val="0"/>
              </a:spcAft>
              <a:buSzPts val="1600"/>
              <a:buChar char="●"/>
            </a:pPr>
            <a:r>
              <a:rPr lang="en" sz="1600"/>
              <a:t>Usually you must pay a premium to whomever you are borrowing from, especially for larger orders</a:t>
            </a:r>
            <a:endParaRPr sz="1600"/>
          </a:p>
          <a:p>
            <a:pPr indent="-330200" lvl="0" marL="457200" rtl="0" algn="l">
              <a:spcBef>
                <a:spcPts val="0"/>
              </a:spcBef>
              <a:spcAft>
                <a:spcPts val="0"/>
              </a:spcAft>
              <a:buSzPts val="1600"/>
              <a:buChar char="●"/>
            </a:pPr>
            <a:r>
              <a:rPr lang="en" sz="1600"/>
              <a:t>Owning a share of stock entitles you to a portion of the company, and (theoretically) a portion of the profits</a:t>
            </a:r>
            <a:endParaRPr sz="1600"/>
          </a:p>
        </p:txBody>
      </p:sp>
      <p:pic>
        <p:nvPicPr>
          <p:cNvPr id="214" name="Google Shape;214;p24"/>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5"/>
          <p:cNvSpPr txBox="1"/>
          <p:nvPr>
            <p:ph type="title"/>
          </p:nvPr>
        </p:nvSpPr>
        <p:spPr>
          <a:xfrm>
            <a:off x="823850" y="2053000"/>
            <a:ext cx="53499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Margin</a:t>
            </a:r>
            <a:endParaRPr/>
          </a:p>
          <a:p>
            <a:pPr indent="0" lvl="0" marL="0" rtl="0" algn="l">
              <a:spcBef>
                <a:spcPts val="0"/>
              </a:spcBef>
              <a:spcAft>
                <a:spcPts val="0"/>
              </a:spcAft>
              <a:buNone/>
            </a:pPr>
            <a:r>
              <a:rPr lang="en"/>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Buying on the margin</a:t>
            </a:r>
            <a:endParaRPr/>
          </a:p>
          <a:p>
            <a:pPr indent="0" lvl="0" marL="0" rtl="0" algn="l">
              <a:spcBef>
                <a:spcPts val="0"/>
              </a:spcBef>
              <a:spcAft>
                <a:spcPts val="0"/>
              </a:spcAft>
              <a:buNone/>
            </a:pPr>
            <a:r>
              <a:rPr lang="en"/>
              <a:t>Buying 1000 shares at $40</a:t>
            </a:r>
            <a:endParaRPr/>
          </a:p>
          <a:p>
            <a:pPr indent="0" lvl="0" marL="0" rtl="0" algn="l">
              <a:spcBef>
                <a:spcPts val="0"/>
              </a:spcBef>
              <a:spcAft>
                <a:spcPts val="0"/>
              </a:spcAft>
              <a:buNone/>
            </a:pPr>
            <a:r>
              <a:rPr lang="en" sz="1300"/>
              <a:t>You have $20k, so you must borrow the rest. </a:t>
            </a:r>
            <a:endParaRPr sz="1300"/>
          </a:p>
          <a:p>
            <a:pPr indent="0" lvl="0" marL="0" rtl="0" algn="l">
              <a:spcBef>
                <a:spcPts val="0"/>
              </a:spcBef>
              <a:spcAft>
                <a:spcPts val="0"/>
              </a:spcAft>
              <a:buNone/>
            </a:pPr>
            <a:r>
              <a:rPr lang="en" sz="1300"/>
              <a:t>Your margin is equity/stock value, this situation is 50% margin, or also 2x leverage</a:t>
            </a:r>
            <a:endParaRPr sz="1300"/>
          </a:p>
        </p:txBody>
      </p:sp>
      <p:sp>
        <p:nvSpPr>
          <p:cNvPr id="225" name="Google Shape;225;p26"/>
          <p:cNvSpPr txBox="1"/>
          <p:nvPr>
            <p:ph idx="1" type="body"/>
          </p:nvPr>
        </p:nvSpPr>
        <p:spPr>
          <a:xfrm>
            <a:off x="1297475" y="2451725"/>
            <a:ext cx="3403200" cy="2484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$40,000 (1000*$40)</a:t>
            </a:r>
            <a:endParaRPr/>
          </a:p>
        </p:txBody>
      </p:sp>
      <p:sp>
        <p:nvSpPr>
          <p:cNvPr id="226" name="Google Shape;226;p26"/>
          <p:cNvSpPr txBox="1"/>
          <p:nvPr>
            <p:ph idx="2" type="body"/>
          </p:nvPr>
        </p:nvSpPr>
        <p:spPr>
          <a:xfrm>
            <a:off x="4933200" y="2451650"/>
            <a:ext cx="3403200" cy="248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$20,000 Loan</a:t>
            </a:r>
            <a:endParaRPr/>
          </a:p>
          <a:p>
            <a:pPr indent="0" lvl="0" marL="0" rtl="0" algn="l">
              <a:spcBef>
                <a:spcPts val="1600"/>
              </a:spcBef>
              <a:spcAft>
                <a:spcPts val="1600"/>
              </a:spcAft>
              <a:buNone/>
            </a:pPr>
            <a:r>
              <a:rPr lang="en"/>
              <a:t>$20,000 Equity</a:t>
            </a:r>
            <a:endParaRPr/>
          </a:p>
        </p:txBody>
      </p:sp>
      <p:sp>
        <p:nvSpPr>
          <p:cNvPr id="227" name="Google Shape;227;p26"/>
          <p:cNvSpPr txBox="1"/>
          <p:nvPr/>
        </p:nvSpPr>
        <p:spPr>
          <a:xfrm>
            <a:off x="1297475" y="2024750"/>
            <a:ext cx="340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Assets</a:t>
            </a:r>
            <a:endParaRPr sz="1300">
              <a:solidFill>
                <a:schemeClr val="lt1"/>
              </a:solidFill>
              <a:latin typeface="Lato"/>
              <a:ea typeface="Lato"/>
              <a:cs typeface="Lato"/>
              <a:sym typeface="Lato"/>
            </a:endParaRPr>
          </a:p>
        </p:txBody>
      </p:sp>
      <p:cxnSp>
        <p:nvCxnSpPr>
          <p:cNvPr id="228" name="Google Shape;228;p26"/>
          <p:cNvCxnSpPr/>
          <p:nvPr/>
        </p:nvCxnSpPr>
        <p:spPr>
          <a:xfrm rot="10800000">
            <a:off x="4802475" y="1985150"/>
            <a:ext cx="0" cy="3486000"/>
          </a:xfrm>
          <a:prstGeom prst="straightConnector1">
            <a:avLst/>
          </a:prstGeom>
          <a:noFill/>
          <a:ln cap="flat" cmpd="sng" w="28575">
            <a:solidFill>
              <a:schemeClr val="lt1"/>
            </a:solidFill>
            <a:prstDash val="solid"/>
            <a:round/>
            <a:headEnd len="med" w="med" type="none"/>
            <a:tailEnd len="med" w="med" type="none"/>
          </a:ln>
        </p:spPr>
      </p:cxnSp>
      <p:cxnSp>
        <p:nvCxnSpPr>
          <p:cNvPr id="229" name="Google Shape;229;p26"/>
          <p:cNvCxnSpPr/>
          <p:nvPr/>
        </p:nvCxnSpPr>
        <p:spPr>
          <a:xfrm>
            <a:off x="1087725" y="2413625"/>
            <a:ext cx="7105800" cy="0"/>
          </a:xfrm>
          <a:prstGeom prst="straightConnector1">
            <a:avLst/>
          </a:prstGeom>
          <a:noFill/>
          <a:ln cap="flat" cmpd="sng" w="28575">
            <a:solidFill>
              <a:schemeClr val="lt1"/>
            </a:solidFill>
            <a:prstDash val="solid"/>
            <a:round/>
            <a:headEnd len="med" w="med" type="none"/>
            <a:tailEnd len="med" w="med" type="none"/>
          </a:ln>
        </p:spPr>
      </p:cxnSp>
      <p:sp>
        <p:nvSpPr>
          <p:cNvPr id="230" name="Google Shape;230;p26"/>
          <p:cNvSpPr txBox="1"/>
          <p:nvPr/>
        </p:nvSpPr>
        <p:spPr>
          <a:xfrm>
            <a:off x="4904275" y="1990700"/>
            <a:ext cx="340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Liabilities + Equity</a:t>
            </a:r>
            <a:endParaRPr sz="1300">
              <a:solidFill>
                <a:schemeClr val="lt1"/>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Buying on the margin</a:t>
            </a:r>
            <a:endParaRPr/>
          </a:p>
          <a:p>
            <a:pPr indent="0" lvl="0" marL="0" rtl="0" algn="l">
              <a:spcBef>
                <a:spcPts val="0"/>
              </a:spcBef>
              <a:spcAft>
                <a:spcPts val="0"/>
              </a:spcAft>
              <a:buNone/>
            </a:pPr>
            <a:r>
              <a:rPr lang="en"/>
              <a:t>Price goes to $50</a:t>
            </a:r>
            <a:endParaRPr/>
          </a:p>
          <a:p>
            <a:pPr indent="0" lvl="0" marL="0" rtl="0" algn="l">
              <a:spcBef>
                <a:spcPts val="0"/>
              </a:spcBef>
              <a:spcAft>
                <a:spcPts val="0"/>
              </a:spcAft>
              <a:buNone/>
            </a:pPr>
            <a:r>
              <a:rPr lang="en" sz="1300"/>
              <a:t>Margin of equity to assets has dropped to  0.33</a:t>
            </a:r>
            <a:endParaRPr sz="1300"/>
          </a:p>
          <a:p>
            <a:pPr indent="0" lvl="0" marL="0" rtl="0" algn="l">
              <a:spcBef>
                <a:spcPts val="0"/>
              </a:spcBef>
              <a:spcAft>
                <a:spcPts val="0"/>
              </a:spcAft>
              <a:buNone/>
            </a:pPr>
            <a:r>
              <a:rPr lang="en" sz="1300"/>
              <a:t>Usually a minimum margin exists. If it’s hit, you will be forced to sell</a:t>
            </a:r>
            <a:endParaRPr sz="1300"/>
          </a:p>
        </p:txBody>
      </p:sp>
      <p:sp>
        <p:nvSpPr>
          <p:cNvPr id="236" name="Google Shape;236;p27"/>
          <p:cNvSpPr txBox="1"/>
          <p:nvPr>
            <p:ph idx="1" type="body"/>
          </p:nvPr>
        </p:nvSpPr>
        <p:spPr>
          <a:xfrm>
            <a:off x="1297475" y="2451725"/>
            <a:ext cx="3403200" cy="2484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$50,000 (1000*$50)</a:t>
            </a:r>
            <a:endParaRPr/>
          </a:p>
        </p:txBody>
      </p:sp>
      <p:sp>
        <p:nvSpPr>
          <p:cNvPr id="237" name="Google Shape;237;p27"/>
          <p:cNvSpPr txBox="1"/>
          <p:nvPr>
            <p:ph idx="2" type="body"/>
          </p:nvPr>
        </p:nvSpPr>
        <p:spPr>
          <a:xfrm>
            <a:off x="4933200" y="2451650"/>
            <a:ext cx="3403200" cy="248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$20,000 Loan</a:t>
            </a:r>
            <a:endParaRPr/>
          </a:p>
          <a:p>
            <a:pPr indent="0" lvl="0" marL="0" rtl="0" algn="l">
              <a:spcBef>
                <a:spcPts val="1600"/>
              </a:spcBef>
              <a:spcAft>
                <a:spcPts val="1600"/>
              </a:spcAft>
              <a:buNone/>
            </a:pPr>
            <a:r>
              <a:rPr lang="en"/>
              <a:t>$30,000 Equity</a:t>
            </a:r>
            <a:endParaRPr/>
          </a:p>
        </p:txBody>
      </p:sp>
      <p:sp>
        <p:nvSpPr>
          <p:cNvPr id="238" name="Google Shape;238;p27"/>
          <p:cNvSpPr txBox="1"/>
          <p:nvPr/>
        </p:nvSpPr>
        <p:spPr>
          <a:xfrm>
            <a:off x="1297475" y="2024750"/>
            <a:ext cx="340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Assets</a:t>
            </a:r>
            <a:endParaRPr sz="1300">
              <a:solidFill>
                <a:schemeClr val="lt1"/>
              </a:solidFill>
              <a:latin typeface="Lato"/>
              <a:ea typeface="Lato"/>
              <a:cs typeface="Lato"/>
              <a:sym typeface="Lato"/>
            </a:endParaRPr>
          </a:p>
        </p:txBody>
      </p:sp>
      <p:cxnSp>
        <p:nvCxnSpPr>
          <p:cNvPr id="239" name="Google Shape;239;p27"/>
          <p:cNvCxnSpPr/>
          <p:nvPr/>
        </p:nvCxnSpPr>
        <p:spPr>
          <a:xfrm rot="10800000">
            <a:off x="4802475" y="1985150"/>
            <a:ext cx="0" cy="3486000"/>
          </a:xfrm>
          <a:prstGeom prst="straightConnector1">
            <a:avLst/>
          </a:prstGeom>
          <a:noFill/>
          <a:ln cap="flat" cmpd="sng" w="28575">
            <a:solidFill>
              <a:schemeClr val="lt1"/>
            </a:solidFill>
            <a:prstDash val="solid"/>
            <a:round/>
            <a:headEnd len="med" w="med" type="none"/>
            <a:tailEnd len="med" w="med" type="none"/>
          </a:ln>
        </p:spPr>
      </p:cxnSp>
      <p:cxnSp>
        <p:nvCxnSpPr>
          <p:cNvPr id="240" name="Google Shape;240;p27"/>
          <p:cNvCxnSpPr/>
          <p:nvPr/>
        </p:nvCxnSpPr>
        <p:spPr>
          <a:xfrm>
            <a:off x="1087725" y="2413625"/>
            <a:ext cx="7105800" cy="0"/>
          </a:xfrm>
          <a:prstGeom prst="straightConnector1">
            <a:avLst/>
          </a:prstGeom>
          <a:noFill/>
          <a:ln cap="flat" cmpd="sng" w="28575">
            <a:solidFill>
              <a:schemeClr val="lt1"/>
            </a:solidFill>
            <a:prstDash val="solid"/>
            <a:round/>
            <a:headEnd len="med" w="med" type="none"/>
            <a:tailEnd len="med" w="med" type="none"/>
          </a:ln>
        </p:spPr>
      </p:cxnSp>
      <p:sp>
        <p:nvSpPr>
          <p:cNvPr id="241" name="Google Shape;241;p27"/>
          <p:cNvSpPr txBox="1"/>
          <p:nvPr/>
        </p:nvSpPr>
        <p:spPr>
          <a:xfrm>
            <a:off x="4904275" y="1990700"/>
            <a:ext cx="340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Liabilities + Equity</a:t>
            </a:r>
            <a:endParaRPr sz="1300">
              <a:solidFill>
                <a:schemeClr val="lt1"/>
              </a:solidFill>
              <a:latin typeface="Lato"/>
              <a:ea typeface="Lato"/>
              <a:cs typeface="Lato"/>
              <a:sym typeface="Lato"/>
            </a:endParaRPr>
          </a:p>
        </p:txBody>
      </p:sp>
      <p:sp>
        <p:nvSpPr>
          <p:cNvPr id="242" name="Google Shape;242;p27"/>
          <p:cNvSpPr txBox="1"/>
          <p:nvPr/>
        </p:nvSpPr>
        <p:spPr>
          <a:xfrm>
            <a:off x="1865575" y="4075200"/>
            <a:ext cx="3038700" cy="70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Price rise of 25% leads to a 50% gain</a:t>
            </a:r>
            <a:endParaRPr sz="1300">
              <a:solidFill>
                <a:schemeClr val="lt1"/>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Buying on the margin</a:t>
            </a:r>
            <a:endParaRPr/>
          </a:p>
          <a:p>
            <a:pPr indent="0" lvl="0" marL="0" rtl="0" algn="l">
              <a:spcBef>
                <a:spcPts val="0"/>
              </a:spcBef>
              <a:spcAft>
                <a:spcPts val="0"/>
              </a:spcAft>
              <a:buNone/>
            </a:pPr>
            <a:r>
              <a:rPr lang="en"/>
              <a:t>Price drops to $30 (bad)</a:t>
            </a:r>
            <a:endParaRPr/>
          </a:p>
          <a:p>
            <a:pPr indent="0" lvl="0" marL="0" rtl="0" algn="l">
              <a:spcBef>
                <a:spcPts val="0"/>
              </a:spcBef>
              <a:spcAft>
                <a:spcPts val="0"/>
              </a:spcAft>
              <a:buNone/>
            </a:pPr>
            <a:r>
              <a:rPr lang="en" sz="1300"/>
              <a:t>Margin of equity to assets has dropped to  0.33</a:t>
            </a:r>
            <a:endParaRPr sz="1300"/>
          </a:p>
          <a:p>
            <a:pPr indent="0" lvl="0" marL="0" rtl="0" algn="l">
              <a:spcBef>
                <a:spcPts val="0"/>
              </a:spcBef>
              <a:spcAft>
                <a:spcPts val="0"/>
              </a:spcAft>
              <a:buNone/>
            </a:pPr>
            <a:r>
              <a:rPr lang="en" sz="1300"/>
              <a:t>Usually a minimum margin exists. If it’s hit, you will be forced to sell</a:t>
            </a:r>
            <a:endParaRPr sz="1300"/>
          </a:p>
        </p:txBody>
      </p:sp>
      <p:sp>
        <p:nvSpPr>
          <p:cNvPr id="248" name="Google Shape;248;p28"/>
          <p:cNvSpPr txBox="1"/>
          <p:nvPr>
            <p:ph idx="1" type="body"/>
          </p:nvPr>
        </p:nvSpPr>
        <p:spPr>
          <a:xfrm>
            <a:off x="1297475" y="2451725"/>
            <a:ext cx="3403200" cy="2484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$30,000 (1000*$30)</a:t>
            </a:r>
            <a:endParaRPr/>
          </a:p>
        </p:txBody>
      </p:sp>
      <p:sp>
        <p:nvSpPr>
          <p:cNvPr id="249" name="Google Shape;249;p28"/>
          <p:cNvSpPr txBox="1"/>
          <p:nvPr>
            <p:ph idx="2" type="body"/>
          </p:nvPr>
        </p:nvSpPr>
        <p:spPr>
          <a:xfrm>
            <a:off x="4933200" y="2451650"/>
            <a:ext cx="3403200" cy="248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$20,000 Loan</a:t>
            </a:r>
            <a:endParaRPr/>
          </a:p>
          <a:p>
            <a:pPr indent="0" lvl="0" marL="0" rtl="0" algn="l">
              <a:spcBef>
                <a:spcPts val="1600"/>
              </a:spcBef>
              <a:spcAft>
                <a:spcPts val="1600"/>
              </a:spcAft>
              <a:buNone/>
            </a:pPr>
            <a:r>
              <a:rPr lang="en"/>
              <a:t>$10,000 Equity</a:t>
            </a:r>
            <a:endParaRPr/>
          </a:p>
        </p:txBody>
      </p:sp>
      <p:sp>
        <p:nvSpPr>
          <p:cNvPr id="250" name="Google Shape;250;p28"/>
          <p:cNvSpPr txBox="1"/>
          <p:nvPr/>
        </p:nvSpPr>
        <p:spPr>
          <a:xfrm>
            <a:off x="1297475" y="2024750"/>
            <a:ext cx="340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Assets</a:t>
            </a:r>
            <a:endParaRPr sz="1300">
              <a:solidFill>
                <a:schemeClr val="lt1"/>
              </a:solidFill>
              <a:latin typeface="Lato"/>
              <a:ea typeface="Lato"/>
              <a:cs typeface="Lato"/>
              <a:sym typeface="Lato"/>
            </a:endParaRPr>
          </a:p>
        </p:txBody>
      </p:sp>
      <p:cxnSp>
        <p:nvCxnSpPr>
          <p:cNvPr id="251" name="Google Shape;251;p28"/>
          <p:cNvCxnSpPr/>
          <p:nvPr/>
        </p:nvCxnSpPr>
        <p:spPr>
          <a:xfrm rot="10800000">
            <a:off x="4802475" y="1985150"/>
            <a:ext cx="0" cy="3486000"/>
          </a:xfrm>
          <a:prstGeom prst="straightConnector1">
            <a:avLst/>
          </a:prstGeom>
          <a:noFill/>
          <a:ln cap="flat" cmpd="sng" w="28575">
            <a:solidFill>
              <a:schemeClr val="lt1"/>
            </a:solidFill>
            <a:prstDash val="solid"/>
            <a:round/>
            <a:headEnd len="med" w="med" type="none"/>
            <a:tailEnd len="med" w="med" type="none"/>
          </a:ln>
        </p:spPr>
      </p:cxnSp>
      <p:cxnSp>
        <p:nvCxnSpPr>
          <p:cNvPr id="252" name="Google Shape;252;p28"/>
          <p:cNvCxnSpPr/>
          <p:nvPr/>
        </p:nvCxnSpPr>
        <p:spPr>
          <a:xfrm>
            <a:off x="1087725" y="2413625"/>
            <a:ext cx="7105800" cy="0"/>
          </a:xfrm>
          <a:prstGeom prst="straightConnector1">
            <a:avLst/>
          </a:prstGeom>
          <a:noFill/>
          <a:ln cap="flat" cmpd="sng" w="28575">
            <a:solidFill>
              <a:schemeClr val="lt1"/>
            </a:solidFill>
            <a:prstDash val="solid"/>
            <a:round/>
            <a:headEnd len="med" w="med" type="none"/>
            <a:tailEnd len="med" w="med" type="none"/>
          </a:ln>
        </p:spPr>
      </p:cxnSp>
      <p:sp>
        <p:nvSpPr>
          <p:cNvPr id="253" name="Google Shape;253;p28"/>
          <p:cNvSpPr txBox="1"/>
          <p:nvPr/>
        </p:nvSpPr>
        <p:spPr>
          <a:xfrm>
            <a:off x="4904275" y="1990700"/>
            <a:ext cx="340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Liabilities + Equity</a:t>
            </a:r>
            <a:endParaRPr sz="1300">
              <a:solidFill>
                <a:schemeClr val="lt1"/>
              </a:solidFill>
              <a:latin typeface="Lato"/>
              <a:ea typeface="Lato"/>
              <a:cs typeface="Lato"/>
              <a:sym typeface="Lato"/>
            </a:endParaRPr>
          </a:p>
        </p:txBody>
      </p:sp>
      <p:sp>
        <p:nvSpPr>
          <p:cNvPr id="254" name="Google Shape;254;p28"/>
          <p:cNvSpPr txBox="1"/>
          <p:nvPr/>
        </p:nvSpPr>
        <p:spPr>
          <a:xfrm>
            <a:off x="1865575" y="4075200"/>
            <a:ext cx="3038700" cy="70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Price drop of 25% leads to a 50% loss</a:t>
            </a:r>
            <a:endParaRPr sz="1300">
              <a:solidFill>
                <a:schemeClr val="lt1"/>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Short Selling</a:t>
            </a:r>
            <a:endParaRPr/>
          </a:p>
          <a:p>
            <a:pPr indent="0" lvl="0" marL="0" rtl="0" algn="l">
              <a:spcBef>
                <a:spcPts val="0"/>
              </a:spcBef>
              <a:spcAft>
                <a:spcPts val="0"/>
              </a:spcAft>
              <a:buNone/>
            </a:pPr>
            <a:r>
              <a:rPr lang="en"/>
              <a:t>Shorting 1000 shares at $40</a:t>
            </a:r>
            <a:endParaRPr/>
          </a:p>
          <a:p>
            <a:pPr indent="0" lvl="0" marL="0" rtl="0" algn="l">
              <a:spcBef>
                <a:spcPts val="0"/>
              </a:spcBef>
              <a:spcAft>
                <a:spcPts val="0"/>
              </a:spcAft>
              <a:buNone/>
            </a:pPr>
            <a:r>
              <a:t/>
            </a:r>
            <a:endParaRPr sz="1300"/>
          </a:p>
        </p:txBody>
      </p:sp>
      <p:sp>
        <p:nvSpPr>
          <p:cNvPr id="260" name="Google Shape;260;p29"/>
          <p:cNvSpPr txBox="1"/>
          <p:nvPr>
            <p:ph idx="1" type="body"/>
          </p:nvPr>
        </p:nvSpPr>
        <p:spPr>
          <a:xfrm>
            <a:off x="1297475" y="2451725"/>
            <a:ext cx="3552600" cy="248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$40,000 (unchanging, sale already happened)</a:t>
            </a:r>
            <a:endParaRPr/>
          </a:p>
          <a:p>
            <a:pPr indent="0" lvl="0" marL="0" rtl="0" algn="l">
              <a:spcBef>
                <a:spcPts val="1600"/>
              </a:spcBef>
              <a:spcAft>
                <a:spcPts val="1600"/>
              </a:spcAft>
              <a:buNone/>
            </a:pPr>
            <a:r>
              <a:rPr lang="en"/>
              <a:t>$20,000 (initial deposit)</a:t>
            </a:r>
            <a:endParaRPr/>
          </a:p>
        </p:txBody>
      </p:sp>
      <p:sp>
        <p:nvSpPr>
          <p:cNvPr id="261" name="Google Shape;261;p29"/>
          <p:cNvSpPr txBox="1"/>
          <p:nvPr>
            <p:ph idx="2" type="body"/>
          </p:nvPr>
        </p:nvSpPr>
        <p:spPr>
          <a:xfrm>
            <a:off x="4933200" y="2451650"/>
            <a:ext cx="3403200" cy="248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$40,000 Loan (1000*$40)</a:t>
            </a:r>
            <a:endParaRPr/>
          </a:p>
          <a:p>
            <a:pPr indent="0" lvl="0" marL="0" rtl="0" algn="l">
              <a:spcBef>
                <a:spcPts val="1600"/>
              </a:spcBef>
              <a:spcAft>
                <a:spcPts val="1600"/>
              </a:spcAft>
              <a:buNone/>
            </a:pPr>
            <a:r>
              <a:rPr lang="en"/>
              <a:t>$20,000 Equity</a:t>
            </a:r>
            <a:endParaRPr/>
          </a:p>
        </p:txBody>
      </p:sp>
      <p:sp>
        <p:nvSpPr>
          <p:cNvPr id="262" name="Google Shape;262;p29"/>
          <p:cNvSpPr txBox="1"/>
          <p:nvPr/>
        </p:nvSpPr>
        <p:spPr>
          <a:xfrm>
            <a:off x="1297475" y="2024750"/>
            <a:ext cx="340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Assets</a:t>
            </a:r>
            <a:endParaRPr sz="1300">
              <a:solidFill>
                <a:schemeClr val="lt1"/>
              </a:solidFill>
              <a:latin typeface="Lato"/>
              <a:ea typeface="Lato"/>
              <a:cs typeface="Lato"/>
              <a:sym typeface="Lato"/>
            </a:endParaRPr>
          </a:p>
        </p:txBody>
      </p:sp>
      <p:cxnSp>
        <p:nvCxnSpPr>
          <p:cNvPr id="263" name="Google Shape;263;p29"/>
          <p:cNvCxnSpPr/>
          <p:nvPr/>
        </p:nvCxnSpPr>
        <p:spPr>
          <a:xfrm rot="10800000">
            <a:off x="4802475" y="1985150"/>
            <a:ext cx="0" cy="3486000"/>
          </a:xfrm>
          <a:prstGeom prst="straightConnector1">
            <a:avLst/>
          </a:prstGeom>
          <a:noFill/>
          <a:ln cap="flat" cmpd="sng" w="28575">
            <a:solidFill>
              <a:schemeClr val="lt1"/>
            </a:solidFill>
            <a:prstDash val="solid"/>
            <a:round/>
            <a:headEnd len="med" w="med" type="none"/>
            <a:tailEnd len="med" w="med" type="none"/>
          </a:ln>
        </p:spPr>
      </p:cxnSp>
      <p:cxnSp>
        <p:nvCxnSpPr>
          <p:cNvPr id="264" name="Google Shape;264;p29"/>
          <p:cNvCxnSpPr/>
          <p:nvPr/>
        </p:nvCxnSpPr>
        <p:spPr>
          <a:xfrm>
            <a:off x="1087725" y="2413625"/>
            <a:ext cx="7105800" cy="0"/>
          </a:xfrm>
          <a:prstGeom prst="straightConnector1">
            <a:avLst/>
          </a:prstGeom>
          <a:noFill/>
          <a:ln cap="flat" cmpd="sng" w="28575">
            <a:solidFill>
              <a:schemeClr val="lt1"/>
            </a:solidFill>
            <a:prstDash val="solid"/>
            <a:round/>
            <a:headEnd len="med" w="med" type="none"/>
            <a:tailEnd len="med" w="med" type="none"/>
          </a:ln>
        </p:spPr>
      </p:cxnSp>
      <p:sp>
        <p:nvSpPr>
          <p:cNvPr id="265" name="Google Shape;265;p29"/>
          <p:cNvSpPr txBox="1"/>
          <p:nvPr/>
        </p:nvSpPr>
        <p:spPr>
          <a:xfrm>
            <a:off x="4904275" y="1990700"/>
            <a:ext cx="340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Liabilities + Equity</a:t>
            </a:r>
            <a:endParaRPr sz="1300">
              <a:solidFill>
                <a:schemeClr val="lt1"/>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Short Selling</a:t>
            </a:r>
            <a:endParaRPr/>
          </a:p>
          <a:p>
            <a:pPr indent="0" lvl="0" marL="0" rtl="0" algn="l">
              <a:spcBef>
                <a:spcPts val="0"/>
              </a:spcBef>
              <a:spcAft>
                <a:spcPts val="0"/>
              </a:spcAft>
              <a:buNone/>
            </a:pPr>
            <a:r>
              <a:rPr lang="en"/>
              <a:t>Price falls to $30</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sz="1300"/>
          </a:p>
        </p:txBody>
      </p:sp>
      <p:sp>
        <p:nvSpPr>
          <p:cNvPr id="271" name="Google Shape;271;p30"/>
          <p:cNvSpPr txBox="1"/>
          <p:nvPr>
            <p:ph idx="1" type="body"/>
          </p:nvPr>
        </p:nvSpPr>
        <p:spPr>
          <a:xfrm>
            <a:off x="1297475" y="2451725"/>
            <a:ext cx="3552600" cy="248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$40,000 (unchanging, sale already happened)</a:t>
            </a:r>
            <a:endParaRPr/>
          </a:p>
          <a:p>
            <a:pPr indent="0" lvl="0" marL="0" rtl="0" algn="l">
              <a:spcBef>
                <a:spcPts val="1600"/>
              </a:spcBef>
              <a:spcAft>
                <a:spcPts val="1600"/>
              </a:spcAft>
              <a:buNone/>
            </a:pPr>
            <a:r>
              <a:rPr lang="en"/>
              <a:t>$20,000 (initial deposit)</a:t>
            </a:r>
            <a:endParaRPr/>
          </a:p>
        </p:txBody>
      </p:sp>
      <p:sp>
        <p:nvSpPr>
          <p:cNvPr id="272" name="Google Shape;272;p30"/>
          <p:cNvSpPr txBox="1"/>
          <p:nvPr>
            <p:ph idx="2" type="body"/>
          </p:nvPr>
        </p:nvSpPr>
        <p:spPr>
          <a:xfrm>
            <a:off x="4933200" y="2451650"/>
            <a:ext cx="3403200" cy="248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$30,000 Loan (1000*$30)</a:t>
            </a:r>
            <a:endParaRPr/>
          </a:p>
          <a:p>
            <a:pPr indent="0" lvl="0" marL="0" rtl="0" algn="l">
              <a:spcBef>
                <a:spcPts val="1600"/>
              </a:spcBef>
              <a:spcAft>
                <a:spcPts val="1600"/>
              </a:spcAft>
              <a:buNone/>
            </a:pPr>
            <a:r>
              <a:rPr lang="en"/>
              <a:t>$30,000 Equity</a:t>
            </a:r>
            <a:endParaRPr/>
          </a:p>
        </p:txBody>
      </p:sp>
      <p:sp>
        <p:nvSpPr>
          <p:cNvPr id="273" name="Google Shape;273;p30"/>
          <p:cNvSpPr txBox="1"/>
          <p:nvPr/>
        </p:nvSpPr>
        <p:spPr>
          <a:xfrm>
            <a:off x="1297475" y="2024750"/>
            <a:ext cx="340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Assets</a:t>
            </a:r>
            <a:endParaRPr sz="1300">
              <a:solidFill>
                <a:schemeClr val="lt1"/>
              </a:solidFill>
              <a:latin typeface="Lato"/>
              <a:ea typeface="Lato"/>
              <a:cs typeface="Lato"/>
              <a:sym typeface="Lato"/>
            </a:endParaRPr>
          </a:p>
        </p:txBody>
      </p:sp>
      <p:cxnSp>
        <p:nvCxnSpPr>
          <p:cNvPr id="274" name="Google Shape;274;p30"/>
          <p:cNvCxnSpPr/>
          <p:nvPr/>
        </p:nvCxnSpPr>
        <p:spPr>
          <a:xfrm rot="10800000">
            <a:off x="4802475" y="1985150"/>
            <a:ext cx="0" cy="3486000"/>
          </a:xfrm>
          <a:prstGeom prst="straightConnector1">
            <a:avLst/>
          </a:prstGeom>
          <a:noFill/>
          <a:ln cap="flat" cmpd="sng" w="28575">
            <a:solidFill>
              <a:schemeClr val="lt1"/>
            </a:solidFill>
            <a:prstDash val="solid"/>
            <a:round/>
            <a:headEnd len="med" w="med" type="none"/>
            <a:tailEnd len="med" w="med" type="none"/>
          </a:ln>
        </p:spPr>
      </p:cxnSp>
      <p:cxnSp>
        <p:nvCxnSpPr>
          <p:cNvPr id="275" name="Google Shape;275;p30"/>
          <p:cNvCxnSpPr/>
          <p:nvPr/>
        </p:nvCxnSpPr>
        <p:spPr>
          <a:xfrm>
            <a:off x="1087725" y="2413625"/>
            <a:ext cx="7105800" cy="0"/>
          </a:xfrm>
          <a:prstGeom prst="straightConnector1">
            <a:avLst/>
          </a:prstGeom>
          <a:noFill/>
          <a:ln cap="flat" cmpd="sng" w="28575">
            <a:solidFill>
              <a:schemeClr val="lt1"/>
            </a:solidFill>
            <a:prstDash val="solid"/>
            <a:round/>
            <a:headEnd len="med" w="med" type="none"/>
            <a:tailEnd len="med" w="med" type="none"/>
          </a:ln>
        </p:spPr>
      </p:cxnSp>
      <p:sp>
        <p:nvSpPr>
          <p:cNvPr id="276" name="Google Shape;276;p30"/>
          <p:cNvSpPr txBox="1"/>
          <p:nvPr/>
        </p:nvSpPr>
        <p:spPr>
          <a:xfrm>
            <a:off x="4904275" y="1990700"/>
            <a:ext cx="340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Liabilities + Equity</a:t>
            </a:r>
            <a:endParaRPr sz="1300">
              <a:solidFill>
                <a:schemeClr val="lt1"/>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1"/>
          <p:cNvSpPr txBox="1"/>
          <p:nvPr>
            <p:ph type="title"/>
          </p:nvPr>
        </p:nvSpPr>
        <p:spPr>
          <a:xfrm>
            <a:off x="823850" y="2053000"/>
            <a:ext cx="53499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are Options?</a:t>
            </a:r>
            <a:endParaRPr/>
          </a:p>
        </p:txBody>
      </p:sp>
      <p:sp>
        <p:nvSpPr>
          <p:cNvPr id="287" name="Google Shape;287;p32"/>
          <p:cNvSpPr txBox="1"/>
          <p:nvPr>
            <p:ph idx="1" type="body"/>
          </p:nvPr>
        </p:nvSpPr>
        <p:spPr>
          <a:xfrm>
            <a:off x="1105450" y="1207350"/>
            <a:ext cx="6468300" cy="388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Options are contracts that give the owner the right to buy or sell an asset at a given price. Similar to shorting, there are several instances in which the ability to trade these contracts might be incredibly useful.</a:t>
            </a:r>
            <a:endParaRPr sz="1600"/>
          </a:p>
          <a:p>
            <a:pPr indent="0" lvl="0" marL="0" rtl="0" algn="l">
              <a:spcBef>
                <a:spcPts val="1600"/>
              </a:spcBef>
              <a:spcAft>
                <a:spcPts val="0"/>
              </a:spcAft>
              <a:buNone/>
            </a:pPr>
            <a:r>
              <a:rPr lang="en" sz="1600"/>
              <a:t>For example, suppose you own a large chunk of Walmart, and there is an earnings call coming up. If you are worried about the result of this earnings call, you might buy options that give you the right to sell Walmart at a little bit below the current price in case the stock price drops significantly.</a:t>
            </a:r>
            <a:endParaRPr sz="1600"/>
          </a:p>
          <a:p>
            <a:pPr indent="0" lvl="0" marL="0" rtl="0" algn="l">
              <a:spcBef>
                <a:spcPts val="1600"/>
              </a:spcBef>
              <a:spcAft>
                <a:spcPts val="1600"/>
              </a:spcAft>
              <a:buNone/>
            </a:pPr>
            <a:r>
              <a:rPr lang="en" sz="1600"/>
              <a:t>In this case, options are essentially acting as insurance.</a:t>
            </a:r>
            <a:endParaRPr sz="1600"/>
          </a:p>
        </p:txBody>
      </p:sp>
      <p:pic>
        <p:nvPicPr>
          <p:cNvPr id="288" name="Google Shape;288;p32"/>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Types of Options</a:t>
            </a:r>
            <a:endParaRPr/>
          </a:p>
        </p:txBody>
      </p:sp>
      <p:sp>
        <p:nvSpPr>
          <p:cNvPr id="294" name="Google Shape;294;p33"/>
          <p:cNvSpPr txBox="1"/>
          <p:nvPr>
            <p:ph idx="1" type="body"/>
          </p:nvPr>
        </p:nvSpPr>
        <p:spPr>
          <a:xfrm>
            <a:off x="1105450" y="1207350"/>
            <a:ext cx="6468300" cy="388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The two primary types of options are call options (“calls), and </a:t>
            </a:r>
            <a:r>
              <a:rPr lang="en" sz="1600"/>
              <a:t>put options (“puts”).</a:t>
            </a:r>
            <a:endParaRPr sz="1600"/>
          </a:p>
          <a:p>
            <a:pPr indent="0" lvl="0" marL="0" rtl="0" algn="l">
              <a:spcBef>
                <a:spcPts val="1600"/>
              </a:spcBef>
              <a:spcAft>
                <a:spcPts val="0"/>
              </a:spcAft>
              <a:buNone/>
            </a:pPr>
            <a:r>
              <a:rPr lang="en" sz="1600"/>
              <a:t>Calls:</a:t>
            </a:r>
            <a:endParaRPr sz="1600"/>
          </a:p>
          <a:p>
            <a:pPr indent="-330200" lvl="0" marL="457200" rtl="0" algn="l">
              <a:spcBef>
                <a:spcPts val="1600"/>
              </a:spcBef>
              <a:spcAft>
                <a:spcPts val="0"/>
              </a:spcAft>
              <a:buSzPts val="1600"/>
              <a:buChar char="●"/>
            </a:pPr>
            <a:r>
              <a:rPr lang="en" sz="1600"/>
              <a:t>Gives the holder the right to buy an asset at a given price</a:t>
            </a:r>
            <a:endParaRPr sz="1600"/>
          </a:p>
          <a:p>
            <a:pPr indent="-330200" lvl="0" marL="457200" rtl="0" algn="l">
              <a:spcBef>
                <a:spcPts val="0"/>
              </a:spcBef>
              <a:spcAft>
                <a:spcPts val="0"/>
              </a:spcAft>
              <a:buSzPts val="1600"/>
              <a:buChar char="●"/>
            </a:pPr>
            <a:r>
              <a:rPr lang="en" sz="1600"/>
              <a:t>Generally used when an investor has positive sentiment regarding an asset</a:t>
            </a:r>
            <a:endParaRPr sz="1600"/>
          </a:p>
          <a:p>
            <a:pPr indent="0" lvl="0" marL="0" rtl="0" algn="l">
              <a:spcBef>
                <a:spcPts val="1600"/>
              </a:spcBef>
              <a:spcAft>
                <a:spcPts val="0"/>
              </a:spcAft>
              <a:buNone/>
            </a:pPr>
            <a:r>
              <a:rPr lang="en" sz="1600"/>
              <a:t>Puts:</a:t>
            </a:r>
            <a:endParaRPr sz="1600"/>
          </a:p>
          <a:p>
            <a:pPr indent="-330200" lvl="0" marL="457200" rtl="0" algn="l">
              <a:spcBef>
                <a:spcPts val="1600"/>
              </a:spcBef>
              <a:spcAft>
                <a:spcPts val="0"/>
              </a:spcAft>
              <a:buSzPts val="1600"/>
              <a:buChar char="●"/>
            </a:pPr>
            <a:r>
              <a:rPr lang="en" sz="1600"/>
              <a:t>Gives the holder the right to sell an asset at a given price</a:t>
            </a:r>
            <a:endParaRPr sz="1600"/>
          </a:p>
          <a:p>
            <a:pPr indent="-330200" lvl="0" marL="457200" rtl="0" algn="l">
              <a:spcBef>
                <a:spcPts val="0"/>
              </a:spcBef>
              <a:spcAft>
                <a:spcPts val="0"/>
              </a:spcAft>
              <a:buSzPts val="1600"/>
              <a:buChar char="●"/>
            </a:pPr>
            <a:r>
              <a:rPr lang="en" sz="1600"/>
              <a:t>Generally used when an investor has negative sentiment regarding an asset</a:t>
            </a:r>
            <a:endParaRPr sz="1600"/>
          </a:p>
        </p:txBody>
      </p:sp>
      <p:pic>
        <p:nvPicPr>
          <p:cNvPr id="295" name="Google Shape;295;p33"/>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Option Characteristics</a:t>
            </a:r>
            <a:endParaRPr/>
          </a:p>
        </p:txBody>
      </p:sp>
      <p:sp>
        <p:nvSpPr>
          <p:cNvPr id="301" name="Google Shape;301;p34"/>
          <p:cNvSpPr txBox="1"/>
          <p:nvPr>
            <p:ph idx="1" type="body"/>
          </p:nvPr>
        </p:nvSpPr>
        <p:spPr>
          <a:xfrm>
            <a:off x="1105450" y="1207350"/>
            <a:ext cx="6468300" cy="3881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600"/>
              <a:t>There are several characteristics of an option that are important to note:</a:t>
            </a:r>
            <a:endParaRPr sz="1600"/>
          </a:p>
          <a:p>
            <a:pPr indent="-330200" lvl="0" marL="457200" rtl="0" algn="l">
              <a:lnSpc>
                <a:spcPct val="100000"/>
              </a:lnSpc>
              <a:spcBef>
                <a:spcPts val="1600"/>
              </a:spcBef>
              <a:spcAft>
                <a:spcPts val="0"/>
              </a:spcAft>
              <a:buSzPts val="1600"/>
              <a:buChar char="●"/>
            </a:pPr>
            <a:r>
              <a:rPr lang="en" sz="1600"/>
              <a:t>Price: the price of the actual option contract</a:t>
            </a:r>
            <a:endParaRPr sz="1600"/>
          </a:p>
          <a:p>
            <a:pPr indent="-330200" lvl="0" marL="457200" rtl="0" algn="l">
              <a:lnSpc>
                <a:spcPct val="100000"/>
              </a:lnSpc>
              <a:spcBef>
                <a:spcPts val="0"/>
              </a:spcBef>
              <a:spcAft>
                <a:spcPts val="0"/>
              </a:spcAft>
              <a:buSzPts val="1600"/>
              <a:buChar char="●"/>
            </a:pPr>
            <a:r>
              <a:rPr lang="en" sz="1600"/>
              <a:t>Strike Price: the price that the trade would executed at</a:t>
            </a:r>
            <a:endParaRPr sz="1600"/>
          </a:p>
          <a:p>
            <a:pPr indent="-330200" lvl="0" marL="457200" rtl="0" algn="l">
              <a:lnSpc>
                <a:spcPct val="100000"/>
              </a:lnSpc>
              <a:spcBef>
                <a:spcPts val="0"/>
              </a:spcBef>
              <a:spcAft>
                <a:spcPts val="0"/>
              </a:spcAft>
              <a:buSzPts val="1600"/>
              <a:buChar char="●"/>
            </a:pPr>
            <a:r>
              <a:rPr lang="en" sz="1600"/>
              <a:t>Expiry Date: the last date at </a:t>
            </a:r>
            <a:r>
              <a:rPr lang="en" sz="1600"/>
              <a:t>which the option can be exercised</a:t>
            </a:r>
            <a:endParaRPr sz="1600"/>
          </a:p>
          <a:p>
            <a:pPr indent="-330200" lvl="1" marL="914400" rtl="0" algn="l">
              <a:lnSpc>
                <a:spcPct val="100000"/>
              </a:lnSpc>
              <a:spcBef>
                <a:spcPts val="0"/>
              </a:spcBef>
              <a:spcAft>
                <a:spcPts val="0"/>
              </a:spcAft>
              <a:buSzPts val="1600"/>
              <a:buChar char="○"/>
            </a:pPr>
            <a:r>
              <a:rPr lang="en" sz="1600"/>
              <a:t>Note that American options can be executed at any time </a:t>
            </a:r>
            <a:r>
              <a:rPr b="1" lang="en" sz="1600"/>
              <a:t>before or on</a:t>
            </a:r>
            <a:r>
              <a:rPr lang="en" sz="1600"/>
              <a:t> the expiry date, while European options can only be exercised </a:t>
            </a:r>
            <a:r>
              <a:rPr b="1" lang="en" sz="1600"/>
              <a:t>on</a:t>
            </a:r>
            <a:r>
              <a:rPr lang="en" sz="1600"/>
              <a:t> the expiry date</a:t>
            </a:r>
            <a:endParaRPr sz="1600"/>
          </a:p>
          <a:p>
            <a:pPr indent="0" lvl="0" marL="0" rtl="0" algn="l">
              <a:lnSpc>
                <a:spcPct val="100000"/>
              </a:lnSpc>
              <a:spcBef>
                <a:spcPts val="1600"/>
              </a:spcBef>
              <a:spcAft>
                <a:spcPts val="0"/>
              </a:spcAft>
              <a:buNone/>
            </a:pPr>
            <a:r>
              <a:rPr lang="en" sz="1600"/>
              <a:t>An important quality to note is that any single options contract is for 100 shares of the underlying stock, but the price and strike price are listed in per share numbers. For example, if an investor buys a call option on AAPL at a $150 strike price, and then exercises it, they will have to pay $15,000. Additionally, if the price of the contract itself is listed at $5.00, the investor will have had to pay $500 for the option.</a:t>
            </a:r>
            <a:endParaRPr sz="1600"/>
          </a:p>
          <a:p>
            <a:pPr indent="0" lvl="0" marL="0" rtl="0" algn="l">
              <a:lnSpc>
                <a:spcPct val="100000"/>
              </a:lnSpc>
              <a:spcBef>
                <a:spcPts val="1600"/>
              </a:spcBef>
              <a:spcAft>
                <a:spcPts val="0"/>
              </a:spcAft>
              <a:buNone/>
            </a:pPr>
            <a:r>
              <a:t/>
            </a:r>
            <a:endParaRPr sz="1600"/>
          </a:p>
          <a:p>
            <a:pPr indent="0" lvl="0" marL="0" rtl="0" algn="l">
              <a:lnSpc>
                <a:spcPct val="100000"/>
              </a:lnSpc>
              <a:spcBef>
                <a:spcPts val="1600"/>
              </a:spcBef>
              <a:spcAft>
                <a:spcPts val="1600"/>
              </a:spcAft>
              <a:buNone/>
            </a:pPr>
            <a:r>
              <a:t/>
            </a:r>
            <a:endParaRPr sz="1600"/>
          </a:p>
        </p:txBody>
      </p:sp>
      <p:pic>
        <p:nvPicPr>
          <p:cNvPr id="302" name="Google Shape;302;p34"/>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Option</a:t>
            </a:r>
            <a:r>
              <a:rPr lang="en"/>
              <a:t> Chain</a:t>
            </a:r>
            <a:endParaRPr/>
          </a:p>
        </p:txBody>
      </p:sp>
      <p:sp>
        <p:nvSpPr>
          <p:cNvPr id="308" name="Google Shape;308;p3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309" name="Google Shape;309;p35"/>
          <p:cNvPicPr preferRelativeResize="0"/>
          <p:nvPr/>
        </p:nvPicPr>
        <p:blipFill>
          <a:blip r:embed="rId3">
            <a:alphaModFix/>
          </a:blip>
          <a:stretch>
            <a:fillRect/>
          </a:stretch>
        </p:blipFill>
        <p:spPr>
          <a:xfrm>
            <a:off x="0" y="1147963"/>
            <a:ext cx="9144003" cy="333077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Money vs Out of the Money</a:t>
            </a:r>
            <a:endParaRPr/>
          </a:p>
        </p:txBody>
      </p:sp>
      <p:sp>
        <p:nvSpPr>
          <p:cNvPr id="315" name="Google Shape;315;p36"/>
          <p:cNvSpPr txBox="1"/>
          <p:nvPr>
            <p:ph idx="1" type="body"/>
          </p:nvPr>
        </p:nvSpPr>
        <p:spPr>
          <a:xfrm>
            <a:off x="1105450" y="1207350"/>
            <a:ext cx="6468300" cy="388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When looking at a particular set of options, we can divide them into those that are In The Money (ITM) and those that are Out of the Money (OTM). These indicate whether or not the stock has inherent value right now.</a:t>
            </a:r>
            <a:endParaRPr sz="1600"/>
          </a:p>
          <a:p>
            <a:pPr indent="0" lvl="0" marL="0" rtl="0" algn="l">
              <a:spcBef>
                <a:spcPts val="1600"/>
              </a:spcBef>
              <a:spcAft>
                <a:spcPts val="0"/>
              </a:spcAft>
              <a:buNone/>
            </a:pPr>
            <a:r>
              <a:rPr lang="en" sz="1600"/>
              <a:t>ITM calls are calls that have strikes below the current price of the asset. If we have an ITM call, say for example, a $100 strike call on AAPL while it’s trading at $125, we can execute immediately and make profit. Similarly, ITM puts are puts that have strikes above the current price.</a:t>
            </a:r>
            <a:endParaRPr sz="1600"/>
          </a:p>
          <a:p>
            <a:pPr indent="0" lvl="0" marL="0" rtl="0" algn="l">
              <a:spcBef>
                <a:spcPts val="1600"/>
              </a:spcBef>
              <a:spcAft>
                <a:spcPts val="1600"/>
              </a:spcAft>
              <a:buNone/>
            </a:pPr>
            <a:r>
              <a:rPr lang="en" sz="1600"/>
              <a:t>OTM calls have strikes above the current price of the asset, and would result in lost money if executed. Similarly, OTM puts </a:t>
            </a:r>
            <a:r>
              <a:rPr lang="en" sz="1600"/>
              <a:t>have</a:t>
            </a:r>
            <a:r>
              <a:rPr lang="en" sz="1600"/>
              <a:t> strikes below the current price.</a:t>
            </a:r>
            <a:endParaRPr sz="1600"/>
          </a:p>
        </p:txBody>
      </p:sp>
      <p:pic>
        <p:nvPicPr>
          <p:cNvPr id="316" name="Google Shape;316;p36"/>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7"/>
          <p:cNvSpPr txBox="1"/>
          <p:nvPr>
            <p:ph type="title"/>
          </p:nvPr>
        </p:nvSpPr>
        <p:spPr>
          <a:xfrm>
            <a:off x="823850" y="2053000"/>
            <a:ext cx="53499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Greek Values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are the Greeks? </a:t>
            </a:r>
            <a:endParaRPr/>
          </a:p>
        </p:txBody>
      </p:sp>
      <p:sp>
        <p:nvSpPr>
          <p:cNvPr id="327" name="Google Shape;327;p38"/>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The Greek values are metrics that are used to determine the performance of options in relation to their underlying asset. </a:t>
            </a:r>
            <a:endParaRPr sz="1600"/>
          </a:p>
          <a:p>
            <a:pPr indent="0" lvl="0" marL="0" rtl="0" algn="l">
              <a:spcBef>
                <a:spcPts val="1600"/>
              </a:spcBef>
              <a:spcAft>
                <a:spcPts val="0"/>
              </a:spcAft>
              <a:buNone/>
            </a:pPr>
            <a:r>
              <a:rPr lang="en" sz="1600"/>
              <a:t>These are the first partial derivatives of various factors influencing the asset value.</a:t>
            </a:r>
            <a:endParaRPr sz="1600"/>
          </a:p>
          <a:p>
            <a:pPr indent="0" lvl="0" marL="0" rtl="0" algn="l">
              <a:spcBef>
                <a:spcPts val="1600"/>
              </a:spcBef>
              <a:spcAft>
                <a:spcPts val="0"/>
              </a:spcAft>
              <a:buNone/>
            </a:pPr>
            <a:r>
              <a:rPr lang="en" sz="1600"/>
              <a:t>The primary greek values are: </a:t>
            </a:r>
            <a:endParaRPr sz="1600"/>
          </a:p>
          <a:p>
            <a:pPr indent="0" lvl="0" marL="0" rtl="0" algn="l">
              <a:spcBef>
                <a:spcPts val="1600"/>
              </a:spcBef>
              <a:spcAft>
                <a:spcPts val="0"/>
              </a:spcAft>
              <a:buNone/>
            </a:pPr>
            <a:r>
              <a:rPr b="1" lang="en"/>
              <a:t>Delta Δ, Theta Θ, Gamma Γ, Vega v, and Rho ⍴</a:t>
            </a:r>
            <a:endParaRPr/>
          </a:p>
          <a:p>
            <a:pPr indent="0" lvl="0" marL="0" rtl="0" algn="l">
              <a:spcBef>
                <a:spcPts val="1600"/>
              </a:spcBef>
              <a:spcAft>
                <a:spcPts val="0"/>
              </a:spcAft>
              <a:buNone/>
            </a:pPr>
            <a:r>
              <a:rPr lang="en"/>
              <a:t>Note: </a:t>
            </a:r>
            <a:r>
              <a:rPr b="1" lang="en"/>
              <a:t>Beta </a:t>
            </a:r>
            <a:r>
              <a:rPr lang="en"/>
              <a:t>is not included here.</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sz="16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1" name="Shape 331"/>
        <p:cNvGrpSpPr/>
        <p:nvPr/>
      </p:nvGrpSpPr>
      <p:grpSpPr>
        <a:xfrm>
          <a:off x="0" y="0"/>
          <a:ext cx="0" cy="0"/>
          <a:chOff x="0" y="0"/>
          <a:chExt cx="0" cy="0"/>
        </a:xfrm>
      </p:grpSpPr>
      <p:sp>
        <p:nvSpPr>
          <p:cNvPr id="332" name="Google Shape;332;p3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Greek Values</a:t>
            </a:r>
            <a:endParaRPr/>
          </a:p>
        </p:txBody>
      </p:sp>
      <p:sp>
        <p:nvSpPr>
          <p:cNvPr id="333" name="Google Shape;333;p3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Delta Δ</a:t>
            </a:r>
            <a:endParaRPr b="1"/>
          </a:p>
          <a:p>
            <a:pPr indent="0" lvl="0" marL="0" rtl="0" algn="l">
              <a:spcBef>
                <a:spcPts val="1600"/>
              </a:spcBef>
              <a:spcAft>
                <a:spcPts val="0"/>
              </a:spcAft>
              <a:buNone/>
            </a:pPr>
            <a:r>
              <a:rPr b="1" lang="en"/>
              <a:t>Theta Θ</a:t>
            </a:r>
            <a:endParaRPr b="1"/>
          </a:p>
          <a:p>
            <a:pPr indent="0" lvl="0" marL="0" rtl="0" algn="l">
              <a:spcBef>
                <a:spcPts val="1600"/>
              </a:spcBef>
              <a:spcAft>
                <a:spcPts val="0"/>
              </a:spcAft>
              <a:buNone/>
            </a:pPr>
            <a:r>
              <a:rPr b="1" lang="en"/>
              <a:t>Gamma Γ</a:t>
            </a:r>
            <a:endParaRPr b="1"/>
          </a:p>
          <a:p>
            <a:pPr indent="0" lvl="0" marL="0" rtl="0" algn="l">
              <a:spcBef>
                <a:spcPts val="1600"/>
              </a:spcBef>
              <a:spcAft>
                <a:spcPts val="0"/>
              </a:spcAft>
              <a:buNone/>
            </a:pPr>
            <a:r>
              <a:rPr b="1" lang="en"/>
              <a:t>Vega v</a:t>
            </a:r>
            <a:endParaRPr b="1"/>
          </a:p>
          <a:p>
            <a:pPr indent="0" lvl="0" marL="0" rtl="0" algn="l">
              <a:spcBef>
                <a:spcPts val="1600"/>
              </a:spcBef>
              <a:spcAft>
                <a:spcPts val="0"/>
              </a:spcAft>
              <a:buNone/>
            </a:pPr>
            <a:r>
              <a:rPr b="1" lang="en"/>
              <a:t>Rho ⍴</a:t>
            </a:r>
            <a:endParaRPr b="1"/>
          </a:p>
          <a:p>
            <a:pPr indent="0" lvl="0" marL="0" rtl="0" algn="l">
              <a:spcBef>
                <a:spcPts val="1600"/>
              </a:spcBef>
              <a:spcAft>
                <a:spcPts val="0"/>
              </a:spcAft>
              <a:buNone/>
            </a:pPr>
            <a:r>
              <a:t/>
            </a:r>
            <a:endParaRPr/>
          </a:p>
          <a:p>
            <a:pPr indent="0" lvl="0" marL="0" rtl="0" algn="l">
              <a:spcBef>
                <a:spcPts val="1600"/>
              </a:spcBef>
              <a:spcAft>
                <a:spcPts val="1600"/>
              </a:spcAft>
              <a:buNone/>
            </a:pPr>
            <a:r>
              <a:rPr lang="en"/>
              <a:t>Note: </a:t>
            </a:r>
            <a:r>
              <a:rPr b="1" lang="en"/>
              <a:t>Beta </a:t>
            </a:r>
            <a:r>
              <a:rPr lang="en"/>
              <a:t>is not included here.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Beta β (not a Greek)</a:t>
            </a:r>
            <a:endParaRPr/>
          </a:p>
        </p:txBody>
      </p:sp>
      <p:sp>
        <p:nvSpPr>
          <p:cNvPr id="339" name="Google Shape;339;p40"/>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Even though Beta is a greek letter, it is not considered a greek. </a:t>
            </a:r>
            <a:endParaRPr sz="1600"/>
          </a:p>
          <a:p>
            <a:pPr indent="0" lvl="0" marL="0" rtl="0" algn="l">
              <a:spcBef>
                <a:spcPts val="1600"/>
              </a:spcBef>
              <a:spcAft>
                <a:spcPts val="0"/>
              </a:spcAft>
              <a:buNone/>
            </a:pPr>
            <a:r>
              <a:rPr lang="en" sz="1600"/>
              <a:t>It doesn’t represent a partial derivative of the underlying asset like the other values do.</a:t>
            </a:r>
            <a:endParaRPr sz="1600"/>
          </a:p>
          <a:p>
            <a:pPr indent="0" lvl="0" marL="0" rtl="0" algn="l">
              <a:spcBef>
                <a:spcPts val="1600"/>
              </a:spcBef>
              <a:spcAft>
                <a:spcPts val="0"/>
              </a:spcAft>
              <a:buNone/>
            </a:pPr>
            <a:r>
              <a:rPr lang="en" sz="1600"/>
              <a:t>Beta represents the volatility of an asset compared to the rest of the market.</a:t>
            </a:r>
            <a:endParaRPr sz="1600"/>
          </a:p>
          <a:p>
            <a:pPr indent="0" lvl="0" marL="0" rtl="0" algn="l">
              <a:spcBef>
                <a:spcPts val="1600"/>
              </a:spcBef>
              <a:spcAft>
                <a:spcPts val="0"/>
              </a:spcAft>
              <a:buNone/>
            </a:pPr>
            <a:r>
              <a:rPr lang="en" sz="1600"/>
              <a:t>In terms of statistics, this is very similar to variance but is normalized to the market as a whole</a:t>
            </a:r>
            <a:endParaRPr sz="1600"/>
          </a:p>
          <a:p>
            <a:pPr indent="0" lvl="0" marL="0" rtl="0" algn="l">
              <a:spcBef>
                <a:spcPts val="1600"/>
              </a:spcBef>
              <a:spcAft>
                <a:spcPts val="0"/>
              </a:spcAft>
              <a:buNone/>
            </a:pPr>
            <a:r>
              <a:rPr lang="en" sz="1600"/>
              <a:t>A beta of greater than 1 means the asset is more volatile than the market</a:t>
            </a:r>
            <a:endParaRPr sz="1600"/>
          </a:p>
          <a:p>
            <a:pPr indent="0" lvl="0" marL="0" rtl="0" algn="l">
              <a:spcBef>
                <a:spcPts val="0"/>
              </a:spcBef>
              <a:spcAft>
                <a:spcPts val="1600"/>
              </a:spcAft>
              <a:buNone/>
            </a:pPr>
            <a:r>
              <a:rPr lang="en" sz="1600"/>
              <a:t>A beta of less than 1 means the asset is less volatile than the market</a:t>
            </a:r>
            <a:endParaRPr sz="1600"/>
          </a:p>
        </p:txBody>
      </p:sp>
      <p:pic>
        <p:nvPicPr>
          <p:cNvPr id="340" name="Google Shape;340;p40"/>
          <p:cNvPicPr preferRelativeResize="0"/>
          <p:nvPr/>
        </p:nvPicPr>
        <p:blipFill>
          <a:blip r:embed="rId3">
            <a:alphaModFix/>
          </a:blip>
          <a:stretch>
            <a:fillRect/>
          </a:stretch>
        </p:blipFill>
        <p:spPr>
          <a:xfrm>
            <a:off x="4873250" y="791452"/>
            <a:ext cx="4150875" cy="712150"/>
          </a:xfrm>
          <a:prstGeom prst="rect">
            <a:avLst/>
          </a:prstGeom>
          <a:noFill/>
          <a:ln cap="flat" cmpd="sng" w="28575">
            <a:solidFill>
              <a:schemeClr val="lt2"/>
            </a:solidFill>
            <a:prstDash val="solid"/>
            <a:round/>
            <a:headEnd len="sm" w="sm" type="none"/>
            <a:tailEnd len="sm" w="sm" type="none"/>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Look at NVDA’s Beta</a:t>
            </a:r>
            <a:endParaRPr/>
          </a:p>
        </p:txBody>
      </p:sp>
      <p:sp>
        <p:nvSpPr>
          <p:cNvPr id="346" name="Google Shape;346;p41"/>
          <p:cNvSpPr txBox="1"/>
          <p:nvPr>
            <p:ph idx="1" type="body"/>
          </p:nvPr>
        </p:nvSpPr>
        <p:spPr>
          <a:xfrm>
            <a:off x="463725"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Beta is 1.68</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Means that NVDA is more</a:t>
            </a:r>
            <a:endParaRPr/>
          </a:p>
          <a:p>
            <a:pPr indent="0" lvl="0" marL="0" rtl="0" algn="l">
              <a:spcBef>
                <a:spcPts val="0"/>
              </a:spcBef>
              <a:spcAft>
                <a:spcPts val="0"/>
              </a:spcAft>
              <a:buNone/>
            </a:pPr>
            <a:r>
              <a:rPr lang="en"/>
              <a:t>volatile than the market, about </a:t>
            </a:r>
            <a:endParaRPr/>
          </a:p>
          <a:p>
            <a:pPr indent="0" lvl="0" marL="0" rtl="0" algn="l">
              <a:spcBef>
                <a:spcPts val="0"/>
              </a:spcBef>
              <a:spcAft>
                <a:spcPts val="1600"/>
              </a:spcAft>
              <a:buNone/>
            </a:pPr>
            <a:r>
              <a:rPr lang="en"/>
              <a:t>1.68x more volatile</a:t>
            </a:r>
            <a:endParaRPr/>
          </a:p>
        </p:txBody>
      </p:sp>
      <p:pic>
        <p:nvPicPr>
          <p:cNvPr id="347" name="Google Shape;347;p41"/>
          <p:cNvPicPr preferRelativeResize="0"/>
          <p:nvPr/>
        </p:nvPicPr>
        <p:blipFill>
          <a:blip r:embed="rId3">
            <a:alphaModFix/>
          </a:blip>
          <a:stretch>
            <a:fillRect/>
          </a:stretch>
        </p:blipFill>
        <p:spPr>
          <a:xfrm>
            <a:off x="3191524" y="1496075"/>
            <a:ext cx="5144875" cy="3054150"/>
          </a:xfrm>
          <a:prstGeom prst="rect">
            <a:avLst/>
          </a:prstGeom>
          <a:noFill/>
          <a:ln>
            <a:noFill/>
          </a:ln>
        </p:spPr>
      </p:pic>
      <p:sp>
        <p:nvSpPr>
          <p:cNvPr id="348" name="Google Shape;348;p41"/>
          <p:cNvSpPr/>
          <p:nvPr/>
        </p:nvSpPr>
        <p:spPr>
          <a:xfrm>
            <a:off x="5361950" y="3122400"/>
            <a:ext cx="454800" cy="249000"/>
          </a:xfrm>
          <a:prstGeom prst="roundRect">
            <a:avLst>
              <a:gd fmla="val 50000"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Delta Δ</a:t>
            </a:r>
            <a:endParaRPr/>
          </a:p>
        </p:txBody>
      </p:sp>
      <p:sp>
        <p:nvSpPr>
          <p:cNvPr id="354" name="Google Shape;354;p42"/>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Estimates the change in price of the derivative/option based on a $1 move in the price of the underlying asset</a:t>
            </a:r>
            <a:endParaRPr/>
          </a:p>
          <a:p>
            <a:pPr indent="0" lvl="0" marL="0" rtl="0" algn="l">
              <a:spcBef>
                <a:spcPts val="1600"/>
              </a:spcBef>
              <a:spcAft>
                <a:spcPts val="0"/>
              </a:spcAft>
              <a:buNone/>
            </a:pPr>
            <a:r>
              <a:rPr lang="en"/>
              <a:t>This value is typically not above 1.0</a:t>
            </a:r>
            <a:endParaRPr/>
          </a:p>
          <a:p>
            <a:pPr indent="0" lvl="0" marL="0" rtl="0" algn="l">
              <a:spcBef>
                <a:spcPts val="1600"/>
              </a:spcBef>
              <a:spcAft>
                <a:spcPts val="0"/>
              </a:spcAft>
              <a:buNone/>
            </a:pPr>
            <a:r>
              <a:rPr lang="en"/>
              <a:t>Example,</a:t>
            </a:r>
            <a:endParaRPr/>
          </a:p>
          <a:p>
            <a:pPr indent="0" lvl="0" marL="0" rtl="0" algn="l">
              <a:spcBef>
                <a:spcPts val="1600"/>
              </a:spcBef>
              <a:spcAft>
                <a:spcPts val="0"/>
              </a:spcAft>
              <a:buNone/>
            </a:pPr>
            <a:r>
              <a:rPr lang="en"/>
              <a:t>A stock price </a:t>
            </a:r>
            <a:r>
              <a:rPr lang="en"/>
              <a:t>increases</a:t>
            </a:r>
            <a:r>
              <a:rPr lang="en"/>
              <a:t> by $2.</a:t>
            </a:r>
            <a:endParaRPr/>
          </a:p>
          <a:p>
            <a:pPr indent="0" lvl="0" marL="0" rtl="0" algn="l">
              <a:spcBef>
                <a:spcPts val="1600"/>
              </a:spcBef>
              <a:spcAft>
                <a:spcPts val="0"/>
              </a:spcAft>
              <a:buNone/>
            </a:pPr>
            <a:r>
              <a:rPr lang="en"/>
              <a:t>A call option with a strike price of $80 </a:t>
            </a:r>
            <a:r>
              <a:rPr lang="en"/>
              <a:t>that</a:t>
            </a:r>
            <a:r>
              <a:rPr lang="en"/>
              <a:t> is currently trading at $20 has a delta of 0.8 	  What will the new price of this be?</a:t>
            </a:r>
            <a:endParaRPr/>
          </a:p>
          <a:p>
            <a:pPr indent="0" lvl="0" marL="0" rtl="0" algn="l">
              <a:spcBef>
                <a:spcPts val="1600"/>
              </a:spcBef>
              <a:spcAft>
                <a:spcPts val="1600"/>
              </a:spcAft>
              <a:buNone/>
            </a:pPr>
            <a:r>
              <a:rPr lang="en"/>
              <a:t>$21.60</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43"/>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361" name="Google Shape;361;p43"/>
          <p:cNvPicPr preferRelativeResize="0"/>
          <p:nvPr/>
        </p:nvPicPr>
        <p:blipFill>
          <a:blip r:embed="rId3">
            <a:alphaModFix/>
          </a:blip>
          <a:stretch>
            <a:fillRect/>
          </a:stretch>
        </p:blipFill>
        <p:spPr>
          <a:xfrm>
            <a:off x="0" y="906363"/>
            <a:ext cx="9144003" cy="333077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Theta Θ</a:t>
            </a:r>
            <a:endParaRPr/>
          </a:p>
        </p:txBody>
      </p:sp>
      <p:sp>
        <p:nvSpPr>
          <p:cNvPr id="367" name="Google Shape;367;p4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Estimates the rate of change between price and time</a:t>
            </a:r>
            <a:endParaRPr sz="1600"/>
          </a:p>
          <a:p>
            <a:pPr indent="0" lvl="0" marL="0" rtl="0" algn="l">
              <a:spcBef>
                <a:spcPts val="1600"/>
              </a:spcBef>
              <a:spcAft>
                <a:spcPts val="0"/>
              </a:spcAft>
              <a:buNone/>
            </a:pPr>
            <a:r>
              <a:rPr lang="en"/>
              <a:t>Value will get larger as the option gets closer to date of expiration</a:t>
            </a:r>
            <a:endParaRPr/>
          </a:p>
          <a:p>
            <a:pPr indent="0" lvl="0" marL="0" rtl="0" algn="l">
              <a:spcBef>
                <a:spcPts val="1600"/>
              </a:spcBef>
              <a:spcAft>
                <a:spcPts val="0"/>
              </a:spcAft>
              <a:buNone/>
            </a:pPr>
            <a:r>
              <a:rPr lang="en"/>
              <a:t>In-the-money options will have a positive theta value, out of the money options will be </a:t>
            </a:r>
            <a:r>
              <a:rPr lang="en"/>
              <a:t>negative</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Example,</a:t>
            </a:r>
            <a:endParaRPr/>
          </a:p>
          <a:p>
            <a:pPr indent="0" lvl="0" marL="0" rtl="0" algn="l">
              <a:spcBef>
                <a:spcPts val="1600"/>
              </a:spcBef>
              <a:spcAft>
                <a:spcPts val="0"/>
              </a:spcAft>
              <a:buNone/>
            </a:pPr>
            <a:r>
              <a:rPr lang="en"/>
              <a:t>A theta value is -0.5</a:t>
            </a:r>
            <a:endParaRPr/>
          </a:p>
          <a:p>
            <a:pPr indent="0" lvl="0" marL="0" rtl="0" algn="l">
              <a:spcBef>
                <a:spcPts val="1600"/>
              </a:spcBef>
              <a:spcAft>
                <a:spcPts val="1600"/>
              </a:spcAft>
              <a:buNone/>
            </a:pPr>
            <a:r>
              <a:rPr lang="en"/>
              <a:t>This means that  for every day that passes, the price of the option will go down by $0.50</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Last 3 values next week…</a:t>
            </a:r>
            <a:endParaRPr/>
          </a:p>
        </p:txBody>
      </p:sp>
      <p:sp>
        <p:nvSpPr>
          <p:cNvPr id="373" name="Google Shape;373;p4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7" name="Shape 377"/>
        <p:cNvGrpSpPr/>
        <p:nvPr/>
      </p:nvGrpSpPr>
      <p:grpSpPr>
        <a:xfrm>
          <a:off x="0" y="0"/>
          <a:ext cx="0" cy="0"/>
          <a:chOff x="0" y="0"/>
          <a:chExt cx="0" cy="0"/>
        </a:xfrm>
      </p:grpSpPr>
      <p:sp>
        <p:nvSpPr>
          <p:cNvPr id="378" name="Google Shape;378;p4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Gamma Γ</a:t>
            </a:r>
            <a:endParaRPr/>
          </a:p>
        </p:txBody>
      </p:sp>
      <p:sp>
        <p:nvSpPr>
          <p:cNvPr id="379" name="Google Shape;379;p46"/>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3" name="Shape 383"/>
        <p:cNvGrpSpPr/>
        <p:nvPr/>
      </p:nvGrpSpPr>
      <p:grpSpPr>
        <a:xfrm>
          <a:off x="0" y="0"/>
          <a:ext cx="0" cy="0"/>
          <a:chOff x="0" y="0"/>
          <a:chExt cx="0" cy="0"/>
        </a:xfrm>
      </p:grpSpPr>
      <p:sp>
        <p:nvSpPr>
          <p:cNvPr id="384" name="Google Shape;384;p4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Vega v</a:t>
            </a:r>
            <a:endParaRPr/>
          </a:p>
        </p:txBody>
      </p:sp>
      <p:sp>
        <p:nvSpPr>
          <p:cNvPr id="385" name="Google Shape;385;p47"/>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9" name="Shape 389"/>
        <p:cNvGrpSpPr/>
        <p:nvPr/>
      </p:nvGrpSpPr>
      <p:grpSpPr>
        <a:xfrm>
          <a:off x="0" y="0"/>
          <a:ext cx="0" cy="0"/>
          <a:chOff x="0" y="0"/>
          <a:chExt cx="0" cy="0"/>
        </a:xfrm>
      </p:grpSpPr>
      <p:sp>
        <p:nvSpPr>
          <p:cNvPr id="390" name="Google Shape;390;p4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Rho ⍴</a:t>
            </a:r>
            <a:endParaRPr/>
          </a:p>
        </p:txBody>
      </p:sp>
      <p:sp>
        <p:nvSpPr>
          <p:cNvPr id="391" name="Google Shape;391;p48"/>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5" name="Shape 395"/>
        <p:cNvGrpSpPr/>
        <p:nvPr/>
      </p:nvGrpSpPr>
      <p:grpSpPr>
        <a:xfrm>
          <a:off x="0" y="0"/>
          <a:ext cx="0" cy="0"/>
          <a:chOff x="0" y="0"/>
          <a:chExt cx="0" cy="0"/>
        </a:xfrm>
      </p:grpSpPr>
      <p:sp>
        <p:nvSpPr>
          <p:cNvPr id="396" name="Google Shape;396;p4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Other Lesser Known Greeks</a:t>
            </a:r>
            <a:endParaRPr/>
          </a:p>
        </p:txBody>
      </p:sp>
      <p:sp>
        <p:nvSpPr>
          <p:cNvPr id="397" name="Google Shape;397;p4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 Lambda, Epsilon, Vomma, Vera, Zomma, and Ultima</a:t>
            </a:r>
            <a:endParaRPr sz="1600"/>
          </a:p>
          <a:p>
            <a:pPr indent="-330200" lvl="0" marL="457200" rtl="0" algn="l">
              <a:spcBef>
                <a:spcPts val="1600"/>
              </a:spcBef>
              <a:spcAft>
                <a:spcPts val="0"/>
              </a:spcAft>
              <a:buSzPts val="1600"/>
              <a:buChar char="●"/>
            </a:pPr>
            <a:r>
              <a:rPr lang="en" sz="1600"/>
              <a:t>These are second and third derivatives of the other greeks we have talked about</a:t>
            </a:r>
            <a:endParaRPr sz="1600"/>
          </a:p>
          <a:p>
            <a:pPr indent="-330200" lvl="0" marL="457200" rtl="0" algn="l">
              <a:spcBef>
                <a:spcPts val="0"/>
              </a:spcBef>
              <a:spcAft>
                <a:spcPts val="0"/>
              </a:spcAft>
              <a:buSzPts val="1600"/>
              <a:buChar char="●"/>
            </a:pPr>
            <a:r>
              <a:rPr lang="en" sz="1600"/>
              <a:t>These trends can also be seen by those with a keen eye by looking at the main Greeks, but are explicitly calculated and named to be these variables</a:t>
            </a:r>
            <a:endParaRPr sz="1600"/>
          </a:p>
          <a:p>
            <a:pPr indent="-330200" lvl="0" marL="457200" rtl="0" algn="l">
              <a:spcBef>
                <a:spcPts val="0"/>
              </a:spcBef>
              <a:spcAft>
                <a:spcPts val="0"/>
              </a:spcAft>
              <a:buSzPts val="1600"/>
              <a:buChar char="●"/>
            </a:pPr>
            <a:r>
              <a:rPr lang="en" sz="1600"/>
              <a:t>Becoming increasingly more important in large algorithms because </a:t>
            </a:r>
            <a:r>
              <a:rPr lang="en" sz="1600"/>
              <a:t>they are relatively easy to compute and can show hidden patterns</a:t>
            </a:r>
            <a:endParaRPr sz="16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Buying on the margin</a:t>
            </a:r>
            <a:endParaRPr/>
          </a:p>
          <a:p>
            <a:pPr indent="0" lvl="0" marL="0" rtl="0" algn="l">
              <a:spcBef>
                <a:spcPts val="0"/>
              </a:spcBef>
              <a:spcAft>
                <a:spcPts val="0"/>
              </a:spcAft>
              <a:buNone/>
            </a:pPr>
            <a:r>
              <a:rPr lang="en"/>
              <a:t>Buying 1000 shares at $40</a:t>
            </a:r>
            <a:endParaRPr/>
          </a:p>
          <a:p>
            <a:pPr indent="0" lvl="0" marL="0" rtl="0" algn="l">
              <a:spcBef>
                <a:spcPts val="0"/>
              </a:spcBef>
              <a:spcAft>
                <a:spcPts val="0"/>
              </a:spcAft>
              <a:buNone/>
            </a:pPr>
            <a:r>
              <a:rPr lang="en" sz="1300"/>
              <a:t>You have $20k, so you must borrow the rest. </a:t>
            </a:r>
            <a:endParaRPr sz="1300"/>
          </a:p>
          <a:p>
            <a:pPr indent="0" lvl="0" marL="0" rtl="0" algn="l">
              <a:spcBef>
                <a:spcPts val="0"/>
              </a:spcBef>
              <a:spcAft>
                <a:spcPts val="0"/>
              </a:spcAft>
              <a:buNone/>
            </a:pPr>
            <a:r>
              <a:rPr lang="en" sz="1300"/>
              <a:t>Your margin is equity/stock value, this situation is 50% margin, or also 2x leverage</a:t>
            </a:r>
            <a:endParaRPr sz="1300"/>
          </a:p>
        </p:txBody>
      </p:sp>
      <p:sp>
        <p:nvSpPr>
          <p:cNvPr id="403" name="Google Shape;403;p50"/>
          <p:cNvSpPr txBox="1"/>
          <p:nvPr>
            <p:ph idx="1" type="body"/>
          </p:nvPr>
        </p:nvSpPr>
        <p:spPr>
          <a:xfrm>
            <a:off x="1297475" y="2451725"/>
            <a:ext cx="3403200" cy="2484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$40,000 (1000*$40)</a:t>
            </a:r>
            <a:endParaRPr/>
          </a:p>
        </p:txBody>
      </p:sp>
      <p:sp>
        <p:nvSpPr>
          <p:cNvPr id="404" name="Google Shape;404;p50"/>
          <p:cNvSpPr txBox="1"/>
          <p:nvPr>
            <p:ph idx="2" type="body"/>
          </p:nvPr>
        </p:nvSpPr>
        <p:spPr>
          <a:xfrm>
            <a:off x="4933200" y="2451650"/>
            <a:ext cx="3403200" cy="248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$20,000 Loan</a:t>
            </a:r>
            <a:endParaRPr/>
          </a:p>
          <a:p>
            <a:pPr indent="0" lvl="0" marL="0" rtl="0" algn="l">
              <a:spcBef>
                <a:spcPts val="1600"/>
              </a:spcBef>
              <a:spcAft>
                <a:spcPts val="1600"/>
              </a:spcAft>
              <a:buNone/>
            </a:pPr>
            <a:r>
              <a:rPr lang="en"/>
              <a:t>$20,000 Equity</a:t>
            </a:r>
            <a:endParaRPr/>
          </a:p>
        </p:txBody>
      </p:sp>
      <p:sp>
        <p:nvSpPr>
          <p:cNvPr id="405" name="Google Shape;405;p50"/>
          <p:cNvSpPr txBox="1"/>
          <p:nvPr/>
        </p:nvSpPr>
        <p:spPr>
          <a:xfrm>
            <a:off x="1297475" y="2024750"/>
            <a:ext cx="340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Assets</a:t>
            </a:r>
            <a:endParaRPr sz="1300">
              <a:solidFill>
                <a:schemeClr val="lt1"/>
              </a:solidFill>
              <a:latin typeface="Lato"/>
              <a:ea typeface="Lato"/>
              <a:cs typeface="Lato"/>
              <a:sym typeface="Lato"/>
            </a:endParaRPr>
          </a:p>
        </p:txBody>
      </p:sp>
      <p:cxnSp>
        <p:nvCxnSpPr>
          <p:cNvPr id="406" name="Google Shape;406;p50"/>
          <p:cNvCxnSpPr/>
          <p:nvPr/>
        </p:nvCxnSpPr>
        <p:spPr>
          <a:xfrm rot="10800000">
            <a:off x="4802475" y="1985150"/>
            <a:ext cx="0" cy="3486000"/>
          </a:xfrm>
          <a:prstGeom prst="straightConnector1">
            <a:avLst/>
          </a:prstGeom>
          <a:noFill/>
          <a:ln cap="flat" cmpd="sng" w="28575">
            <a:solidFill>
              <a:schemeClr val="lt1"/>
            </a:solidFill>
            <a:prstDash val="solid"/>
            <a:round/>
            <a:headEnd len="med" w="med" type="none"/>
            <a:tailEnd len="med" w="med" type="none"/>
          </a:ln>
        </p:spPr>
      </p:cxnSp>
      <p:cxnSp>
        <p:nvCxnSpPr>
          <p:cNvPr id="407" name="Google Shape;407;p50"/>
          <p:cNvCxnSpPr/>
          <p:nvPr/>
        </p:nvCxnSpPr>
        <p:spPr>
          <a:xfrm>
            <a:off x="1087725" y="2413625"/>
            <a:ext cx="7105800" cy="0"/>
          </a:xfrm>
          <a:prstGeom prst="straightConnector1">
            <a:avLst/>
          </a:prstGeom>
          <a:noFill/>
          <a:ln cap="flat" cmpd="sng" w="28575">
            <a:solidFill>
              <a:schemeClr val="lt1"/>
            </a:solidFill>
            <a:prstDash val="solid"/>
            <a:round/>
            <a:headEnd len="med" w="med" type="none"/>
            <a:tailEnd len="med" w="med" type="none"/>
          </a:ln>
        </p:spPr>
      </p:cxnSp>
      <p:sp>
        <p:nvSpPr>
          <p:cNvPr id="408" name="Google Shape;408;p50"/>
          <p:cNvSpPr txBox="1"/>
          <p:nvPr/>
        </p:nvSpPr>
        <p:spPr>
          <a:xfrm>
            <a:off x="4904275" y="1990700"/>
            <a:ext cx="340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Liabilities + Equity</a:t>
            </a:r>
            <a:endParaRPr sz="1300">
              <a:solidFill>
                <a:schemeClr val="lt1"/>
              </a:solidFill>
              <a:latin typeface="Lato"/>
              <a:ea typeface="Lato"/>
              <a:cs typeface="Lato"/>
              <a:sym typeface="La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Buying on the margin</a:t>
            </a:r>
            <a:endParaRPr/>
          </a:p>
          <a:p>
            <a:pPr indent="0" lvl="0" marL="0" rtl="0" algn="l">
              <a:spcBef>
                <a:spcPts val="0"/>
              </a:spcBef>
              <a:spcAft>
                <a:spcPts val="0"/>
              </a:spcAft>
              <a:buNone/>
            </a:pPr>
            <a:r>
              <a:rPr lang="en"/>
              <a:t>Price goes </a:t>
            </a:r>
            <a:r>
              <a:rPr lang="en"/>
              <a:t>to $50</a:t>
            </a:r>
            <a:endParaRPr/>
          </a:p>
          <a:p>
            <a:pPr indent="0" lvl="0" marL="0" rtl="0" algn="l">
              <a:spcBef>
                <a:spcPts val="0"/>
              </a:spcBef>
              <a:spcAft>
                <a:spcPts val="0"/>
              </a:spcAft>
              <a:buNone/>
            </a:pPr>
            <a:r>
              <a:rPr lang="en" sz="1300"/>
              <a:t>Margin of equity to assets has dropped to  0.33</a:t>
            </a:r>
            <a:endParaRPr sz="1300"/>
          </a:p>
          <a:p>
            <a:pPr indent="0" lvl="0" marL="0" rtl="0" algn="l">
              <a:spcBef>
                <a:spcPts val="0"/>
              </a:spcBef>
              <a:spcAft>
                <a:spcPts val="0"/>
              </a:spcAft>
              <a:buNone/>
            </a:pPr>
            <a:r>
              <a:rPr lang="en" sz="1300"/>
              <a:t>Usually a minimum margin exists. If it’s hit, you will be forced to sell</a:t>
            </a:r>
            <a:endParaRPr sz="1300"/>
          </a:p>
        </p:txBody>
      </p:sp>
      <p:sp>
        <p:nvSpPr>
          <p:cNvPr id="414" name="Google Shape;414;p51"/>
          <p:cNvSpPr txBox="1"/>
          <p:nvPr>
            <p:ph idx="1" type="body"/>
          </p:nvPr>
        </p:nvSpPr>
        <p:spPr>
          <a:xfrm>
            <a:off x="1297475" y="2451725"/>
            <a:ext cx="3403200" cy="2484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$50,000 (1000*$50)</a:t>
            </a:r>
            <a:endParaRPr/>
          </a:p>
        </p:txBody>
      </p:sp>
      <p:sp>
        <p:nvSpPr>
          <p:cNvPr id="415" name="Google Shape;415;p51"/>
          <p:cNvSpPr txBox="1"/>
          <p:nvPr>
            <p:ph idx="2" type="body"/>
          </p:nvPr>
        </p:nvSpPr>
        <p:spPr>
          <a:xfrm>
            <a:off x="4933200" y="2451650"/>
            <a:ext cx="3403200" cy="248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$20,000 Loan</a:t>
            </a:r>
            <a:endParaRPr/>
          </a:p>
          <a:p>
            <a:pPr indent="0" lvl="0" marL="0" rtl="0" algn="l">
              <a:spcBef>
                <a:spcPts val="1600"/>
              </a:spcBef>
              <a:spcAft>
                <a:spcPts val="1600"/>
              </a:spcAft>
              <a:buNone/>
            </a:pPr>
            <a:r>
              <a:rPr lang="en"/>
              <a:t>$30,000 Equity</a:t>
            </a:r>
            <a:endParaRPr/>
          </a:p>
        </p:txBody>
      </p:sp>
      <p:sp>
        <p:nvSpPr>
          <p:cNvPr id="416" name="Google Shape;416;p51"/>
          <p:cNvSpPr txBox="1"/>
          <p:nvPr/>
        </p:nvSpPr>
        <p:spPr>
          <a:xfrm>
            <a:off x="1297475" y="2024750"/>
            <a:ext cx="340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Assets</a:t>
            </a:r>
            <a:endParaRPr sz="1300">
              <a:solidFill>
                <a:schemeClr val="lt1"/>
              </a:solidFill>
              <a:latin typeface="Lato"/>
              <a:ea typeface="Lato"/>
              <a:cs typeface="Lato"/>
              <a:sym typeface="Lato"/>
            </a:endParaRPr>
          </a:p>
        </p:txBody>
      </p:sp>
      <p:cxnSp>
        <p:nvCxnSpPr>
          <p:cNvPr id="417" name="Google Shape;417;p51"/>
          <p:cNvCxnSpPr/>
          <p:nvPr/>
        </p:nvCxnSpPr>
        <p:spPr>
          <a:xfrm rot="10800000">
            <a:off x="4802475" y="1985150"/>
            <a:ext cx="0" cy="3486000"/>
          </a:xfrm>
          <a:prstGeom prst="straightConnector1">
            <a:avLst/>
          </a:prstGeom>
          <a:noFill/>
          <a:ln cap="flat" cmpd="sng" w="28575">
            <a:solidFill>
              <a:schemeClr val="lt1"/>
            </a:solidFill>
            <a:prstDash val="solid"/>
            <a:round/>
            <a:headEnd len="med" w="med" type="none"/>
            <a:tailEnd len="med" w="med" type="none"/>
          </a:ln>
        </p:spPr>
      </p:cxnSp>
      <p:cxnSp>
        <p:nvCxnSpPr>
          <p:cNvPr id="418" name="Google Shape;418;p51"/>
          <p:cNvCxnSpPr/>
          <p:nvPr/>
        </p:nvCxnSpPr>
        <p:spPr>
          <a:xfrm>
            <a:off x="1087725" y="2413625"/>
            <a:ext cx="7105800" cy="0"/>
          </a:xfrm>
          <a:prstGeom prst="straightConnector1">
            <a:avLst/>
          </a:prstGeom>
          <a:noFill/>
          <a:ln cap="flat" cmpd="sng" w="28575">
            <a:solidFill>
              <a:schemeClr val="lt1"/>
            </a:solidFill>
            <a:prstDash val="solid"/>
            <a:round/>
            <a:headEnd len="med" w="med" type="none"/>
            <a:tailEnd len="med" w="med" type="none"/>
          </a:ln>
        </p:spPr>
      </p:cxnSp>
      <p:sp>
        <p:nvSpPr>
          <p:cNvPr id="419" name="Google Shape;419;p51"/>
          <p:cNvSpPr txBox="1"/>
          <p:nvPr/>
        </p:nvSpPr>
        <p:spPr>
          <a:xfrm>
            <a:off x="4904275" y="1990700"/>
            <a:ext cx="340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Liabilities + Equity</a:t>
            </a:r>
            <a:endParaRPr sz="1300">
              <a:solidFill>
                <a:schemeClr val="lt1"/>
              </a:solidFill>
              <a:latin typeface="Lato"/>
              <a:ea typeface="Lato"/>
              <a:cs typeface="Lato"/>
              <a:sym typeface="Lato"/>
            </a:endParaRPr>
          </a:p>
        </p:txBody>
      </p:sp>
      <p:sp>
        <p:nvSpPr>
          <p:cNvPr id="420" name="Google Shape;420;p51"/>
          <p:cNvSpPr txBox="1"/>
          <p:nvPr/>
        </p:nvSpPr>
        <p:spPr>
          <a:xfrm>
            <a:off x="1865575" y="4075200"/>
            <a:ext cx="3038700" cy="70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Price rise of 25% leads to a 50% gain</a:t>
            </a:r>
            <a:endParaRPr sz="1300">
              <a:solidFill>
                <a:schemeClr val="lt1"/>
              </a:solidFill>
              <a:latin typeface="Lato"/>
              <a:ea typeface="Lato"/>
              <a:cs typeface="Lato"/>
              <a:sym typeface="La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Buying on the margin</a:t>
            </a:r>
            <a:endParaRPr/>
          </a:p>
          <a:p>
            <a:pPr indent="0" lvl="0" marL="0" rtl="0" algn="l">
              <a:spcBef>
                <a:spcPts val="0"/>
              </a:spcBef>
              <a:spcAft>
                <a:spcPts val="0"/>
              </a:spcAft>
              <a:buNone/>
            </a:pPr>
            <a:r>
              <a:rPr lang="en"/>
              <a:t>Price drops to $30 (bad)</a:t>
            </a:r>
            <a:endParaRPr/>
          </a:p>
          <a:p>
            <a:pPr indent="0" lvl="0" marL="0" rtl="0" algn="l">
              <a:spcBef>
                <a:spcPts val="0"/>
              </a:spcBef>
              <a:spcAft>
                <a:spcPts val="0"/>
              </a:spcAft>
              <a:buNone/>
            </a:pPr>
            <a:r>
              <a:rPr lang="en" sz="1300"/>
              <a:t>Margin of equity to assets has dropped to  0.33</a:t>
            </a:r>
            <a:endParaRPr sz="1300"/>
          </a:p>
          <a:p>
            <a:pPr indent="0" lvl="0" marL="0" rtl="0" algn="l">
              <a:spcBef>
                <a:spcPts val="0"/>
              </a:spcBef>
              <a:spcAft>
                <a:spcPts val="0"/>
              </a:spcAft>
              <a:buNone/>
            </a:pPr>
            <a:r>
              <a:rPr lang="en" sz="1300"/>
              <a:t>Usually a minimum margin exists. If it’s hit, you will be forced to sell</a:t>
            </a:r>
            <a:endParaRPr sz="1300"/>
          </a:p>
        </p:txBody>
      </p:sp>
      <p:sp>
        <p:nvSpPr>
          <p:cNvPr id="426" name="Google Shape;426;p52"/>
          <p:cNvSpPr txBox="1"/>
          <p:nvPr>
            <p:ph idx="1" type="body"/>
          </p:nvPr>
        </p:nvSpPr>
        <p:spPr>
          <a:xfrm>
            <a:off x="1297475" y="2451725"/>
            <a:ext cx="3403200" cy="2484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$30,000 (1000*$30)</a:t>
            </a:r>
            <a:endParaRPr/>
          </a:p>
        </p:txBody>
      </p:sp>
      <p:sp>
        <p:nvSpPr>
          <p:cNvPr id="427" name="Google Shape;427;p52"/>
          <p:cNvSpPr txBox="1"/>
          <p:nvPr>
            <p:ph idx="2" type="body"/>
          </p:nvPr>
        </p:nvSpPr>
        <p:spPr>
          <a:xfrm>
            <a:off x="4933200" y="2451650"/>
            <a:ext cx="3403200" cy="248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$20,000 Loan</a:t>
            </a:r>
            <a:endParaRPr/>
          </a:p>
          <a:p>
            <a:pPr indent="0" lvl="0" marL="0" rtl="0" algn="l">
              <a:spcBef>
                <a:spcPts val="1600"/>
              </a:spcBef>
              <a:spcAft>
                <a:spcPts val="1600"/>
              </a:spcAft>
              <a:buNone/>
            </a:pPr>
            <a:r>
              <a:rPr lang="en"/>
              <a:t>$10,000 Equity</a:t>
            </a:r>
            <a:endParaRPr/>
          </a:p>
        </p:txBody>
      </p:sp>
      <p:sp>
        <p:nvSpPr>
          <p:cNvPr id="428" name="Google Shape;428;p52"/>
          <p:cNvSpPr txBox="1"/>
          <p:nvPr/>
        </p:nvSpPr>
        <p:spPr>
          <a:xfrm>
            <a:off x="1297475" y="2024750"/>
            <a:ext cx="340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Assets</a:t>
            </a:r>
            <a:endParaRPr sz="1300">
              <a:solidFill>
                <a:schemeClr val="lt1"/>
              </a:solidFill>
              <a:latin typeface="Lato"/>
              <a:ea typeface="Lato"/>
              <a:cs typeface="Lato"/>
              <a:sym typeface="Lato"/>
            </a:endParaRPr>
          </a:p>
        </p:txBody>
      </p:sp>
      <p:cxnSp>
        <p:nvCxnSpPr>
          <p:cNvPr id="429" name="Google Shape;429;p52"/>
          <p:cNvCxnSpPr/>
          <p:nvPr/>
        </p:nvCxnSpPr>
        <p:spPr>
          <a:xfrm rot="10800000">
            <a:off x="4802475" y="1985150"/>
            <a:ext cx="0" cy="3486000"/>
          </a:xfrm>
          <a:prstGeom prst="straightConnector1">
            <a:avLst/>
          </a:prstGeom>
          <a:noFill/>
          <a:ln cap="flat" cmpd="sng" w="28575">
            <a:solidFill>
              <a:schemeClr val="lt1"/>
            </a:solidFill>
            <a:prstDash val="solid"/>
            <a:round/>
            <a:headEnd len="med" w="med" type="none"/>
            <a:tailEnd len="med" w="med" type="none"/>
          </a:ln>
        </p:spPr>
      </p:cxnSp>
      <p:cxnSp>
        <p:nvCxnSpPr>
          <p:cNvPr id="430" name="Google Shape;430;p52"/>
          <p:cNvCxnSpPr/>
          <p:nvPr/>
        </p:nvCxnSpPr>
        <p:spPr>
          <a:xfrm>
            <a:off x="1087725" y="2413625"/>
            <a:ext cx="7105800" cy="0"/>
          </a:xfrm>
          <a:prstGeom prst="straightConnector1">
            <a:avLst/>
          </a:prstGeom>
          <a:noFill/>
          <a:ln cap="flat" cmpd="sng" w="28575">
            <a:solidFill>
              <a:schemeClr val="lt1"/>
            </a:solidFill>
            <a:prstDash val="solid"/>
            <a:round/>
            <a:headEnd len="med" w="med" type="none"/>
            <a:tailEnd len="med" w="med" type="none"/>
          </a:ln>
        </p:spPr>
      </p:cxnSp>
      <p:sp>
        <p:nvSpPr>
          <p:cNvPr id="431" name="Google Shape;431;p52"/>
          <p:cNvSpPr txBox="1"/>
          <p:nvPr/>
        </p:nvSpPr>
        <p:spPr>
          <a:xfrm>
            <a:off x="4904275" y="1990700"/>
            <a:ext cx="340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Liabilities + Equity</a:t>
            </a:r>
            <a:endParaRPr sz="1300">
              <a:solidFill>
                <a:schemeClr val="lt1"/>
              </a:solidFill>
              <a:latin typeface="Lato"/>
              <a:ea typeface="Lato"/>
              <a:cs typeface="Lato"/>
              <a:sym typeface="Lato"/>
            </a:endParaRPr>
          </a:p>
        </p:txBody>
      </p:sp>
      <p:sp>
        <p:nvSpPr>
          <p:cNvPr id="432" name="Google Shape;432;p52"/>
          <p:cNvSpPr txBox="1"/>
          <p:nvPr/>
        </p:nvSpPr>
        <p:spPr>
          <a:xfrm>
            <a:off x="1865575" y="4075200"/>
            <a:ext cx="3038700" cy="70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Price drop of 25% leads to a 50% loss</a:t>
            </a:r>
            <a:endParaRPr sz="1300">
              <a:solidFill>
                <a:schemeClr val="lt1"/>
              </a:solidFill>
              <a:latin typeface="Lato"/>
              <a:ea typeface="Lato"/>
              <a:cs typeface="Lato"/>
              <a:sym typeface="La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5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Short Selling</a:t>
            </a:r>
            <a:endParaRPr/>
          </a:p>
          <a:p>
            <a:pPr indent="0" lvl="0" marL="0" rtl="0" algn="l">
              <a:spcBef>
                <a:spcPts val="0"/>
              </a:spcBef>
              <a:spcAft>
                <a:spcPts val="0"/>
              </a:spcAft>
              <a:buNone/>
            </a:pPr>
            <a:r>
              <a:rPr lang="en"/>
              <a:t>Shorting 1000 shares at $40</a:t>
            </a:r>
            <a:endParaRPr/>
          </a:p>
          <a:p>
            <a:pPr indent="0" lvl="0" marL="0" rtl="0" algn="l">
              <a:spcBef>
                <a:spcPts val="0"/>
              </a:spcBef>
              <a:spcAft>
                <a:spcPts val="0"/>
              </a:spcAft>
              <a:buNone/>
            </a:pPr>
            <a:r>
              <a:t/>
            </a:r>
            <a:endParaRPr sz="1300"/>
          </a:p>
        </p:txBody>
      </p:sp>
      <p:sp>
        <p:nvSpPr>
          <p:cNvPr id="438" name="Google Shape;438;p53"/>
          <p:cNvSpPr txBox="1"/>
          <p:nvPr>
            <p:ph idx="1" type="body"/>
          </p:nvPr>
        </p:nvSpPr>
        <p:spPr>
          <a:xfrm>
            <a:off x="1297475" y="2451725"/>
            <a:ext cx="3552600" cy="248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$40,000 (unchanging, sale already happened)</a:t>
            </a:r>
            <a:endParaRPr/>
          </a:p>
          <a:p>
            <a:pPr indent="0" lvl="0" marL="0" rtl="0" algn="l">
              <a:spcBef>
                <a:spcPts val="1600"/>
              </a:spcBef>
              <a:spcAft>
                <a:spcPts val="1600"/>
              </a:spcAft>
              <a:buNone/>
            </a:pPr>
            <a:r>
              <a:rPr lang="en"/>
              <a:t>$20,000 (initial deposit)</a:t>
            </a:r>
            <a:endParaRPr/>
          </a:p>
        </p:txBody>
      </p:sp>
      <p:sp>
        <p:nvSpPr>
          <p:cNvPr id="439" name="Google Shape;439;p53"/>
          <p:cNvSpPr txBox="1"/>
          <p:nvPr>
            <p:ph idx="2" type="body"/>
          </p:nvPr>
        </p:nvSpPr>
        <p:spPr>
          <a:xfrm>
            <a:off x="4933200" y="2451650"/>
            <a:ext cx="3403200" cy="248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$40,000 Loan (1000*$40)</a:t>
            </a:r>
            <a:endParaRPr/>
          </a:p>
          <a:p>
            <a:pPr indent="0" lvl="0" marL="0" rtl="0" algn="l">
              <a:spcBef>
                <a:spcPts val="1600"/>
              </a:spcBef>
              <a:spcAft>
                <a:spcPts val="1600"/>
              </a:spcAft>
              <a:buNone/>
            </a:pPr>
            <a:r>
              <a:rPr lang="en"/>
              <a:t>$20,000 Equity</a:t>
            </a:r>
            <a:endParaRPr/>
          </a:p>
        </p:txBody>
      </p:sp>
      <p:sp>
        <p:nvSpPr>
          <p:cNvPr id="440" name="Google Shape;440;p53"/>
          <p:cNvSpPr txBox="1"/>
          <p:nvPr/>
        </p:nvSpPr>
        <p:spPr>
          <a:xfrm>
            <a:off x="1297475" y="2024750"/>
            <a:ext cx="340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Assets</a:t>
            </a:r>
            <a:endParaRPr sz="1300">
              <a:solidFill>
                <a:schemeClr val="lt1"/>
              </a:solidFill>
              <a:latin typeface="Lato"/>
              <a:ea typeface="Lato"/>
              <a:cs typeface="Lato"/>
              <a:sym typeface="Lato"/>
            </a:endParaRPr>
          </a:p>
        </p:txBody>
      </p:sp>
      <p:cxnSp>
        <p:nvCxnSpPr>
          <p:cNvPr id="441" name="Google Shape;441;p53"/>
          <p:cNvCxnSpPr/>
          <p:nvPr/>
        </p:nvCxnSpPr>
        <p:spPr>
          <a:xfrm rot="10800000">
            <a:off x="4802475" y="1985150"/>
            <a:ext cx="0" cy="3486000"/>
          </a:xfrm>
          <a:prstGeom prst="straightConnector1">
            <a:avLst/>
          </a:prstGeom>
          <a:noFill/>
          <a:ln cap="flat" cmpd="sng" w="28575">
            <a:solidFill>
              <a:schemeClr val="lt1"/>
            </a:solidFill>
            <a:prstDash val="solid"/>
            <a:round/>
            <a:headEnd len="med" w="med" type="none"/>
            <a:tailEnd len="med" w="med" type="none"/>
          </a:ln>
        </p:spPr>
      </p:cxnSp>
      <p:cxnSp>
        <p:nvCxnSpPr>
          <p:cNvPr id="442" name="Google Shape;442;p53"/>
          <p:cNvCxnSpPr/>
          <p:nvPr/>
        </p:nvCxnSpPr>
        <p:spPr>
          <a:xfrm>
            <a:off x="1087725" y="2413625"/>
            <a:ext cx="7105800" cy="0"/>
          </a:xfrm>
          <a:prstGeom prst="straightConnector1">
            <a:avLst/>
          </a:prstGeom>
          <a:noFill/>
          <a:ln cap="flat" cmpd="sng" w="28575">
            <a:solidFill>
              <a:schemeClr val="lt1"/>
            </a:solidFill>
            <a:prstDash val="solid"/>
            <a:round/>
            <a:headEnd len="med" w="med" type="none"/>
            <a:tailEnd len="med" w="med" type="none"/>
          </a:ln>
        </p:spPr>
      </p:cxnSp>
      <p:sp>
        <p:nvSpPr>
          <p:cNvPr id="443" name="Google Shape;443;p53"/>
          <p:cNvSpPr txBox="1"/>
          <p:nvPr/>
        </p:nvSpPr>
        <p:spPr>
          <a:xfrm>
            <a:off x="4904275" y="1990700"/>
            <a:ext cx="340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Liabilities + Equity</a:t>
            </a:r>
            <a:endParaRPr sz="1300">
              <a:solidFill>
                <a:schemeClr val="lt1"/>
              </a:solidFill>
              <a:latin typeface="Lato"/>
              <a:ea typeface="Lato"/>
              <a:cs typeface="Lato"/>
              <a:sym typeface="La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Short Selling</a:t>
            </a:r>
            <a:endParaRPr/>
          </a:p>
          <a:p>
            <a:pPr indent="0" lvl="0" marL="0" rtl="0" algn="l">
              <a:spcBef>
                <a:spcPts val="0"/>
              </a:spcBef>
              <a:spcAft>
                <a:spcPts val="0"/>
              </a:spcAft>
              <a:buNone/>
            </a:pPr>
            <a:r>
              <a:rPr lang="en"/>
              <a:t>Price falls to $30</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sz="1300"/>
          </a:p>
        </p:txBody>
      </p:sp>
      <p:sp>
        <p:nvSpPr>
          <p:cNvPr id="449" name="Google Shape;449;p54"/>
          <p:cNvSpPr txBox="1"/>
          <p:nvPr>
            <p:ph idx="1" type="body"/>
          </p:nvPr>
        </p:nvSpPr>
        <p:spPr>
          <a:xfrm>
            <a:off x="1297475" y="2451725"/>
            <a:ext cx="3552600" cy="248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$40,000 (unchanging, sale already happened)</a:t>
            </a:r>
            <a:endParaRPr/>
          </a:p>
          <a:p>
            <a:pPr indent="0" lvl="0" marL="0" rtl="0" algn="l">
              <a:spcBef>
                <a:spcPts val="1600"/>
              </a:spcBef>
              <a:spcAft>
                <a:spcPts val="1600"/>
              </a:spcAft>
              <a:buNone/>
            </a:pPr>
            <a:r>
              <a:rPr lang="en"/>
              <a:t>$20,000 (initial deposit)</a:t>
            </a:r>
            <a:endParaRPr/>
          </a:p>
        </p:txBody>
      </p:sp>
      <p:sp>
        <p:nvSpPr>
          <p:cNvPr id="450" name="Google Shape;450;p54"/>
          <p:cNvSpPr txBox="1"/>
          <p:nvPr>
            <p:ph idx="2" type="body"/>
          </p:nvPr>
        </p:nvSpPr>
        <p:spPr>
          <a:xfrm>
            <a:off x="4933200" y="2451650"/>
            <a:ext cx="3403200" cy="248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$30,000 Loan (1000*$30)</a:t>
            </a:r>
            <a:endParaRPr/>
          </a:p>
          <a:p>
            <a:pPr indent="0" lvl="0" marL="0" rtl="0" algn="l">
              <a:spcBef>
                <a:spcPts val="1600"/>
              </a:spcBef>
              <a:spcAft>
                <a:spcPts val="1600"/>
              </a:spcAft>
              <a:buNone/>
            </a:pPr>
            <a:r>
              <a:rPr lang="en"/>
              <a:t>$30,000 Equity</a:t>
            </a:r>
            <a:endParaRPr/>
          </a:p>
        </p:txBody>
      </p:sp>
      <p:sp>
        <p:nvSpPr>
          <p:cNvPr id="451" name="Google Shape;451;p54"/>
          <p:cNvSpPr txBox="1"/>
          <p:nvPr/>
        </p:nvSpPr>
        <p:spPr>
          <a:xfrm>
            <a:off x="1297475" y="2024750"/>
            <a:ext cx="340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Assets</a:t>
            </a:r>
            <a:endParaRPr sz="1300">
              <a:solidFill>
                <a:schemeClr val="lt1"/>
              </a:solidFill>
              <a:latin typeface="Lato"/>
              <a:ea typeface="Lato"/>
              <a:cs typeface="Lato"/>
              <a:sym typeface="Lato"/>
            </a:endParaRPr>
          </a:p>
        </p:txBody>
      </p:sp>
      <p:cxnSp>
        <p:nvCxnSpPr>
          <p:cNvPr id="452" name="Google Shape;452;p54"/>
          <p:cNvCxnSpPr/>
          <p:nvPr/>
        </p:nvCxnSpPr>
        <p:spPr>
          <a:xfrm rot="10800000">
            <a:off x="4802475" y="1985150"/>
            <a:ext cx="0" cy="3486000"/>
          </a:xfrm>
          <a:prstGeom prst="straightConnector1">
            <a:avLst/>
          </a:prstGeom>
          <a:noFill/>
          <a:ln cap="flat" cmpd="sng" w="28575">
            <a:solidFill>
              <a:schemeClr val="lt1"/>
            </a:solidFill>
            <a:prstDash val="solid"/>
            <a:round/>
            <a:headEnd len="med" w="med" type="none"/>
            <a:tailEnd len="med" w="med" type="none"/>
          </a:ln>
        </p:spPr>
      </p:cxnSp>
      <p:cxnSp>
        <p:nvCxnSpPr>
          <p:cNvPr id="453" name="Google Shape;453;p54"/>
          <p:cNvCxnSpPr/>
          <p:nvPr/>
        </p:nvCxnSpPr>
        <p:spPr>
          <a:xfrm>
            <a:off x="1087725" y="2413625"/>
            <a:ext cx="7105800" cy="0"/>
          </a:xfrm>
          <a:prstGeom prst="straightConnector1">
            <a:avLst/>
          </a:prstGeom>
          <a:noFill/>
          <a:ln cap="flat" cmpd="sng" w="28575">
            <a:solidFill>
              <a:schemeClr val="lt1"/>
            </a:solidFill>
            <a:prstDash val="solid"/>
            <a:round/>
            <a:headEnd len="med" w="med" type="none"/>
            <a:tailEnd len="med" w="med" type="none"/>
          </a:ln>
        </p:spPr>
      </p:cxnSp>
      <p:sp>
        <p:nvSpPr>
          <p:cNvPr id="454" name="Google Shape;454;p54"/>
          <p:cNvSpPr txBox="1"/>
          <p:nvPr/>
        </p:nvSpPr>
        <p:spPr>
          <a:xfrm>
            <a:off x="4904275" y="1990700"/>
            <a:ext cx="340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Liabilities + Equity</a:t>
            </a:r>
            <a:endParaRPr sz="1300">
              <a:solidFill>
                <a:schemeClr val="lt1"/>
              </a:solidFill>
              <a:latin typeface="Lato"/>
              <a:ea typeface="Lato"/>
              <a:cs typeface="Lato"/>
              <a:sym typeface="La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5"/>
          <p:cNvSpPr txBox="1"/>
          <p:nvPr>
            <p:ph type="title"/>
          </p:nvPr>
        </p:nvSpPr>
        <p:spPr>
          <a:xfrm>
            <a:off x="449275" y="2062150"/>
            <a:ext cx="56718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Project Discussion/Work Time</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56"/>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56"/>
          <p:cNvSpPr txBox="1"/>
          <p:nvPr/>
        </p:nvSpPr>
        <p:spPr>
          <a:xfrm>
            <a:off x="628050" y="1461825"/>
            <a:ext cx="4970400" cy="27591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C586C0"/>
                </a:solidFill>
                <a:highlight>
                  <a:srgbClr val="1F1F1F"/>
                </a:highlight>
                <a:latin typeface="Consolas"/>
                <a:ea typeface="Consolas"/>
                <a:cs typeface="Consolas"/>
                <a:sym typeface="Consolas"/>
              </a:rPr>
              <a:t>import</a:t>
            </a:r>
            <a:r>
              <a:rPr lang="en" sz="1050">
                <a:solidFill>
                  <a:srgbClr val="CCCCCC"/>
                </a:solidFill>
                <a:highlight>
                  <a:srgbClr val="1F1F1F"/>
                </a:highlight>
                <a:latin typeface="Consolas"/>
                <a:ea typeface="Consolas"/>
                <a:cs typeface="Consolas"/>
                <a:sym typeface="Consolas"/>
              </a:rPr>
              <a:t> yfinance </a:t>
            </a:r>
            <a:r>
              <a:rPr lang="en" sz="1050">
                <a:solidFill>
                  <a:srgbClr val="C586C0"/>
                </a:solidFill>
                <a:highlight>
                  <a:srgbClr val="1F1F1F"/>
                </a:highlight>
                <a:latin typeface="Consolas"/>
                <a:ea typeface="Consolas"/>
                <a:cs typeface="Consolas"/>
                <a:sym typeface="Consolas"/>
              </a:rPr>
              <a:t>as</a:t>
            </a:r>
            <a:r>
              <a:rPr lang="en" sz="1050">
                <a:solidFill>
                  <a:srgbClr val="CCCCCC"/>
                </a:solidFill>
                <a:highlight>
                  <a:srgbClr val="1F1F1F"/>
                </a:highlight>
                <a:latin typeface="Consolas"/>
                <a:ea typeface="Consolas"/>
                <a:cs typeface="Consolas"/>
                <a:sym typeface="Consolas"/>
              </a:rPr>
              <a:t> yf</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CDCAA"/>
                </a:solidFill>
                <a:highlight>
                  <a:srgbClr val="1F1F1F"/>
                </a:highlight>
                <a:latin typeface="Consolas"/>
                <a:ea typeface="Consolas"/>
                <a:cs typeface="Consolas"/>
                <a:sym typeface="Consolas"/>
              </a:rPr>
              <a:t>print</a:t>
            </a:r>
            <a:r>
              <a:rPr lang="en" sz="1050">
                <a:solidFill>
                  <a:srgbClr val="CCCCCC"/>
                </a:solidFill>
                <a:highlight>
                  <a:srgbClr val="1F1F1F"/>
                </a:highlight>
                <a:latin typeface="Consolas"/>
                <a:ea typeface="Consolas"/>
                <a:cs typeface="Consolas"/>
                <a:sym typeface="Consolas"/>
              </a:rPr>
              <a:t>(</a:t>
            </a:r>
            <a:r>
              <a:rPr lang="en" sz="1050">
                <a:solidFill>
                  <a:srgbClr val="CE9178"/>
                </a:solidFill>
                <a:highlight>
                  <a:srgbClr val="1F1F1F"/>
                </a:highlight>
                <a:latin typeface="Consolas"/>
                <a:ea typeface="Consolas"/>
                <a:cs typeface="Consolas"/>
                <a:sym typeface="Consolas"/>
              </a:rPr>
              <a:t>"Hello"</a:t>
            </a:r>
            <a:r>
              <a:rPr lang="en" sz="1050">
                <a:solidFill>
                  <a:srgbClr val="CCCCCC"/>
                </a:solidFill>
                <a:highlight>
                  <a:srgbClr val="1F1F1F"/>
                </a:highlight>
                <a:latin typeface="Consolas"/>
                <a:ea typeface="Consolas"/>
                <a:cs typeface="Consolas"/>
                <a:sym typeface="Consolas"/>
              </a:rPr>
              <a:t>)</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CCCCCC"/>
                </a:solidFill>
                <a:highlight>
                  <a:srgbClr val="1F1F1F"/>
                </a:highlight>
                <a:latin typeface="Consolas"/>
                <a:ea typeface="Consolas"/>
                <a:cs typeface="Consolas"/>
                <a:sym typeface="Consolas"/>
              </a:rPr>
              <a:t>ticker_symbol </a:t>
            </a:r>
            <a:r>
              <a:rPr lang="en" sz="1050">
                <a:solidFill>
                  <a:srgbClr val="D4D4D4"/>
                </a:solidFill>
                <a:highlight>
                  <a:srgbClr val="1F1F1F"/>
                </a:highlight>
                <a:latin typeface="Consolas"/>
                <a:ea typeface="Consolas"/>
                <a:cs typeface="Consolas"/>
                <a:sym typeface="Consolas"/>
              </a:rPr>
              <a:t>=</a:t>
            </a:r>
            <a:r>
              <a:rPr lang="en" sz="1050">
                <a:solidFill>
                  <a:srgbClr val="CCCCCC"/>
                </a:solidFill>
                <a:highlight>
                  <a:srgbClr val="1F1F1F"/>
                </a:highlight>
                <a:latin typeface="Consolas"/>
                <a:ea typeface="Consolas"/>
                <a:cs typeface="Consolas"/>
                <a:sym typeface="Consolas"/>
              </a:rPr>
              <a:t> </a:t>
            </a:r>
            <a:r>
              <a:rPr lang="en" sz="1050">
                <a:solidFill>
                  <a:srgbClr val="CE9178"/>
                </a:solidFill>
                <a:highlight>
                  <a:srgbClr val="1F1F1F"/>
                </a:highlight>
                <a:latin typeface="Consolas"/>
                <a:ea typeface="Consolas"/>
                <a:cs typeface="Consolas"/>
                <a:sym typeface="Consolas"/>
              </a:rPr>
              <a:t>"AAPL"</a:t>
            </a:r>
            <a:endParaRPr sz="1050">
              <a:solidFill>
                <a:srgbClr val="CE9178"/>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CCCCCC"/>
                </a:solidFill>
                <a:highlight>
                  <a:srgbClr val="1F1F1F"/>
                </a:highlight>
                <a:latin typeface="Consolas"/>
                <a:ea typeface="Consolas"/>
                <a:cs typeface="Consolas"/>
                <a:sym typeface="Consolas"/>
              </a:rPr>
              <a:t>start_date </a:t>
            </a:r>
            <a:r>
              <a:rPr lang="en" sz="1050">
                <a:solidFill>
                  <a:srgbClr val="D4D4D4"/>
                </a:solidFill>
                <a:highlight>
                  <a:srgbClr val="1F1F1F"/>
                </a:highlight>
                <a:latin typeface="Consolas"/>
                <a:ea typeface="Consolas"/>
                <a:cs typeface="Consolas"/>
                <a:sym typeface="Consolas"/>
              </a:rPr>
              <a:t>=</a:t>
            </a:r>
            <a:r>
              <a:rPr lang="en" sz="1050">
                <a:solidFill>
                  <a:srgbClr val="CCCCCC"/>
                </a:solidFill>
                <a:highlight>
                  <a:srgbClr val="1F1F1F"/>
                </a:highlight>
                <a:latin typeface="Consolas"/>
                <a:ea typeface="Consolas"/>
                <a:cs typeface="Consolas"/>
                <a:sym typeface="Consolas"/>
              </a:rPr>
              <a:t> </a:t>
            </a:r>
            <a:r>
              <a:rPr lang="en" sz="1050">
                <a:solidFill>
                  <a:srgbClr val="CE9178"/>
                </a:solidFill>
                <a:highlight>
                  <a:srgbClr val="1F1F1F"/>
                </a:highlight>
                <a:latin typeface="Consolas"/>
                <a:ea typeface="Consolas"/>
                <a:cs typeface="Consolas"/>
                <a:sym typeface="Consolas"/>
              </a:rPr>
              <a:t>"2020-01-01"</a:t>
            </a:r>
            <a:endParaRPr sz="1050">
              <a:solidFill>
                <a:srgbClr val="CE9178"/>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CCCCCC"/>
                </a:solidFill>
                <a:highlight>
                  <a:srgbClr val="1F1F1F"/>
                </a:highlight>
                <a:latin typeface="Consolas"/>
                <a:ea typeface="Consolas"/>
                <a:cs typeface="Consolas"/>
                <a:sym typeface="Consolas"/>
              </a:rPr>
              <a:t>end_date </a:t>
            </a:r>
            <a:r>
              <a:rPr lang="en" sz="1050">
                <a:solidFill>
                  <a:srgbClr val="D4D4D4"/>
                </a:solidFill>
                <a:highlight>
                  <a:srgbClr val="1F1F1F"/>
                </a:highlight>
                <a:latin typeface="Consolas"/>
                <a:ea typeface="Consolas"/>
                <a:cs typeface="Consolas"/>
                <a:sym typeface="Consolas"/>
              </a:rPr>
              <a:t>=</a:t>
            </a:r>
            <a:r>
              <a:rPr lang="en" sz="1050">
                <a:solidFill>
                  <a:srgbClr val="CCCCCC"/>
                </a:solidFill>
                <a:highlight>
                  <a:srgbClr val="1F1F1F"/>
                </a:highlight>
                <a:latin typeface="Consolas"/>
                <a:ea typeface="Consolas"/>
                <a:cs typeface="Consolas"/>
                <a:sym typeface="Consolas"/>
              </a:rPr>
              <a:t> </a:t>
            </a:r>
            <a:r>
              <a:rPr lang="en" sz="1050">
                <a:solidFill>
                  <a:srgbClr val="CE9178"/>
                </a:solidFill>
                <a:highlight>
                  <a:srgbClr val="1F1F1F"/>
                </a:highlight>
                <a:latin typeface="Consolas"/>
                <a:ea typeface="Consolas"/>
                <a:cs typeface="Consolas"/>
                <a:sym typeface="Consolas"/>
              </a:rPr>
              <a:t>"2024-01-01"</a:t>
            </a:r>
            <a:endParaRPr sz="1050">
              <a:solidFill>
                <a:srgbClr val="CE9178"/>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CCCCCC"/>
                </a:solidFill>
                <a:highlight>
                  <a:srgbClr val="1F1F1F"/>
                </a:highlight>
                <a:latin typeface="Consolas"/>
                <a:ea typeface="Consolas"/>
                <a:cs typeface="Consolas"/>
                <a:sym typeface="Consolas"/>
              </a:rPr>
              <a:t>ticker </a:t>
            </a:r>
            <a:r>
              <a:rPr lang="en" sz="1050">
                <a:solidFill>
                  <a:srgbClr val="D4D4D4"/>
                </a:solidFill>
                <a:highlight>
                  <a:srgbClr val="1F1F1F"/>
                </a:highlight>
                <a:latin typeface="Consolas"/>
                <a:ea typeface="Consolas"/>
                <a:cs typeface="Consolas"/>
                <a:sym typeface="Consolas"/>
              </a:rPr>
              <a:t>=</a:t>
            </a:r>
            <a:r>
              <a:rPr lang="en" sz="1050">
                <a:solidFill>
                  <a:srgbClr val="CCCCCC"/>
                </a:solidFill>
                <a:highlight>
                  <a:srgbClr val="1F1F1F"/>
                </a:highlight>
                <a:latin typeface="Consolas"/>
                <a:ea typeface="Consolas"/>
                <a:cs typeface="Consolas"/>
                <a:sym typeface="Consolas"/>
              </a:rPr>
              <a:t> yf.Ticker(ticker_symbol)</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CCCCCC"/>
                </a:solidFill>
                <a:highlight>
                  <a:srgbClr val="1F1F1F"/>
                </a:highlight>
                <a:latin typeface="Consolas"/>
                <a:ea typeface="Consolas"/>
                <a:cs typeface="Consolas"/>
                <a:sym typeface="Consolas"/>
              </a:rPr>
              <a:t>historical_data </a:t>
            </a:r>
            <a:r>
              <a:rPr lang="en" sz="1050">
                <a:solidFill>
                  <a:srgbClr val="D4D4D4"/>
                </a:solidFill>
                <a:highlight>
                  <a:srgbClr val="1F1F1F"/>
                </a:highlight>
                <a:latin typeface="Consolas"/>
                <a:ea typeface="Consolas"/>
                <a:cs typeface="Consolas"/>
                <a:sym typeface="Consolas"/>
              </a:rPr>
              <a:t>=</a:t>
            </a:r>
            <a:r>
              <a:rPr lang="en" sz="1050">
                <a:solidFill>
                  <a:srgbClr val="CCCCCC"/>
                </a:solidFill>
                <a:highlight>
                  <a:srgbClr val="1F1F1F"/>
                </a:highlight>
                <a:latin typeface="Consolas"/>
                <a:ea typeface="Consolas"/>
                <a:cs typeface="Consolas"/>
                <a:sym typeface="Consolas"/>
              </a:rPr>
              <a:t> ticker.history(</a:t>
            </a:r>
            <a:r>
              <a:rPr lang="en" sz="1050">
                <a:solidFill>
                  <a:srgbClr val="9CDCFE"/>
                </a:solidFill>
                <a:highlight>
                  <a:srgbClr val="1F1F1F"/>
                </a:highlight>
                <a:latin typeface="Consolas"/>
                <a:ea typeface="Consolas"/>
                <a:cs typeface="Consolas"/>
                <a:sym typeface="Consolas"/>
              </a:rPr>
              <a:t>start</a:t>
            </a:r>
            <a:r>
              <a:rPr lang="en" sz="1050">
                <a:solidFill>
                  <a:srgbClr val="D4D4D4"/>
                </a:solidFill>
                <a:highlight>
                  <a:srgbClr val="1F1F1F"/>
                </a:highlight>
                <a:latin typeface="Consolas"/>
                <a:ea typeface="Consolas"/>
                <a:cs typeface="Consolas"/>
                <a:sym typeface="Consolas"/>
              </a:rPr>
              <a:t>=</a:t>
            </a:r>
            <a:r>
              <a:rPr lang="en" sz="1050">
                <a:solidFill>
                  <a:srgbClr val="CCCCCC"/>
                </a:solidFill>
                <a:highlight>
                  <a:srgbClr val="1F1F1F"/>
                </a:highlight>
                <a:latin typeface="Consolas"/>
                <a:ea typeface="Consolas"/>
                <a:cs typeface="Consolas"/>
                <a:sym typeface="Consolas"/>
              </a:rPr>
              <a:t>start_date, </a:t>
            </a:r>
            <a:r>
              <a:rPr lang="en" sz="1050">
                <a:solidFill>
                  <a:srgbClr val="9CDCFE"/>
                </a:solidFill>
                <a:highlight>
                  <a:srgbClr val="1F1F1F"/>
                </a:highlight>
                <a:latin typeface="Consolas"/>
                <a:ea typeface="Consolas"/>
                <a:cs typeface="Consolas"/>
                <a:sym typeface="Consolas"/>
              </a:rPr>
              <a:t>end</a:t>
            </a:r>
            <a:r>
              <a:rPr lang="en" sz="1050">
                <a:solidFill>
                  <a:srgbClr val="D4D4D4"/>
                </a:solidFill>
                <a:highlight>
                  <a:srgbClr val="1F1F1F"/>
                </a:highlight>
                <a:latin typeface="Consolas"/>
                <a:ea typeface="Consolas"/>
                <a:cs typeface="Consolas"/>
                <a:sym typeface="Consolas"/>
              </a:rPr>
              <a:t>=</a:t>
            </a:r>
            <a:r>
              <a:rPr lang="en" sz="1050">
                <a:solidFill>
                  <a:srgbClr val="CCCCCC"/>
                </a:solidFill>
                <a:highlight>
                  <a:srgbClr val="1F1F1F"/>
                </a:highlight>
                <a:latin typeface="Consolas"/>
                <a:ea typeface="Consolas"/>
                <a:cs typeface="Consolas"/>
                <a:sym typeface="Consolas"/>
              </a:rPr>
              <a:t>end_date)</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CDCAA"/>
                </a:solidFill>
                <a:highlight>
                  <a:srgbClr val="1F1F1F"/>
                </a:highlight>
                <a:latin typeface="Consolas"/>
                <a:ea typeface="Consolas"/>
                <a:cs typeface="Consolas"/>
                <a:sym typeface="Consolas"/>
              </a:rPr>
              <a:t>print</a:t>
            </a:r>
            <a:r>
              <a:rPr lang="en" sz="1050">
                <a:solidFill>
                  <a:srgbClr val="CCCCCC"/>
                </a:solidFill>
                <a:highlight>
                  <a:srgbClr val="1F1F1F"/>
                </a:highlight>
                <a:latin typeface="Consolas"/>
                <a:ea typeface="Consolas"/>
                <a:cs typeface="Consolas"/>
                <a:sym typeface="Consolas"/>
              </a:rPr>
              <a:t>(</a:t>
            </a:r>
            <a:r>
              <a:rPr lang="en" sz="1050">
                <a:solidFill>
                  <a:srgbClr val="CE9178"/>
                </a:solidFill>
                <a:highlight>
                  <a:srgbClr val="1F1F1F"/>
                </a:highlight>
                <a:latin typeface="Consolas"/>
                <a:ea typeface="Consolas"/>
                <a:cs typeface="Consolas"/>
                <a:sym typeface="Consolas"/>
              </a:rPr>
              <a:t>"Historical Prices for "</a:t>
            </a:r>
            <a:r>
              <a:rPr lang="en" sz="1050">
                <a:solidFill>
                  <a:srgbClr val="CCCCCC"/>
                </a:solidFill>
                <a:highlight>
                  <a:srgbClr val="1F1F1F"/>
                </a:highlight>
                <a:latin typeface="Consolas"/>
                <a:ea typeface="Consolas"/>
                <a:cs typeface="Consolas"/>
                <a:sym typeface="Consolas"/>
              </a:rPr>
              <a:t>, ticker_symbol)</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CDCAA"/>
                </a:solidFill>
                <a:highlight>
                  <a:srgbClr val="1F1F1F"/>
                </a:highlight>
                <a:latin typeface="Consolas"/>
                <a:ea typeface="Consolas"/>
                <a:cs typeface="Consolas"/>
                <a:sym typeface="Consolas"/>
              </a:rPr>
              <a:t>print</a:t>
            </a:r>
            <a:r>
              <a:rPr lang="en" sz="1050">
                <a:solidFill>
                  <a:srgbClr val="CCCCCC"/>
                </a:solidFill>
                <a:highlight>
                  <a:srgbClr val="1F1F1F"/>
                </a:highlight>
                <a:latin typeface="Consolas"/>
                <a:ea typeface="Consolas"/>
                <a:cs typeface="Consolas"/>
                <a:sym typeface="Consolas"/>
              </a:rPr>
              <a:t>(historical_data)</a:t>
            </a:r>
            <a:endParaRPr sz="1050">
              <a:solidFill>
                <a:srgbClr val="CCCCCC"/>
              </a:solidFill>
              <a:highlight>
                <a:srgbClr val="1F1F1F"/>
              </a:highlight>
              <a:latin typeface="Consolas"/>
              <a:ea typeface="Consolas"/>
              <a:cs typeface="Consolas"/>
              <a:sym typeface="Consolas"/>
            </a:endParaRPr>
          </a:p>
        </p:txBody>
      </p:sp>
      <p:sp>
        <p:nvSpPr>
          <p:cNvPr id="466" name="Google Shape;466;p56"/>
          <p:cNvSpPr txBox="1"/>
          <p:nvPr/>
        </p:nvSpPr>
        <p:spPr>
          <a:xfrm>
            <a:off x="759800" y="512750"/>
            <a:ext cx="49704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Lato"/>
                <a:ea typeface="Lato"/>
                <a:cs typeface="Lato"/>
                <a:sym typeface="Lato"/>
              </a:rPr>
              <a:t>Example program</a:t>
            </a:r>
            <a:endParaRPr sz="2400">
              <a:solidFill>
                <a:schemeClr val="lt1"/>
              </a:solidFill>
              <a:latin typeface="Lato"/>
              <a:ea typeface="Lato"/>
              <a:cs typeface="Lato"/>
              <a:sym typeface="Lato"/>
            </a:endParaRPr>
          </a:p>
        </p:txBody>
      </p:sp>
      <p:sp>
        <p:nvSpPr>
          <p:cNvPr id="467" name="Google Shape;467;p56"/>
          <p:cNvSpPr txBox="1"/>
          <p:nvPr/>
        </p:nvSpPr>
        <p:spPr>
          <a:xfrm>
            <a:off x="5730200" y="1662350"/>
            <a:ext cx="3159900" cy="8313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chemeClr val="lt1"/>
                </a:solidFill>
                <a:latin typeface="Courier New"/>
                <a:ea typeface="Courier New"/>
                <a:cs typeface="Courier New"/>
                <a:sym typeface="Courier New"/>
              </a:rPr>
              <a:t>conda install –c conda-forge yfinance</a:t>
            </a:r>
            <a:endParaRPr sz="1050">
              <a:solidFill>
                <a:schemeClr val="lt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1"/>
                </a:solidFill>
                <a:latin typeface="Courier New"/>
                <a:ea typeface="Courier New"/>
                <a:cs typeface="Courier New"/>
                <a:sym typeface="Courier New"/>
              </a:rPr>
              <a:t>conda install pandas</a:t>
            </a:r>
            <a:endParaRPr sz="1050">
              <a:solidFill>
                <a:schemeClr val="lt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1"/>
                </a:solidFill>
                <a:latin typeface="Courier New"/>
                <a:ea typeface="Courier New"/>
                <a:cs typeface="Courier New"/>
                <a:sym typeface="Courier New"/>
              </a:rPr>
              <a:t>conda install numpy</a:t>
            </a:r>
            <a:endParaRPr sz="1050">
              <a:solidFill>
                <a:schemeClr val="lt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1"/>
                </a:solidFill>
                <a:latin typeface="Courier New"/>
                <a:ea typeface="Courier New"/>
                <a:cs typeface="Courier New"/>
                <a:sym typeface="Courier New"/>
              </a:rPr>
              <a:t>conda install matplotlib</a:t>
            </a:r>
            <a:endParaRPr sz="1050">
              <a:solidFill>
                <a:schemeClr val="lt1"/>
              </a:solidFill>
              <a:latin typeface="Courier New"/>
              <a:ea typeface="Courier New"/>
              <a:cs typeface="Courier New"/>
              <a:sym typeface="Courier New"/>
            </a:endParaRPr>
          </a:p>
        </p:txBody>
      </p:sp>
      <p:sp>
        <p:nvSpPr>
          <p:cNvPr id="468" name="Google Shape;468;p56"/>
          <p:cNvSpPr txBox="1"/>
          <p:nvPr/>
        </p:nvSpPr>
        <p:spPr>
          <a:xfrm>
            <a:off x="5784200" y="1216575"/>
            <a:ext cx="3051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Everything you should need to install:</a:t>
            </a:r>
            <a:endParaRPr sz="1300">
              <a:solidFill>
                <a:schemeClr val="lt1"/>
              </a:solidFill>
              <a:latin typeface="Lato"/>
              <a:ea typeface="Lato"/>
              <a:cs typeface="Lato"/>
              <a:sym typeface="Lato"/>
            </a:endParaRPr>
          </a:p>
        </p:txBody>
      </p:sp>
      <p:sp>
        <p:nvSpPr>
          <p:cNvPr id="469" name="Google Shape;469;p56"/>
          <p:cNvSpPr txBox="1"/>
          <p:nvPr/>
        </p:nvSpPr>
        <p:spPr>
          <a:xfrm>
            <a:off x="5730200" y="3493125"/>
            <a:ext cx="3159900" cy="14430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C586C0"/>
                </a:solidFill>
                <a:highlight>
                  <a:srgbClr val="1F1F1F"/>
                </a:highlight>
                <a:latin typeface="Consolas"/>
                <a:ea typeface="Consolas"/>
                <a:cs typeface="Consolas"/>
                <a:sym typeface="Consolas"/>
              </a:rPr>
              <a:t>from</a:t>
            </a:r>
            <a:r>
              <a:rPr lang="en" sz="1050">
                <a:solidFill>
                  <a:srgbClr val="CCCCCC"/>
                </a:solidFill>
                <a:highlight>
                  <a:srgbClr val="1F1F1F"/>
                </a:highlight>
                <a:latin typeface="Consolas"/>
                <a:ea typeface="Consolas"/>
                <a:cs typeface="Consolas"/>
                <a:sym typeface="Consolas"/>
              </a:rPr>
              <a:t> datetime </a:t>
            </a:r>
            <a:r>
              <a:rPr lang="en" sz="1050">
                <a:solidFill>
                  <a:srgbClr val="C586C0"/>
                </a:solidFill>
                <a:highlight>
                  <a:srgbClr val="1F1F1F"/>
                </a:highlight>
                <a:latin typeface="Consolas"/>
                <a:ea typeface="Consolas"/>
                <a:cs typeface="Consolas"/>
                <a:sym typeface="Consolas"/>
              </a:rPr>
              <a:t>import</a:t>
            </a:r>
            <a:r>
              <a:rPr lang="en" sz="1050">
                <a:solidFill>
                  <a:srgbClr val="CCCCCC"/>
                </a:solidFill>
                <a:highlight>
                  <a:srgbClr val="1F1F1F"/>
                </a:highlight>
                <a:latin typeface="Consolas"/>
                <a:ea typeface="Consolas"/>
                <a:cs typeface="Consolas"/>
                <a:sym typeface="Consolas"/>
              </a:rPr>
              <a:t> datetime</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CCCCCC"/>
                </a:solidFill>
                <a:highlight>
                  <a:srgbClr val="1F1F1F"/>
                </a:highlight>
                <a:latin typeface="Consolas"/>
                <a:ea typeface="Consolas"/>
                <a:cs typeface="Consolas"/>
                <a:sym typeface="Consolas"/>
              </a:rPr>
              <a:t>end_date </a:t>
            </a:r>
            <a:r>
              <a:rPr lang="en" sz="1050">
                <a:solidFill>
                  <a:srgbClr val="D4D4D4"/>
                </a:solidFill>
                <a:highlight>
                  <a:srgbClr val="1F1F1F"/>
                </a:highlight>
                <a:latin typeface="Consolas"/>
                <a:ea typeface="Consolas"/>
                <a:cs typeface="Consolas"/>
                <a:sym typeface="Consolas"/>
              </a:rPr>
              <a:t>=</a:t>
            </a:r>
            <a:r>
              <a:rPr lang="en" sz="1050">
                <a:solidFill>
                  <a:srgbClr val="CCCCCC"/>
                </a:solidFill>
                <a:highlight>
                  <a:srgbClr val="1F1F1F"/>
                </a:highlight>
                <a:latin typeface="Consolas"/>
                <a:ea typeface="Consolas"/>
                <a:cs typeface="Consolas"/>
                <a:sym typeface="Consolas"/>
              </a:rPr>
              <a:t> datetime.now().strftime(</a:t>
            </a:r>
            <a:r>
              <a:rPr lang="en" sz="1050">
                <a:solidFill>
                  <a:srgbClr val="CE9178"/>
                </a:solidFill>
                <a:highlight>
                  <a:srgbClr val="1F1F1F"/>
                </a:highlight>
                <a:latin typeface="Consolas"/>
                <a:ea typeface="Consolas"/>
                <a:cs typeface="Consolas"/>
                <a:sym typeface="Consolas"/>
              </a:rPr>
              <a:t>'%Y-%m-</a:t>
            </a:r>
            <a:r>
              <a:rPr lang="en" sz="1050">
                <a:solidFill>
                  <a:srgbClr val="569CD6"/>
                </a:solidFill>
                <a:highlight>
                  <a:srgbClr val="1F1F1F"/>
                </a:highlight>
                <a:latin typeface="Consolas"/>
                <a:ea typeface="Consolas"/>
                <a:cs typeface="Consolas"/>
                <a:sym typeface="Consolas"/>
              </a:rPr>
              <a:t>%d</a:t>
            </a:r>
            <a:r>
              <a:rPr lang="en" sz="1050">
                <a:solidFill>
                  <a:srgbClr val="CE9178"/>
                </a:solidFill>
                <a:highlight>
                  <a:srgbClr val="1F1F1F"/>
                </a:highlight>
                <a:latin typeface="Consolas"/>
                <a:ea typeface="Consolas"/>
                <a:cs typeface="Consolas"/>
                <a:sym typeface="Consolas"/>
              </a:rPr>
              <a:t>'</a:t>
            </a:r>
            <a:r>
              <a:rPr lang="en" sz="1050">
                <a:solidFill>
                  <a:srgbClr val="CCCCCC"/>
                </a:solidFill>
                <a:highlight>
                  <a:srgbClr val="1F1F1F"/>
                </a:highlight>
                <a:latin typeface="Consolas"/>
                <a:ea typeface="Consolas"/>
                <a:cs typeface="Consolas"/>
                <a:sym typeface="Consolas"/>
              </a:rPr>
              <a:t>)</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CCCCCC"/>
                </a:solidFill>
                <a:highlight>
                  <a:srgbClr val="1F1F1F"/>
                </a:highlight>
                <a:latin typeface="Consolas"/>
                <a:ea typeface="Consolas"/>
                <a:cs typeface="Consolas"/>
                <a:sym typeface="Consolas"/>
              </a:rPr>
              <a:t>historical_data </a:t>
            </a:r>
            <a:r>
              <a:rPr lang="en" sz="1050">
                <a:solidFill>
                  <a:srgbClr val="D4D4D4"/>
                </a:solidFill>
                <a:highlight>
                  <a:srgbClr val="1F1F1F"/>
                </a:highlight>
                <a:latin typeface="Consolas"/>
                <a:ea typeface="Consolas"/>
                <a:cs typeface="Consolas"/>
                <a:sym typeface="Consolas"/>
              </a:rPr>
              <a:t>=</a:t>
            </a:r>
            <a:r>
              <a:rPr lang="en" sz="1050">
                <a:solidFill>
                  <a:srgbClr val="CCCCCC"/>
                </a:solidFill>
                <a:highlight>
                  <a:srgbClr val="1F1F1F"/>
                </a:highlight>
                <a:latin typeface="Consolas"/>
                <a:ea typeface="Consolas"/>
                <a:cs typeface="Consolas"/>
                <a:sym typeface="Consolas"/>
              </a:rPr>
              <a:t> ticker.history(</a:t>
            </a:r>
            <a:r>
              <a:rPr lang="en" sz="1050">
                <a:solidFill>
                  <a:srgbClr val="9CDCFE"/>
                </a:solidFill>
                <a:highlight>
                  <a:srgbClr val="1F1F1F"/>
                </a:highlight>
                <a:latin typeface="Consolas"/>
                <a:ea typeface="Consolas"/>
                <a:cs typeface="Consolas"/>
                <a:sym typeface="Consolas"/>
              </a:rPr>
              <a:t>start</a:t>
            </a:r>
            <a:r>
              <a:rPr lang="en" sz="1050">
                <a:solidFill>
                  <a:srgbClr val="D4D4D4"/>
                </a:solidFill>
                <a:highlight>
                  <a:srgbClr val="1F1F1F"/>
                </a:highlight>
                <a:latin typeface="Consolas"/>
                <a:ea typeface="Consolas"/>
                <a:cs typeface="Consolas"/>
                <a:sym typeface="Consolas"/>
              </a:rPr>
              <a:t>=</a:t>
            </a:r>
            <a:r>
              <a:rPr lang="en" sz="1050">
                <a:solidFill>
                  <a:srgbClr val="CE9178"/>
                </a:solidFill>
                <a:highlight>
                  <a:srgbClr val="1F1F1F"/>
                </a:highlight>
                <a:latin typeface="Consolas"/>
                <a:ea typeface="Consolas"/>
                <a:cs typeface="Consolas"/>
                <a:sym typeface="Consolas"/>
              </a:rPr>
              <a:t>'2020-01-01'</a:t>
            </a:r>
            <a:r>
              <a:rPr lang="en" sz="1050">
                <a:solidFill>
                  <a:srgbClr val="CCCCCC"/>
                </a:solidFill>
                <a:highlight>
                  <a:srgbClr val="1F1F1F"/>
                </a:highlight>
                <a:latin typeface="Consolas"/>
                <a:ea typeface="Consolas"/>
                <a:cs typeface="Consolas"/>
                <a:sym typeface="Consolas"/>
              </a:rPr>
              <a:t>,</a:t>
            </a:r>
            <a:r>
              <a:rPr lang="en" sz="1050">
                <a:solidFill>
                  <a:srgbClr val="9CDCFE"/>
                </a:solidFill>
                <a:highlight>
                  <a:srgbClr val="1F1F1F"/>
                </a:highlight>
                <a:latin typeface="Consolas"/>
                <a:ea typeface="Consolas"/>
                <a:cs typeface="Consolas"/>
                <a:sym typeface="Consolas"/>
              </a:rPr>
              <a:t>end</a:t>
            </a:r>
            <a:r>
              <a:rPr lang="en" sz="1050">
                <a:solidFill>
                  <a:srgbClr val="D4D4D4"/>
                </a:solidFill>
                <a:highlight>
                  <a:srgbClr val="1F1F1F"/>
                </a:highlight>
                <a:latin typeface="Consolas"/>
                <a:ea typeface="Consolas"/>
                <a:cs typeface="Consolas"/>
                <a:sym typeface="Consolas"/>
              </a:rPr>
              <a:t>=</a:t>
            </a:r>
            <a:r>
              <a:rPr lang="en" sz="1050">
                <a:solidFill>
                  <a:srgbClr val="CCCCCC"/>
                </a:solidFill>
                <a:highlight>
                  <a:srgbClr val="1F1F1F"/>
                </a:highlight>
                <a:latin typeface="Consolas"/>
                <a:ea typeface="Consolas"/>
                <a:cs typeface="Consolas"/>
                <a:sym typeface="Consolas"/>
              </a:rPr>
              <a:t>end_date)</a:t>
            </a:r>
            <a:endParaRPr sz="1050">
              <a:solidFill>
                <a:srgbClr val="CCCCCC"/>
              </a:solidFill>
              <a:highlight>
                <a:srgbClr val="1F1F1F"/>
              </a:highlight>
              <a:latin typeface="Consolas"/>
              <a:ea typeface="Consolas"/>
              <a:cs typeface="Consolas"/>
              <a:sym typeface="Consolas"/>
            </a:endParaRPr>
          </a:p>
        </p:txBody>
      </p:sp>
      <p:sp>
        <p:nvSpPr>
          <p:cNvPr id="470" name="Google Shape;470;p56"/>
          <p:cNvSpPr txBox="1"/>
          <p:nvPr/>
        </p:nvSpPr>
        <p:spPr>
          <a:xfrm>
            <a:off x="5784200" y="2841625"/>
            <a:ext cx="30519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You can also try adding data that’s always current</a:t>
            </a:r>
            <a:endParaRPr sz="1300">
              <a:solidFill>
                <a:schemeClr val="lt1"/>
              </a:solidFill>
              <a:latin typeface="Lato"/>
              <a:ea typeface="Lato"/>
              <a:cs typeface="Lato"/>
              <a:sym typeface="La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7"/>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57"/>
          <p:cNvSpPr txBox="1"/>
          <p:nvPr/>
        </p:nvSpPr>
        <p:spPr>
          <a:xfrm>
            <a:off x="759800" y="512750"/>
            <a:ext cx="49704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Lato"/>
                <a:ea typeface="Lato"/>
                <a:cs typeface="Lato"/>
                <a:sym typeface="Lato"/>
              </a:rPr>
              <a:t>Adding a graph</a:t>
            </a:r>
            <a:endParaRPr sz="2400">
              <a:solidFill>
                <a:schemeClr val="lt1"/>
              </a:solidFill>
              <a:latin typeface="Lato"/>
              <a:ea typeface="Lato"/>
              <a:cs typeface="Lato"/>
              <a:sym typeface="Lato"/>
            </a:endParaRPr>
          </a:p>
        </p:txBody>
      </p:sp>
      <p:sp>
        <p:nvSpPr>
          <p:cNvPr id="477" name="Google Shape;477;p57"/>
          <p:cNvSpPr txBox="1"/>
          <p:nvPr/>
        </p:nvSpPr>
        <p:spPr>
          <a:xfrm>
            <a:off x="116075" y="2638550"/>
            <a:ext cx="4125900" cy="22686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850">
                <a:solidFill>
                  <a:srgbClr val="C586C0"/>
                </a:solidFill>
                <a:highlight>
                  <a:srgbClr val="1F1F1F"/>
                </a:highlight>
                <a:latin typeface="Consolas"/>
                <a:ea typeface="Consolas"/>
                <a:cs typeface="Consolas"/>
                <a:sym typeface="Consolas"/>
              </a:rPr>
              <a:t>import</a:t>
            </a:r>
            <a:r>
              <a:rPr lang="en" sz="850">
                <a:solidFill>
                  <a:srgbClr val="CCCCCC"/>
                </a:solidFill>
                <a:highlight>
                  <a:srgbClr val="1F1F1F"/>
                </a:highlight>
                <a:latin typeface="Consolas"/>
                <a:ea typeface="Consolas"/>
                <a:cs typeface="Consolas"/>
                <a:sym typeface="Consolas"/>
              </a:rPr>
              <a:t> yfinance </a:t>
            </a:r>
            <a:r>
              <a:rPr lang="en" sz="850">
                <a:solidFill>
                  <a:srgbClr val="C586C0"/>
                </a:solidFill>
                <a:highlight>
                  <a:srgbClr val="1F1F1F"/>
                </a:highlight>
                <a:latin typeface="Consolas"/>
                <a:ea typeface="Consolas"/>
                <a:cs typeface="Consolas"/>
                <a:sym typeface="Consolas"/>
              </a:rPr>
              <a:t>as</a:t>
            </a:r>
            <a:r>
              <a:rPr lang="en" sz="850">
                <a:solidFill>
                  <a:srgbClr val="CCCCCC"/>
                </a:solidFill>
                <a:highlight>
                  <a:srgbClr val="1F1F1F"/>
                </a:highlight>
                <a:latin typeface="Consolas"/>
                <a:ea typeface="Consolas"/>
                <a:cs typeface="Consolas"/>
                <a:sym typeface="Consolas"/>
              </a:rPr>
              <a:t> yf</a:t>
            </a:r>
            <a:endParaRPr sz="8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850">
                <a:solidFill>
                  <a:srgbClr val="DCDCAA"/>
                </a:solidFill>
                <a:highlight>
                  <a:srgbClr val="1F1F1F"/>
                </a:highlight>
                <a:latin typeface="Consolas"/>
                <a:ea typeface="Consolas"/>
                <a:cs typeface="Consolas"/>
                <a:sym typeface="Consolas"/>
              </a:rPr>
              <a:t>print</a:t>
            </a:r>
            <a:r>
              <a:rPr lang="en" sz="850">
                <a:solidFill>
                  <a:srgbClr val="CCCCCC"/>
                </a:solidFill>
                <a:highlight>
                  <a:srgbClr val="1F1F1F"/>
                </a:highlight>
                <a:latin typeface="Consolas"/>
                <a:ea typeface="Consolas"/>
                <a:cs typeface="Consolas"/>
                <a:sym typeface="Consolas"/>
              </a:rPr>
              <a:t>(</a:t>
            </a:r>
            <a:r>
              <a:rPr lang="en" sz="850">
                <a:solidFill>
                  <a:srgbClr val="CE9178"/>
                </a:solidFill>
                <a:highlight>
                  <a:srgbClr val="1F1F1F"/>
                </a:highlight>
                <a:latin typeface="Consolas"/>
                <a:ea typeface="Consolas"/>
                <a:cs typeface="Consolas"/>
                <a:sym typeface="Consolas"/>
              </a:rPr>
              <a:t>"Hello"</a:t>
            </a:r>
            <a:r>
              <a:rPr lang="en" sz="850">
                <a:solidFill>
                  <a:srgbClr val="CCCCCC"/>
                </a:solidFill>
                <a:highlight>
                  <a:srgbClr val="1F1F1F"/>
                </a:highlight>
                <a:latin typeface="Consolas"/>
                <a:ea typeface="Consolas"/>
                <a:cs typeface="Consolas"/>
                <a:sym typeface="Consolas"/>
              </a:rPr>
              <a:t>)</a:t>
            </a:r>
            <a:endParaRPr sz="8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8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850">
                <a:solidFill>
                  <a:srgbClr val="CCCCCC"/>
                </a:solidFill>
                <a:highlight>
                  <a:srgbClr val="1F1F1F"/>
                </a:highlight>
                <a:latin typeface="Consolas"/>
                <a:ea typeface="Consolas"/>
                <a:cs typeface="Consolas"/>
                <a:sym typeface="Consolas"/>
              </a:rPr>
              <a:t>ticker_symbol </a:t>
            </a:r>
            <a:r>
              <a:rPr lang="en" sz="850">
                <a:solidFill>
                  <a:srgbClr val="D4D4D4"/>
                </a:solidFill>
                <a:highlight>
                  <a:srgbClr val="1F1F1F"/>
                </a:highlight>
                <a:latin typeface="Consolas"/>
                <a:ea typeface="Consolas"/>
                <a:cs typeface="Consolas"/>
                <a:sym typeface="Consolas"/>
              </a:rPr>
              <a:t>=</a:t>
            </a:r>
            <a:r>
              <a:rPr lang="en" sz="850">
                <a:solidFill>
                  <a:srgbClr val="CCCCCC"/>
                </a:solidFill>
                <a:highlight>
                  <a:srgbClr val="1F1F1F"/>
                </a:highlight>
                <a:latin typeface="Consolas"/>
                <a:ea typeface="Consolas"/>
                <a:cs typeface="Consolas"/>
                <a:sym typeface="Consolas"/>
              </a:rPr>
              <a:t> </a:t>
            </a:r>
            <a:r>
              <a:rPr lang="en" sz="850">
                <a:solidFill>
                  <a:srgbClr val="CE9178"/>
                </a:solidFill>
                <a:highlight>
                  <a:srgbClr val="1F1F1F"/>
                </a:highlight>
                <a:latin typeface="Consolas"/>
                <a:ea typeface="Consolas"/>
                <a:cs typeface="Consolas"/>
                <a:sym typeface="Consolas"/>
              </a:rPr>
              <a:t>"AAPL"</a:t>
            </a:r>
            <a:endParaRPr sz="850">
              <a:solidFill>
                <a:srgbClr val="CE9178"/>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850">
                <a:solidFill>
                  <a:srgbClr val="CCCCCC"/>
                </a:solidFill>
                <a:highlight>
                  <a:srgbClr val="1F1F1F"/>
                </a:highlight>
                <a:latin typeface="Consolas"/>
                <a:ea typeface="Consolas"/>
                <a:cs typeface="Consolas"/>
                <a:sym typeface="Consolas"/>
              </a:rPr>
              <a:t>start_date </a:t>
            </a:r>
            <a:r>
              <a:rPr lang="en" sz="850">
                <a:solidFill>
                  <a:srgbClr val="D4D4D4"/>
                </a:solidFill>
                <a:highlight>
                  <a:srgbClr val="1F1F1F"/>
                </a:highlight>
                <a:latin typeface="Consolas"/>
                <a:ea typeface="Consolas"/>
                <a:cs typeface="Consolas"/>
                <a:sym typeface="Consolas"/>
              </a:rPr>
              <a:t>=</a:t>
            </a:r>
            <a:r>
              <a:rPr lang="en" sz="850">
                <a:solidFill>
                  <a:srgbClr val="CCCCCC"/>
                </a:solidFill>
                <a:highlight>
                  <a:srgbClr val="1F1F1F"/>
                </a:highlight>
                <a:latin typeface="Consolas"/>
                <a:ea typeface="Consolas"/>
                <a:cs typeface="Consolas"/>
                <a:sym typeface="Consolas"/>
              </a:rPr>
              <a:t> </a:t>
            </a:r>
            <a:r>
              <a:rPr lang="en" sz="850">
                <a:solidFill>
                  <a:srgbClr val="CE9178"/>
                </a:solidFill>
                <a:highlight>
                  <a:srgbClr val="1F1F1F"/>
                </a:highlight>
                <a:latin typeface="Consolas"/>
                <a:ea typeface="Consolas"/>
                <a:cs typeface="Consolas"/>
                <a:sym typeface="Consolas"/>
              </a:rPr>
              <a:t>"2020-01-01"</a:t>
            </a:r>
            <a:endParaRPr sz="850">
              <a:solidFill>
                <a:srgbClr val="CE9178"/>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850">
                <a:solidFill>
                  <a:srgbClr val="CCCCCC"/>
                </a:solidFill>
                <a:highlight>
                  <a:srgbClr val="1F1F1F"/>
                </a:highlight>
                <a:latin typeface="Consolas"/>
                <a:ea typeface="Consolas"/>
                <a:cs typeface="Consolas"/>
                <a:sym typeface="Consolas"/>
              </a:rPr>
              <a:t>end_date </a:t>
            </a:r>
            <a:r>
              <a:rPr lang="en" sz="850">
                <a:solidFill>
                  <a:srgbClr val="D4D4D4"/>
                </a:solidFill>
                <a:highlight>
                  <a:srgbClr val="1F1F1F"/>
                </a:highlight>
                <a:latin typeface="Consolas"/>
                <a:ea typeface="Consolas"/>
                <a:cs typeface="Consolas"/>
                <a:sym typeface="Consolas"/>
              </a:rPr>
              <a:t>=</a:t>
            </a:r>
            <a:r>
              <a:rPr lang="en" sz="850">
                <a:solidFill>
                  <a:srgbClr val="CCCCCC"/>
                </a:solidFill>
                <a:highlight>
                  <a:srgbClr val="1F1F1F"/>
                </a:highlight>
                <a:latin typeface="Consolas"/>
                <a:ea typeface="Consolas"/>
                <a:cs typeface="Consolas"/>
                <a:sym typeface="Consolas"/>
              </a:rPr>
              <a:t> </a:t>
            </a:r>
            <a:r>
              <a:rPr lang="en" sz="850">
                <a:solidFill>
                  <a:srgbClr val="CE9178"/>
                </a:solidFill>
                <a:highlight>
                  <a:srgbClr val="1F1F1F"/>
                </a:highlight>
                <a:latin typeface="Consolas"/>
                <a:ea typeface="Consolas"/>
                <a:cs typeface="Consolas"/>
                <a:sym typeface="Consolas"/>
              </a:rPr>
              <a:t>"2024-01-01"</a:t>
            </a:r>
            <a:endParaRPr sz="850">
              <a:solidFill>
                <a:srgbClr val="CE9178"/>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8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850">
                <a:solidFill>
                  <a:srgbClr val="CCCCCC"/>
                </a:solidFill>
                <a:highlight>
                  <a:srgbClr val="1F1F1F"/>
                </a:highlight>
                <a:latin typeface="Consolas"/>
                <a:ea typeface="Consolas"/>
                <a:cs typeface="Consolas"/>
                <a:sym typeface="Consolas"/>
              </a:rPr>
              <a:t>ticker </a:t>
            </a:r>
            <a:r>
              <a:rPr lang="en" sz="850">
                <a:solidFill>
                  <a:srgbClr val="D4D4D4"/>
                </a:solidFill>
                <a:highlight>
                  <a:srgbClr val="1F1F1F"/>
                </a:highlight>
                <a:latin typeface="Consolas"/>
                <a:ea typeface="Consolas"/>
                <a:cs typeface="Consolas"/>
                <a:sym typeface="Consolas"/>
              </a:rPr>
              <a:t>=</a:t>
            </a:r>
            <a:r>
              <a:rPr lang="en" sz="850">
                <a:solidFill>
                  <a:srgbClr val="CCCCCC"/>
                </a:solidFill>
                <a:highlight>
                  <a:srgbClr val="1F1F1F"/>
                </a:highlight>
                <a:latin typeface="Consolas"/>
                <a:ea typeface="Consolas"/>
                <a:cs typeface="Consolas"/>
                <a:sym typeface="Consolas"/>
              </a:rPr>
              <a:t> yf.Ticker(ticker_symbol)</a:t>
            </a:r>
            <a:endParaRPr sz="8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850">
                <a:solidFill>
                  <a:srgbClr val="CCCCCC"/>
                </a:solidFill>
                <a:highlight>
                  <a:srgbClr val="1F1F1F"/>
                </a:highlight>
                <a:latin typeface="Consolas"/>
                <a:ea typeface="Consolas"/>
                <a:cs typeface="Consolas"/>
                <a:sym typeface="Consolas"/>
              </a:rPr>
              <a:t>historical_data </a:t>
            </a:r>
            <a:r>
              <a:rPr lang="en" sz="850">
                <a:solidFill>
                  <a:srgbClr val="D4D4D4"/>
                </a:solidFill>
                <a:highlight>
                  <a:srgbClr val="1F1F1F"/>
                </a:highlight>
                <a:latin typeface="Consolas"/>
                <a:ea typeface="Consolas"/>
                <a:cs typeface="Consolas"/>
                <a:sym typeface="Consolas"/>
              </a:rPr>
              <a:t>=</a:t>
            </a:r>
            <a:r>
              <a:rPr lang="en" sz="850">
                <a:solidFill>
                  <a:srgbClr val="CCCCCC"/>
                </a:solidFill>
                <a:highlight>
                  <a:srgbClr val="1F1F1F"/>
                </a:highlight>
                <a:latin typeface="Consolas"/>
                <a:ea typeface="Consolas"/>
                <a:cs typeface="Consolas"/>
                <a:sym typeface="Consolas"/>
              </a:rPr>
              <a:t> ticker.history(</a:t>
            </a:r>
            <a:r>
              <a:rPr lang="en" sz="850">
                <a:solidFill>
                  <a:srgbClr val="9CDCFE"/>
                </a:solidFill>
                <a:highlight>
                  <a:srgbClr val="1F1F1F"/>
                </a:highlight>
                <a:latin typeface="Consolas"/>
                <a:ea typeface="Consolas"/>
                <a:cs typeface="Consolas"/>
                <a:sym typeface="Consolas"/>
              </a:rPr>
              <a:t>start</a:t>
            </a:r>
            <a:r>
              <a:rPr lang="en" sz="850">
                <a:solidFill>
                  <a:srgbClr val="D4D4D4"/>
                </a:solidFill>
                <a:highlight>
                  <a:srgbClr val="1F1F1F"/>
                </a:highlight>
                <a:latin typeface="Consolas"/>
                <a:ea typeface="Consolas"/>
                <a:cs typeface="Consolas"/>
                <a:sym typeface="Consolas"/>
              </a:rPr>
              <a:t>=</a:t>
            </a:r>
            <a:r>
              <a:rPr lang="en" sz="850">
                <a:solidFill>
                  <a:srgbClr val="CCCCCC"/>
                </a:solidFill>
                <a:highlight>
                  <a:srgbClr val="1F1F1F"/>
                </a:highlight>
                <a:latin typeface="Consolas"/>
                <a:ea typeface="Consolas"/>
                <a:cs typeface="Consolas"/>
                <a:sym typeface="Consolas"/>
              </a:rPr>
              <a:t>start_date, </a:t>
            </a:r>
            <a:r>
              <a:rPr lang="en" sz="850">
                <a:solidFill>
                  <a:srgbClr val="9CDCFE"/>
                </a:solidFill>
                <a:highlight>
                  <a:srgbClr val="1F1F1F"/>
                </a:highlight>
                <a:latin typeface="Consolas"/>
                <a:ea typeface="Consolas"/>
                <a:cs typeface="Consolas"/>
                <a:sym typeface="Consolas"/>
              </a:rPr>
              <a:t>end</a:t>
            </a:r>
            <a:r>
              <a:rPr lang="en" sz="850">
                <a:solidFill>
                  <a:srgbClr val="D4D4D4"/>
                </a:solidFill>
                <a:highlight>
                  <a:srgbClr val="1F1F1F"/>
                </a:highlight>
                <a:latin typeface="Consolas"/>
                <a:ea typeface="Consolas"/>
                <a:cs typeface="Consolas"/>
                <a:sym typeface="Consolas"/>
              </a:rPr>
              <a:t>=</a:t>
            </a:r>
            <a:r>
              <a:rPr lang="en" sz="850">
                <a:solidFill>
                  <a:srgbClr val="CCCCCC"/>
                </a:solidFill>
                <a:highlight>
                  <a:srgbClr val="1F1F1F"/>
                </a:highlight>
                <a:latin typeface="Consolas"/>
                <a:ea typeface="Consolas"/>
                <a:cs typeface="Consolas"/>
                <a:sym typeface="Consolas"/>
              </a:rPr>
              <a:t>end_date)</a:t>
            </a:r>
            <a:endParaRPr sz="8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8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850">
                <a:solidFill>
                  <a:srgbClr val="DCDCAA"/>
                </a:solidFill>
                <a:highlight>
                  <a:srgbClr val="1F1F1F"/>
                </a:highlight>
                <a:latin typeface="Consolas"/>
                <a:ea typeface="Consolas"/>
                <a:cs typeface="Consolas"/>
                <a:sym typeface="Consolas"/>
              </a:rPr>
              <a:t>print</a:t>
            </a:r>
            <a:r>
              <a:rPr lang="en" sz="850">
                <a:solidFill>
                  <a:srgbClr val="CCCCCC"/>
                </a:solidFill>
                <a:highlight>
                  <a:srgbClr val="1F1F1F"/>
                </a:highlight>
                <a:latin typeface="Consolas"/>
                <a:ea typeface="Consolas"/>
                <a:cs typeface="Consolas"/>
                <a:sym typeface="Consolas"/>
              </a:rPr>
              <a:t>(</a:t>
            </a:r>
            <a:r>
              <a:rPr lang="en" sz="850">
                <a:solidFill>
                  <a:srgbClr val="CE9178"/>
                </a:solidFill>
                <a:highlight>
                  <a:srgbClr val="1F1F1F"/>
                </a:highlight>
                <a:latin typeface="Consolas"/>
                <a:ea typeface="Consolas"/>
                <a:cs typeface="Consolas"/>
                <a:sym typeface="Consolas"/>
              </a:rPr>
              <a:t>"Historical Prices for "</a:t>
            </a:r>
            <a:r>
              <a:rPr lang="en" sz="850">
                <a:solidFill>
                  <a:srgbClr val="CCCCCC"/>
                </a:solidFill>
                <a:highlight>
                  <a:srgbClr val="1F1F1F"/>
                </a:highlight>
                <a:latin typeface="Consolas"/>
                <a:ea typeface="Consolas"/>
                <a:cs typeface="Consolas"/>
                <a:sym typeface="Consolas"/>
              </a:rPr>
              <a:t>, ticker_symbol)</a:t>
            </a:r>
            <a:endParaRPr sz="8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850">
                <a:solidFill>
                  <a:srgbClr val="DCDCAA"/>
                </a:solidFill>
                <a:highlight>
                  <a:srgbClr val="1F1F1F"/>
                </a:highlight>
                <a:latin typeface="Consolas"/>
                <a:ea typeface="Consolas"/>
                <a:cs typeface="Consolas"/>
                <a:sym typeface="Consolas"/>
              </a:rPr>
              <a:t>print</a:t>
            </a:r>
            <a:r>
              <a:rPr lang="en" sz="850">
                <a:solidFill>
                  <a:srgbClr val="CCCCCC"/>
                </a:solidFill>
                <a:highlight>
                  <a:srgbClr val="1F1F1F"/>
                </a:highlight>
                <a:latin typeface="Consolas"/>
                <a:ea typeface="Consolas"/>
                <a:cs typeface="Consolas"/>
                <a:sym typeface="Consolas"/>
              </a:rPr>
              <a:t>(historical_data)</a:t>
            </a:r>
            <a:endParaRPr sz="850">
              <a:solidFill>
                <a:srgbClr val="CCCCCC"/>
              </a:solidFill>
              <a:highlight>
                <a:srgbClr val="1F1F1F"/>
              </a:highlight>
              <a:latin typeface="Consolas"/>
              <a:ea typeface="Consolas"/>
              <a:cs typeface="Consolas"/>
              <a:sym typeface="Consolas"/>
            </a:endParaRPr>
          </a:p>
        </p:txBody>
      </p:sp>
      <p:sp>
        <p:nvSpPr>
          <p:cNvPr id="478" name="Google Shape;478;p57"/>
          <p:cNvSpPr txBox="1"/>
          <p:nvPr/>
        </p:nvSpPr>
        <p:spPr>
          <a:xfrm>
            <a:off x="4287650" y="1270850"/>
            <a:ext cx="4780200" cy="36363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C586C0"/>
                </a:solidFill>
                <a:highlight>
                  <a:srgbClr val="1F1F1F"/>
                </a:highlight>
                <a:latin typeface="Consolas"/>
                <a:ea typeface="Consolas"/>
                <a:cs typeface="Consolas"/>
                <a:sym typeface="Consolas"/>
              </a:rPr>
              <a:t>import</a:t>
            </a:r>
            <a:r>
              <a:rPr lang="en" sz="1050">
                <a:solidFill>
                  <a:srgbClr val="CCCCCC"/>
                </a:solidFill>
                <a:highlight>
                  <a:srgbClr val="1F1F1F"/>
                </a:highlight>
                <a:latin typeface="Consolas"/>
                <a:ea typeface="Consolas"/>
                <a:cs typeface="Consolas"/>
                <a:sym typeface="Consolas"/>
              </a:rPr>
              <a:t> pandas </a:t>
            </a:r>
            <a:r>
              <a:rPr lang="en" sz="1050">
                <a:solidFill>
                  <a:srgbClr val="C586C0"/>
                </a:solidFill>
                <a:highlight>
                  <a:srgbClr val="1F1F1F"/>
                </a:highlight>
                <a:latin typeface="Consolas"/>
                <a:ea typeface="Consolas"/>
                <a:cs typeface="Consolas"/>
                <a:sym typeface="Consolas"/>
              </a:rPr>
              <a:t>as</a:t>
            </a:r>
            <a:r>
              <a:rPr lang="en" sz="1050">
                <a:solidFill>
                  <a:srgbClr val="CCCCCC"/>
                </a:solidFill>
                <a:highlight>
                  <a:srgbClr val="1F1F1F"/>
                </a:highlight>
                <a:latin typeface="Consolas"/>
                <a:ea typeface="Consolas"/>
                <a:cs typeface="Consolas"/>
                <a:sym typeface="Consolas"/>
              </a:rPr>
              <a:t> pd</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C586C0"/>
                </a:solidFill>
                <a:highlight>
                  <a:srgbClr val="1F1F1F"/>
                </a:highlight>
                <a:latin typeface="Consolas"/>
                <a:ea typeface="Consolas"/>
                <a:cs typeface="Consolas"/>
                <a:sym typeface="Consolas"/>
              </a:rPr>
              <a:t>import</a:t>
            </a:r>
            <a:r>
              <a:rPr lang="en" sz="1050">
                <a:solidFill>
                  <a:srgbClr val="CCCCCC"/>
                </a:solidFill>
                <a:highlight>
                  <a:srgbClr val="1F1F1F"/>
                </a:highlight>
                <a:latin typeface="Consolas"/>
                <a:ea typeface="Consolas"/>
                <a:cs typeface="Consolas"/>
                <a:sym typeface="Consolas"/>
              </a:rPr>
              <a:t> matplotlib.pyplot </a:t>
            </a:r>
            <a:r>
              <a:rPr lang="en" sz="1050">
                <a:solidFill>
                  <a:srgbClr val="C586C0"/>
                </a:solidFill>
                <a:highlight>
                  <a:srgbClr val="1F1F1F"/>
                </a:highlight>
                <a:latin typeface="Consolas"/>
                <a:ea typeface="Consolas"/>
                <a:cs typeface="Consolas"/>
                <a:sym typeface="Consolas"/>
              </a:rPr>
              <a:t>as</a:t>
            </a:r>
            <a:r>
              <a:rPr lang="en" sz="1050">
                <a:solidFill>
                  <a:srgbClr val="CCCCCC"/>
                </a:solidFill>
                <a:highlight>
                  <a:srgbClr val="1F1F1F"/>
                </a:highlight>
                <a:latin typeface="Consolas"/>
                <a:ea typeface="Consolas"/>
                <a:cs typeface="Consolas"/>
                <a:sym typeface="Consolas"/>
              </a:rPr>
              <a:t> plt</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rgbClr val="C586C0"/>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6A9955"/>
                </a:solidFill>
                <a:highlight>
                  <a:srgbClr val="1F1F1F"/>
                </a:highlight>
                <a:latin typeface="Consolas"/>
                <a:ea typeface="Consolas"/>
                <a:cs typeface="Consolas"/>
                <a:sym typeface="Consolas"/>
              </a:rPr>
              <a:t>... #code from last slide</a:t>
            </a:r>
            <a:endParaRPr sz="1050">
              <a:solidFill>
                <a:srgbClr val="C586C0"/>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rgbClr val="C586C0"/>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CCCCCC"/>
                </a:solidFill>
                <a:highlight>
                  <a:srgbClr val="1F1F1F"/>
                </a:highlight>
                <a:latin typeface="Consolas"/>
                <a:ea typeface="Consolas"/>
                <a:cs typeface="Consolas"/>
                <a:sym typeface="Consolas"/>
              </a:rPr>
              <a:t>df </a:t>
            </a:r>
            <a:r>
              <a:rPr lang="en" sz="1050">
                <a:solidFill>
                  <a:srgbClr val="D4D4D4"/>
                </a:solidFill>
                <a:highlight>
                  <a:srgbClr val="1F1F1F"/>
                </a:highlight>
                <a:latin typeface="Consolas"/>
                <a:ea typeface="Consolas"/>
                <a:cs typeface="Consolas"/>
                <a:sym typeface="Consolas"/>
              </a:rPr>
              <a:t>=</a:t>
            </a:r>
            <a:r>
              <a:rPr lang="en" sz="1050">
                <a:solidFill>
                  <a:srgbClr val="CCCCCC"/>
                </a:solidFill>
                <a:highlight>
                  <a:srgbClr val="1F1F1F"/>
                </a:highlight>
                <a:latin typeface="Consolas"/>
                <a:ea typeface="Consolas"/>
                <a:cs typeface="Consolas"/>
                <a:sym typeface="Consolas"/>
              </a:rPr>
              <a:t> pd.DataFrame(historical_data)</a:t>
            </a:r>
            <a:endParaRPr sz="1050">
              <a:solidFill>
                <a:srgbClr val="C586C0"/>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rgbClr val="C586C0"/>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CCCCCC"/>
                </a:solidFill>
                <a:highlight>
                  <a:srgbClr val="1F1F1F"/>
                </a:highlight>
                <a:latin typeface="Consolas"/>
                <a:ea typeface="Consolas"/>
                <a:cs typeface="Consolas"/>
                <a:sym typeface="Consolas"/>
              </a:rPr>
              <a:t>plt.figure(</a:t>
            </a:r>
            <a:r>
              <a:rPr lang="en" sz="1050">
                <a:solidFill>
                  <a:srgbClr val="9CDCFE"/>
                </a:solidFill>
                <a:highlight>
                  <a:srgbClr val="1F1F1F"/>
                </a:highlight>
                <a:latin typeface="Consolas"/>
                <a:ea typeface="Consolas"/>
                <a:cs typeface="Consolas"/>
                <a:sym typeface="Consolas"/>
              </a:rPr>
              <a:t>figsize</a:t>
            </a:r>
            <a:r>
              <a:rPr lang="en" sz="1050">
                <a:solidFill>
                  <a:srgbClr val="D4D4D4"/>
                </a:solidFill>
                <a:highlight>
                  <a:srgbClr val="1F1F1F"/>
                </a:highlight>
                <a:latin typeface="Consolas"/>
                <a:ea typeface="Consolas"/>
                <a:cs typeface="Consolas"/>
                <a:sym typeface="Consolas"/>
              </a:rPr>
              <a:t>=</a:t>
            </a:r>
            <a:r>
              <a:rPr lang="en" sz="1050">
                <a:solidFill>
                  <a:srgbClr val="CCCCCC"/>
                </a:solidFill>
                <a:highlight>
                  <a:srgbClr val="1F1F1F"/>
                </a:highlight>
                <a:latin typeface="Consolas"/>
                <a:ea typeface="Consolas"/>
                <a:cs typeface="Consolas"/>
                <a:sym typeface="Consolas"/>
              </a:rPr>
              <a:t>(</a:t>
            </a:r>
            <a:r>
              <a:rPr lang="en" sz="1050">
                <a:solidFill>
                  <a:srgbClr val="B5CEA8"/>
                </a:solidFill>
                <a:highlight>
                  <a:srgbClr val="1F1F1F"/>
                </a:highlight>
                <a:latin typeface="Consolas"/>
                <a:ea typeface="Consolas"/>
                <a:cs typeface="Consolas"/>
                <a:sym typeface="Consolas"/>
              </a:rPr>
              <a:t>10</a:t>
            </a:r>
            <a:r>
              <a:rPr lang="en" sz="1050">
                <a:solidFill>
                  <a:srgbClr val="CCCCCC"/>
                </a:solidFill>
                <a:highlight>
                  <a:srgbClr val="1F1F1F"/>
                </a:highlight>
                <a:latin typeface="Consolas"/>
                <a:ea typeface="Consolas"/>
                <a:cs typeface="Consolas"/>
                <a:sym typeface="Consolas"/>
              </a:rPr>
              <a:t>, </a:t>
            </a:r>
            <a:r>
              <a:rPr lang="en" sz="1050">
                <a:solidFill>
                  <a:srgbClr val="B5CEA8"/>
                </a:solidFill>
                <a:highlight>
                  <a:srgbClr val="1F1F1F"/>
                </a:highlight>
                <a:latin typeface="Consolas"/>
                <a:ea typeface="Consolas"/>
                <a:cs typeface="Consolas"/>
                <a:sym typeface="Consolas"/>
              </a:rPr>
              <a:t>6</a:t>
            </a:r>
            <a:r>
              <a:rPr lang="en" sz="1050">
                <a:solidFill>
                  <a:srgbClr val="CCCCCC"/>
                </a:solidFill>
                <a:highlight>
                  <a:srgbClr val="1F1F1F"/>
                </a:highlight>
                <a:latin typeface="Consolas"/>
                <a:ea typeface="Consolas"/>
                <a:cs typeface="Consolas"/>
                <a:sym typeface="Consolas"/>
              </a:rPr>
              <a:t>))</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CCCCCC"/>
                </a:solidFill>
                <a:highlight>
                  <a:srgbClr val="1F1F1F"/>
                </a:highlight>
                <a:latin typeface="Consolas"/>
                <a:ea typeface="Consolas"/>
                <a:cs typeface="Consolas"/>
                <a:sym typeface="Consolas"/>
              </a:rPr>
              <a:t>plt.plot(df.index, df[</a:t>
            </a:r>
            <a:r>
              <a:rPr lang="en" sz="1050">
                <a:solidFill>
                  <a:srgbClr val="CE9178"/>
                </a:solidFill>
                <a:highlight>
                  <a:srgbClr val="1F1F1F"/>
                </a:highlight>
                <a:latin typeface="Consolas"/>
                <a:ea typeface="Consolas"/>
                <a:cs typeface="Consolas"/>
                <a:sym typeface="Consolas"/>
              </a:rPr>
              <a:t>'Close'</a:t>
            </a:r>
            <a:r>
              <a:rPr lang="en" sz="1050">
                <a:solidFill>
                  <a:srgbClr val="CCCCCC"/>
                </a:solidFill>
                <a:highlight>
                  <a:srgbClr val="1F1F1F"/>
                </a:highlight>
                <a:latin typeface="Consolas"/>
                <a:ea typeface="Consolas"/>
                <a:cs typeface="Consolas"/>
                <a:sym typeface="Consolas"/>
              </a:rPr>
              <a:t>], </a:t>
            </a:r>
            <a:r>
              <a:rPr lang="en" sz="1050">
                <a:solidFill>
                  <a:srgbClr val="9CDCFE"/>
                </a:solidFill>
                <a:highlight>
                  <a:srgbClr val="1F1F1F"/>
                </a:highlight>
                <a:latin typeface="Consolas"/>
                <a:ea typeface="Consolas"/>
                <a:cs typeface="Consolas"/>
                <a:sym typeface="Consolas"/>
              </a:rPr>
              <a:t>label</a:t>
            </a:r>
            <a:r>
              <a:rPr lang="en" sz="1050">
                <a:solidFill>
                  <a:srgbClr val="D4D4D4"/>
                </a:solidFill>
                <a:highlight>
                  <a:srgbClr val="1F1F1F"/>
                </a:highlight>
                <a:latin typeface="Consolas"/>
                <a:ea typeface="Consolas"/>
                <a:cs typeface="Consolas"/>
                <a:sym typeface="Consolas"/>
              </a:rPr>
              <a:t>=</a:t>
            </a:r>
            <a:r>
              <a:rPr lang="en" sz="1050">
                <a:solidFill>
                  <a:srgbClr val="CE9178"/>
                </a:solidFill>
                <a:highlight>
                  <a:srgbClr val="1F1F1F"/>
                </a:highlight>
                <a:latin typeface="Consolas"/>
                <a:ea typeface="Consolas"/>
                <a:cs typeface="Consolas"/>
                <a:sym typeface="Consolas"/>
              </a:rPr>
              <a:t>'Close Price'</a:t>
            </a:r>
            <a:r>
              <a:rPr lang="en" sz="1050">
                <a:solidFill>
                  <a:srgbClr val="CCCCCC"/>
                </a:solidFill>
                <a:highlight>
                  <a:srgbClr val="1F1F1F"/>
                </a:highlight>
                <a:latin typeface="Consolas"/>
                <a:ea typeface="Consolas"/>
                <a:cs typeface="Consolas"/>
                <a:sym typeface="Consolas"/>
              </a:rPr>
              <a:t>, </a:t>
            </a:r>
            <a:r>
              <a:rPr lang="en" sz="1050">
                <a:solidFill>
                  <a:srgbClr val="9CDCFE"/>
                </a:solidFill>
                <a:highlight>
                  <a:srgbClr val="1F1F1F"/>
                </a:highlight>
                <a:latin typeface="Consolas"/>
                <a:ea typeface="Consolas"/>
                <a:cs typeface="Consolas"/>
                <a:sym typeface="Consolas"/>
              </a:rPr>
              <a:t>color</a:t>
            </a:r>
            <a:r>
              <a:rPr lang="en" sz="1050">
                <a:solidFill>
                  <a:srgbClr val="D4D4D4"/>
                </a:solidFill>
                <a:highlight>
                  <a:srgbClr val="1F1F1F"/>
                </a:highlight>
                <a:latin typeface="Consolas"/>
                <a:ea typeface="Consolas"/>
                <a:cs typeface="Consolas"/>
                <a:sym typeface="Consolas"/>
              </a:rPr>
              <a:t>=</a:t>
            </a:r>
            <a:r>
              <a:rPr lang="en" sz="1050">
                <a:solidFill>
                  <a:srgbClr val="CE9178"/>
                </a:solidFill>
                <a:highlight>
                  <a:srgbClr val="1F1F1F"/>
                </a:highlight>
                <a:latin typeface="Consolas"/>
                <a:ea typeface="Consolas"/>
                <a:cs typeface="Consolas"/>
                <a:sym typeface="Consolas"/>
              </a:rPr>
              <a:t>'blue'</a:t>
            </a:r>
            <a:r>
              <a:rPr lang="en" sz="1050">
                <a:solidFill>
                  <a:srgbClr val="CCCCCC"/>
                </a:solidFill>
                <a:highlight>
                  <a:srgbClr val="1F1F1F"/>
                </a:highlight>
                <a:latin typeface="Consolas"/>
                <a:ea typeface="Consolas"/>
                <a:cs typeface="Consolas"/>
                <a:sym typeface="Consolas"/>
              </a:rPr>
              <a:t>)</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CCCCCC"/>
                </a:solidFill>
                <a:highlight>
                  <a:srgbClr val="1F1F1F"/>
                </a:highlight>
                <a:latin typeface="Consolas"/>
                <a:ea typeface="Consolas"/>
                <a:cs typeface="Consolas"/>
                <a:sym typeface="Consolas"/>
              </a:rPr>
              <a:t>plt.title(</a:t>
            </a:r>
            <a:r>
              <a:rPr lang="en" sz="1050">
                <a:solidFill>
                  <a:srgbClr val="CE9178"/>
                </a:solidFill>
                <a:highlight>
                  <a:srgbClr val="1F1F1F"/>
                </a:highlight>
                <a:latin typeface="Consolas"/>
                <a:ea typeface="Consolas"/>
                <a:cs typeface="Consolas"/>
                <a:sym typeface="Consolas"/>
              </a:rPr>
              <a:t>'Historical Stock Price Data for '</a:t>
            </a:r>
            <a:r>
              <a:rPr lang="en" sz="1050">
                <a:solidFill>
                  <a:srgbClr val="CCCCCC"/>
                </a:solidFill>
                <a:highlight>
                  <a:srgbClr val="1F1F1F"/>
                </a:highlight>
                <a:latin typeface="Consolas"/>
                <a:ea typeface="Consolas"/>
                <a:cs typeface="Consolas"/>
                <a:sym typeface="Consolas"/>
              </a:rPr>
              <a:t> </a:t>
            </a:r>
            <a:r>
              <a:rPr lang="en" sz="1050">
                <a:solidFill>
                  <a:srgbClr val="D4D4D4"/>
                </a:solidFill>
                <a:highlight>
                  <a:srgbClr val="1F1F1F"/>
                </a:highlight>
                <a:latin typeface="Consolas"/>
                <a:ea typeface="Consolas"/>
                <a:cs typeface="Consolas"/>
                <a:sym typeface="Consolas"/>
              </a:rPr>
              <a:t>+</a:t>
            </a:r>
            <a:r>
              <a:rPr lang="en" sz="1050">
                <a:solidFill>
                  <a:srgbClr val="CCCCCC"/>
                </a:solidFill>
                <a:highlight>
                  <a:srgbClr val="1F1F1F"/>
                </a:highlight>
                <a:latin typeface="Consolas"/>
                <a:ea typeface="Consolas"/>
                <a:cs typeface="Consolas"/>
                <a:sym typeface="Consolas"/>
              </a:rPr>
              <a:t> ticker_symbol)</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CCCCCC"/>
                </a:solidFill>
                <a:highlight>
                  <a:srgbClr val="1F1F1F"/>
                </a:highlight>
                <a:latin typeface="Consolas"/>
                <a:ea typeface="Consolas"/>
                <a:cs typeface="Consolas"/>
                <a:sym typeface="Consolas"/>
              </a:rPr>
              <a:t>plt.xlabel(</a:t>
            </a:r>
            <a:r>
              <a:rPr lang="en" sz="1050">
                <a:solidFill>
                  <a:srgbClr val="CE9178"/>
                </a:solidFill>
                <a:highlight>
                  <a:srgbClr val="1F1F1F"/>
                </a:highlight>
                <a:latin typeface="Consolas"/>
                <a:ea typeface="Consolas"/>
                <a:cs typeface="Consolas"/>
                <a:sym typeface="Consolas"/>
              </a:rPr>
              <a:t>'Date'</a:t>
            </a:r>
            <a:r>
              <a:rPr lang="en" sz="1050">
                <a:solidFill>
                  <a:srgbClr val="CCCCCC"/>
                </a:solidFill>
                <a:highlight>
                  <a:srgbClr val="1F1F1F"/>
                </a:highlight>
                <a:latin typeface="Consolas"/>
                <a:ea typeface="Consolas"/>
                <a:cs typeface="Consolas"/>
                <a:sym typeface="Consolas"/>
              </a:rPr>
              <a:t>)</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CCCCCC"/>
                </a:solidFill>
                <a:highlight>
                  <a:srgbClr val="1F1F1F"/>
                </a:highlight>
                <a:latin typeface="Consolas"/>
                <a:ea typeface="Consolas"/>
                <a:cs typeface="Consolas"/>
                <a:sym typeface="Consolas"/>
              </a:rPr>
              <a:t>plt.ylabel(</a:t>
            </a:r>
            <a:r>
              <a:rPr lang="en" sz="1050">
                <a:solidFill>
                  <a:srgbClr val="CE9178"/>
                </a:solidFill>
                <a:highlight>
                  <a:srgbClr val="1F1F1F"/>
                </a:highlight>
                <a:latin typeface="Consolas"/>
                <a:ea typeface="Consolas"/>
                <a:cs typeface="Consolas"/>
                <a:sym typeface="Consolas"/>
              </a:rPr>
              <a:t>'Price (USD)'</a:t>
            </a:r>
            <a:r>
              <a:rPr lang="en" sz="1050">
                <a:solidFill>
                  <a:srgbClr val="CCCCCC"/>
                </a:solidFill>
                <a:highlight>
                  <a:srgbClr val="1F1F1F"/>
                </a:highlight>
                <a:latin typeface="Consolas"/>
                <a:ea typeface="Consolas"/>
                <a:cs typeface="Consolas"/>
                <a:sym typeface="Consolas"/>
              </a:rPr>
              <a:t>)</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CCCCCC"/>
                </a:solidFill>
                <a:highlight>
                  <a:srgbClr val="1F1F1F"/>
                </a:highlight>
                <a:latin typeface="Consolas"/>
                <a:ea typeface="Consolas"/>
                <a:cs typeface="Consolas"/>
                <a:sym typeface="Consolas"/>
              </a:rPr>
              <a:t>plt.legend()</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CCCCCC"/>
                </a:solidFill>
                <a:highlight>
                  <a:srgbClr val="1F1F1F"/>
                </a:highlight>
                <a:latin typeface="Consolas"/>
                <a:ea typeface="Consolas"/>
                <a:cs typeface="Consolas"/>
                <a:sym typeface="Consolas"/>
              </a:rPr>
              <a:t>plt.grid(</a:t>
            </a:r>
            <a:r>
              <a:rPr lang="en" sz="1050">
                <a:solidFill>
                  <a:srgbClr val="569CD6"/>
                </a:solidFill>
                <a:highlight>
                  <a:srgbClr val="1F1F1F"/>
                </a:highlight>
                <a:latin typeface="Consolas"/>
                <a:ea typeface="Consolas"/>
                <a:cs typeface="Consolas"/>
                <a:sym typeface="Consolas"/>
              </a:rPr>
              <a:t>True</a:t>
            </a:r>
            <a:r>
              <a:rPr lang="en" sz="1050">
                <a:solidFill>
                  <a:srgbClr val="CCCCCC"/>
                </a:solidFill>
                <a:highlight>
                  <a:srgbClr val="1F1F1F"/>
                </a:highlight>
                <a:latin typeface="Consolas"/>
                <a:ea typeface="Consolas"/>
                <a:cs typeface="Consolas"/>
                <a:sym typeface="Consolas"/>
              </a:rPr>
              <a:t>)</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CCCCCC"/>
                </a:solidFill>
                <a:highlight>
                  <a:srgbClr val="1F1F1F"/>
                </a:highlight>
                <a:latin typeface="Consolas"/>
                <a:ea typeface="Consolas"/>
                <a:cs typeface="Consolas"/>
                <a:sym typeface="Consolas"/>
              </a:rPr>
              <a:t>plt.show()</a:t>
            </a:r>
            <a:endParaRPr sz="1050">
              <a:solidFill>
                <a:srgbClr val="CCCCCC"/>
              </a:solidFill>
              <a:highlight>
                <a:srgbClr val="1F1F1F"/>
              </a:highlight>
              <a:latin typeface="Consolas"/>
              <a:ea typeface="Consolas"/>
              <a:cs typeface="Consolas"/>
              <a:sym typeface="Consola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58"/>
          <p:cNvSpPr txBox="1"/>
          <p:nvPr>
            <p:ph type="title"/>
          </p:nvPr>
        </p:nvSpPr>
        <p:spPr>
          <a:xfrm>
            <a:off x="444850" y="54050"/>
            <a:ext cx="64872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You should get a graph like this</a:t>
            </a:r>
            <a:endParaRPr/>
          </a:p>
        </p:txBody>
      </p:sp>
      <p:pic>
        <p:nvPicPr>
          <p:cNvPr id="484" name="Google Shape;484;p58"/>
          <p:cNvPicPr preferRelativeResize="0"/>
          <p:nvPr/>
        </p:nvPicPr>
        <p:blipFill>
          <a:blip r:embed="rId3">
            <a:alphaModFix/>
          </a:blip>
          <a:stretch>
            <a:fillRect/>
          </a:stretch>
        </p:blipFill>
        <p:spPr>
          <a:xfrm>
            <a:off x="2990775" y="1018675"/>
            <a:ext cx="6033300" cy="397702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5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Python Setup - Last time slides</a:t>
            </a:r>
            <a:endParaRPr/>
          </a:p>
        </p:txBody>
      </p:sp>
      <p:sp>
        <p:nvSpPr>
          <p:cNvPr id="490" name="Google Shape;490;p59"/>
          <p:cNvSpPr txBox="1"/>
          <p:nvPr>
            <p:ph idx="1" type="body"/>
          </p:nvPr>
        </p:nvSpPr>
        <p:spPr>
          <a:xfrm>
            <a:off x="1337850" y="1220400"/>
            <a:ext cx="6668400" cy="339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This is what you can type in your terminal to install python</a:t>
            </a:r>
            <a:endParaRPr sz="1600"/>
          </a:p>
          <a:p>
            <a:pPr indent="0" lvl="0" marL="0" rtl="0" algn="l">
              <a:spcBef>
                <a:spcPts val="1600"/>
              </a:spcBef>
              <a:spcAft>
                <a:spcPts val="0"/>
              </a:spcAft>
              <a:buNone/>
            </a:pPr>
            <a:r>
              <a:t/>
            </a:r>
            <a:endParaRPr sz="1600"/>
          </a:p>
          <a:p>
            <a:pPr indent="0" lvl="0" marL="0" rtl="0" algn="l">
              <a:spcBef>
                <a:spcPts val="1600"/>
              </a:spcBef>
              <a:spcAft>
                <a:spcPts val="0"/>
              </a:spcAft>
              <a:buNone/>
            </a:pPr>
            <a:r>
              <a:t/>
            </a:r>
            <a:endParaRPr sz="1600"/>
          </a:p>
          <a:p>
            <a:pPr indent="0" lvl="0" marL="0" rtl="0" algn="l">
              <a:spcBef>
                <a:spcPts val="1600"/>
              </a:spcBef>
              <a:spcAft>
                <a:spcPts val="0"/>
              </a:spcAft>
              <a:buNone/>
            </a:pPr>
            <a:r>
              <a:rPr lang="en" sz="1600"/>
              <a:t>Note: python and python3 are different</a:t>
            </a:r>
            <a:endParaRPr sz="1600"/>
          </a:p>
          <a:p>
            <a:pPr indent="0" lvl="0" marL="0" rtl="0" algn="l">
              <a:spcBef>
                <a:spcPts val="1600"/>
              </a:spcBef>
              <a:spcAft>
                <a:spcPts val="0"/>
              </a:spcAft>
              <a:buNone/>
            </a:pPr>
            <a:r>
              <a:rPr lang="en" sz="1600"/>
              <a:t>python is the default python interpreter, but it may be the wrong version</a:t>
            </a:r>
            <a:endParaRPr sz="1600"/>
          </a:p>
          <a:p>
            <a:pPr indent="0" lvl="0" marL="0" rtl="0" algn="l">
              <a:spcBef>
                <a:spcPts val="1600"/>
              </a:spcBef>
              <a:spcAft>
                <a:spcPts val="1600"/>
              </a:spcAft>
              <a:buNone/>
            </a:pPr>
            <a:r>
              <a:rPr lang="en" sz="1600"/>
              <a:t>As long as whichever one you use is version 3 you are good to go</a:t>
            </a:r>
            <a:endParaRPr sz="1600"/>
          </a:p>
        </p:txBody>
      </p:sp>
      <p:pic>
        <p:nvPicPr>
          <p:cNvPr id="491" name="Google Shape;491;p59"/>
          <p:cNvPicPr preferRelativeResize="0"/>
          <p:nvPr/>
        </p:nvPicPr>
        <p:blipFill>
          <a:blip r:embed="rId3">
            <a:alphaModFix/>
          </a:blip>
          <a:stretch>
            <a:fillRect/>
          </a:stretch>
        </p:blipFill>
        <p:spPr>
          <a:xfrm>
            <a:off x="7481275" y="0"/>
            <a:ext cx="1662724" cy="1662725"/>
          </a:xfrm>
          <a:prstGeom prst="rect">
            <a:avLst/>
          </a:prstGeom>
          <a:noFill/>
          <a:ln>
            <a:noFill/>
          </a:ln>
        </p:spPr>
      </p:pic>
      <p:sp>
        <p:nvSpPr>
          <p:cNvPr id="492" name="Google Shape;492;p59"/>
          <p:cNvSpPr txBox="1"/>
          <p:nvPr/>
        </p:nvSpPr>
        <p:spPr>
          <a:xfrm>
            <a:off x="1412700" y="1769775"/>
            <a:ext cx="3159300" cy="384900"/>
          </a:xfrm>
          <a:prstGeom prst="rect">
            <a:avLst/>
          </a:prstGeom>
          <a:solidFill>
            <a:srgbClr val="000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Courier New"/>
                <a:ea typeface="Courier New"/>
                <a:cs typeface="Courier New"/>
                <a:sym typeface="Courier New"/>
              </a:rPr>
              <a:t>~$ sudo apt install python3</a:t>
            </a:r>
            <a:endParaRPr sz="1300">
              <a:solidFill>
                <a:schemeClr val="lt1"/>
              </a:solidFill>
              <a:latin typeface="Courier New"/>
              <a:ea typeface="Courier New"/>
              <a:cs typeface="Courier New"/>
              <a:sym typeface="Courier New"/>
            </a:endParaRPr>
          </a:p>
        </p:txBody>
      </p:sp>
      <p:sp>
        <p:nvSpPr>
          <p:cNvPr id="493" name="Google Shape;493;p59"/>
          <p:cNvSpPr txBox="1"/>
          <p:nvPr/>
        </p:nvSpPr>
        <p:spPr>
          <a:xfrm>
            <a:off x="5656350" y="2683600"/>
            <a:ext cx="2219400" cy="585000"/>
          </a:xfrm>
          <a:prstGeom prst="rect">
            <a:avLst/>
          </a:prstGeom>
          <a:solidFill>
            <a:srgbClr val="000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Courier New"/>
                <a:ea typeface="Courier New"/>
                <a:cs typeface="Courier New"/>
                <a:sym typeface="Courier New"/>
              </a:rPr>
              <a:t>~$ python3 --version</a:t>
            </a:r>
            <a:endParaRPr sz="1300">
              <a:solidFill>
                <a:schemeClr val="lt1"/>
              </a:solidFill>
              <a:latin typeface="Courier New"/>
              <a:ea typeface="Courier New"/>
              <a:cs typeface="Courier New"/>
              <a:sym typeface="Courier New"/>
            </a:endParaRPr>
          </a:p>
          <a:p>
            <a:pPr indent="0" lvl="0" marL="0" rtl="0" algn="l">
              <a:spcBef>
                <a:spcPts val="0"/>
              </a:spcBef>
              <a:spcAft>
                <a:spcPts val="0"/>
              </a:spcAft>
              <a:buNone/>
            </a:pPr>
            <a:r>
              <a:rPr lang="en" sz="1300">
                <a:solidFill>
                  <a:schemeClr val="lt1"/>
                </a:solidFill>
                <a:latin typeface="Courier New"/>
                <a:ea typeface="Courier New"/>
                <a:cs typeface="Courier New"/>
                <a:sym typeface="Courier New"/>
              </a:rPr>
              <a:t>~$ python --version</a:t>
            </a:r>
            <a:endParaRPr sz="1300">
              <a:solidFill>
                <a:schemeClr val="lt1"/>
              </a:solidFill>
              <a:latin typeface="Courier New"/>
              <a:ea typeface="Courier New"/>
              <a:cs typeface="Courier New"/>
              <a:sym typeface="Courier New"/>
            </a:endParaRPr>
          </a:p>
        </p:txBody>
      </p:sp>
      <p:sp>
        <p:nvSpPr>
          <p:cNvPr id="494" name="Google Shape;494;p59"/>
          <p:cNvSpPr txBox="1"/>
          <p:nvPr/>
        </p:nvSpPr>
        <p:spPr>
          <a:xfrm>
            <a:off x="1412700" y="4128400"/>
            <a:ext cx="2219400" cy="585000"/>
          </a:xfrm>
          <a:prstGeom prst="rect">
            <a:avLst/>
          </a:prstGeom>
          <a:solidFill>
            <a:srgbClr val="000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Courier New"/>
                <a:ea typeface="Courier New"/>
                <a:cs typeface="Courier New"/>
                <a:sym typeface="Courier New"/>
              </a:rPr>
              <a:t>~$ python3 test.py</a:t>
            </a:r>
            <a:endParaRPr sz="1300">
              <a:solidFill>
                <a:schemeClr val="lt1"/>
              </a:solidFill>
              <a:latin typeface="Courier New"/>
              <a:ea typeface="Courier New"/>
              <a:cs typeface="Courier New"/>
              <a:sym typeface="Courier New"/>
            </a:endParaRPr>
          </a:p>
          <a:p>
            <a:pPr indent="0" lvl="0" marL="0" rtl="0" algn="l">
              <a:spcBef>
                <a:spcPts val="0"/>
              </a:spcBef>
              <a:spcAft>
                <a:spcPts val="0"/>
              </a:spcAft>
              <a:buNone/>
            </a:pPr>
            <a:r>
              <a:rPr lang="en" sz="1300">
                <a:solidFill>
                  <a:schemeClr val="lt1"/>
                </a:solidFill>
                <a:latin typeface="Courier New"/>
                <a:ea typeface="Courier New"/>
                <a:cs typeface="Courier New"/>
                <a:sym typeface="Courier New"/>
              </a:rPr>
              <a:t>~$ python test.py</a:t>
            </a:r>
            <a:endParaRPr sz="1300">
              <a:solidFill>
                <a:schemeClr val="lt1"/>
              </a:solidFill>
              <a:latin typeface="Courier New"/>
              <a:ea typeface="Courier New"/>
              <a:cs typeface="Courier New"/>
              <a:sym typeface="Courier New"/>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6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Conda Setup - Last time slides</a:t>
            </a:r>
            <a:endParaRPr/>
          </a:p>
        </p:txBody>
      </p:sp>
      <p:sp>
        <p:nvSpPr>
          <p:cNvPr id="500" name="Google Shape;500;p60"/>
          <p:cNvSpPr txBox="1"/>
          <p:nvPr>
            <p:ph idx="1" type="body"/>
          </p:nvPr>
        </p:nvSpPr>
        <p:spPr>
          <a:xfrm>
            <a:off x="1337850" y="1220400"/>
            <a:ext cx="7294800" cy="339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We are going to use miniconda</a:t>
            </a:r>
            <a:endParaRPr sz="1600"/>
          </a:p>
          <a:p>
            <a:pPr indent="0" lvl="0" marL="0" rtl="0" algn="l">
              <a:spcBef>
                <a:spcPts val="1600"/>
              </a:spcBef>
              <a:spcAft>
                <a:spcPts val="0"/>
              </a:spcAft>
              <a:buNone/>
            </a:pPr>
            <a:r>
              <a:rPr lang="en" sz="1600"/>
              <a:t>Go to this website and download</a:t>
            </a:r>
            <a:endParaRPr sz="1600"/>
          </a:p>
          <a:p>
            <a:pPr indent="0" lvl="0" marL="0" rtl="0" algn="l">
              <a:spcBef>
                <a:spcPts val="0"/>
              </a:spcBef>
              <a:spcAft>
                <a:spcPts val="0"/>
              </a:spcAft>
              <a:buNone/>
            </a:pPr>
            <a:r>
              <a:rPr lang="en" sz="1600"/>
              <a:t>the version for your system</a:t>
            </a:r>
            <a:endParaRPr sz="1600"/>
          </a:p>
          <a:p>
            <a:pPr indent="0" lvl="0" marL="0" rtl="0" algn="l">
              <a:spcBef>
                <a:spcPts val="0"/>
              </a:spcBef>
              <a:spcAft>
                <a:spcPts val="0"/>
              </a:spcAft>
              <a:buNone/>
            </a:pPr>
            <a:r>
              <a:t/>
            </a:r>
            <a:endParaRPr sz="1600"/>
          </a:p>
          <a:p>
            <a:pPr indent="0" lvl="0" marL="0" rtl="0" algn="l">
              <a:spcBef>
                <a:spcPts val="1600"/>
              </a:spcBef>
              <a:spcAft>
                <a:spcPts val="0"/>
              </a:spcAft>
              <a:buNone/>
            </a:pPr>
            <a:r>
              <a:rPr lang="en" sz="1600"/>
              <a:t>May need to add execute privilege to the file, then run it</a:t>
            </a:r>
            <a:endParaRPr sz="1600"/>
          </a:p>
          <a:p>
            <a:pPr indent="0" lvl="0" marL="0" rtl="0" algn="l">
              <a:spcBef>
                <a:spcPts val="1600"/>
              </a:spcBef>
              <a:spcAft>
                <a:spcPts val="0"/>
              </a:spcAft>
              <a:buNone/>
            </a:pPr>
            <a:r>
              <a:rPr lang="en" sz="1600"/>
              <a:t>Simple conda commands				Create environment in your folder:</a:t>
            </a:r>
            <a:endParaRPr sz="1600"/>
          </a:p>
          <a:p>
            <a:pPr indent="0" lvl="0" marL="0" rtl="0" algn="l">
              <a:spcBef>
                <a:spcPts val="1600"/>
              </a:spcBef>
              <a:spcAft>
                <a:spcPts val="0"/>
              </a:spcAft>
              <a:buNone/>
            </a:pPr>
            <a:r>
              <a:t/>
            </a:r>
            <a:endParaRPr sz="1600"/>
          </a:p>
          <a:p>
            <a:pPr indent="0" lvl="0" marL="0" rtl="0" algn="l">
              <a:spcBef>
                <a:spcPts val="1600"/>
              </a:spcBef>
              <a:spcAft>
                <a:spcPts val="0"/>
              </a:spcAft>
              <a:buNone/>
            </a:pPr>
            <a:r>
              <a:rPr lang="en" sz="1600"/>
              <a:t>							replace python=3.7 with your version</a:t>
            </a:r>
            <a:endParaRPr sz="1600"/>
          </a:p>
          <a:p>
            <a:pPr indent="457200" lvl="0" marL="457200" rtl="0" algn="l">
              <a:spcBef>
                <a:spcPts val="1600"/>
              </a:spcBef>
              <a:spcAft>
                <a:spcPts val="1600"/>
              </a:spcAft>
              <a:buNone/>
            </a:pPr>
            <a:r>
              <a:rPr lang="en" sz="1600"/>
              <a:t>Get yfinance package</a:t>
            </a:r>
            <a:endParaRPr sz="1600"/>
          </a:p>
        </p:txBody>
      </p:sp>
      <p:pic>
        <p:nvPicPr>
          <p:cNvPr id="501" name="Google Shape;501;p60"/>
          <p:cNvPicPr preferRelativeResize="0"/>
          <p:nvPr/>
        </p:nvPicPr>
        <p:blipFill>
          <a:blip r:embed="rId3">
            <a:alphaModFix/>
          </a:blip>
          <a:stretch>
            <a:fillRect/>
          </a:stretch>
        </p:blipFill>
        <p:spPr>
          <a:xfrm>
            <a:off x="7481275" y="0"/>
            <a:ext cx="1662724" cy="1662725"/>
          </a:xfrm>
          <a:prstGeom prst="rect">
            <a:avLst/>
          </a:prstGeom>
          <a:noFill/>
          <a:ln>
            <a:noFill/>
          </a:ln>
        </p:spPr>
      </p:pic>
      <p:sp>
        <p:nvSpPr>
          <p:cNvPr id="502" name="Google Shape;502;p60"/>
          <p:cNvSpPr txBox="1"/>
          <p:nvPr/>
        </p:nvSpPr>
        <p:spPr>
          <a:xfrm>
            <a:off x="1412700" y="2386688"/>
            <a:ext cx="2846700" cy="384900"/>
          </a:xfrm>
          <a:prstGeom prst="rect">
            <a:avLst/>
          </a:prstGeom>
          <a:solidFill>
            <a:srgbClr val="000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Courier New"/>
                <a:ea typeface="Courier New"/>
                <a:cs typeface="Courier New"/>
                <a:sym typeface="Courier New"/>
              </a:rPr>
              <a:t>chmod +x &lt;.sh filename&gt;</a:t>
            </a:r>
            <a:endParaRPr sz="1300">
              <a:solidFill>
                <a:schemeClr val="lt1"/>
              </a:solidFill>
              <a:latin typeface="Courier New"/>
              <a:ea typeface="Courier New"/>
              <a:cs typeface="Courier New"/>
              <a:sym typeface="Courier New"/>
            </a:endParaRPr>
          </a:p>
        </p:txBody>
      </p:sp>
      <p:pic>
        <p:nvPicPr>
          <p:cNvPr id="503" name="Google Shape;503;p60"/>
          <p:cNvPicPr preferRelativeResize="0"/>
          <p:nvPr/>
        </p:nvPicPr>
        <p:blipFill>
          <a:blip r:embed="rId4">
            <a:alphaModFix/>
          </a:blip>
          <a:stretch>
            <a:fillRect/>
          </a:stretch>
        </p:blipFill>
        <p:spPr>
          <a:xfrm>
            <a:off x="4820850" y="1133950"/>
            <a:ext cx="2788250" cy="1549649"/>
          </a:xfrm>
          <a:prstGeom prst="rect">
            <a:avLst/>
          </a:prstGeom>
          <a:noFill/>
          <a:ln cap="flat" cmpd="sng" w="19050">
            <a:solidFill>
              <a:srgbClr val="000000"/>
            </a:solidFill>
            <a:prstDash val="solid"/>
            <a:round/>
            <a:headEnd len="sm" w="sm" type="none"/>
            <a:tailEnd len="sm" w="sm" type="none"/>
          </a:ln>
        </p:spPr>
      </p:pic>
      <p:sp>
        <p:nvSpPr>
          <p:cNvPr id="504" name="Google Shape;504;p60"/>
          <p:cNvSpPr txBox="1"/>
          <p:nvPr/>
        </p:nvSpPr>
        <p:spPr>
          <a:xfrm>
            <a:off x="1412700" y="3628500"/>
            <a:ext cx="2846700" cy="985200"/>
          </a:xfrm>
          <a:prstGeom prst="rect">
            <a:avLst/>
          </a:prstGeom>
          <a:solidFill>
            <a:srgbClr val="000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Courier New"/>
                <a:ea typeface="Courier New"/>
                <a:cs typeface="Courier New"/>
                <a:sym typeface="Courier New"/>
              </a:rPr>
              <a:t>conda init</a:t>
            </a:r>
            <a:endParaRPr sz="1300">
              <a:solidFill>
                <a:schemeClr val="lt1"/>
              </a:solidFill>
              <a:latin typeface="Courier New"/>
              <a:ea typeface="Courier New"/>
              <a:cs typeface="Courier New"/>
              <a:sym typeface="Courier New"/>
            </a:endParaRPr>
          </a:p>
          <a:p>
            <a:pPr indent="0" lvl="0" marL="0" rtl="0" algn="l">
              <a:spcBef>
                <a:spcPts val="0"/>
              </a:spcBef>
              <a:spcAft>
                <a:spcPts val="0"/>
              </a:spcAft>
              <a:buNone/>
            </a:pPr>
            <a:r>
              <a:rPr lang="en" sz="1300">
                <a:solidFill>
                  <a:schemeClr val="lt1"/>
                </a:solidFill>
                <a:latin typeface="Courier New"/>
                <a:ea typeface="Courier New"/>
                <a:cs typeface="Courier New"/>
                <a:sym typeface="Courier New"/>
              </a:rPr>
              <a:t>conda list</a:t>
            </a:r>
            <a:endParaRPr sz="1300">
              <a:solidFill>
                <a:schemeClr val="lt1"/>
              </a:solidFill>
              <a:latin typeface="Courier New"/>
              <a:ea typeface="Courier New"/>
              <a:cs typeface="Courier New"/>
              <a:sym typeface="Courier New"/>
            </a:endParaRPr>
          </a:p>
          <a:p>
            <a:pPr indent="0" lvl="0" marL="0" rtl="0" algn="l">
              <a:spcBef>
                <a:spcPts val="0"/>
              </a:spcBef>
              <a:spcAft>
                <a:spcPts val="0"/>
              </a:spcAft>
              <a:buNone/>
            </a:pPr>
            <a:r>
              <a:rPr lang="en" sz="1300">
                <a:solidFill>
                  <a:schemeClr val="lt1"/>
                </a:solidFill>
                <a:latin typeface="Courier New"/>
                <a:ea typeface="Courier New"/>
                <a:cs typeface="Courier New"/>
                <a:sym typeface="Courier New"/>
              </a:rPr>
              <a:t>conda env list</a:t>
            </a:r>
            <a:endParaRPr sz="1300">
              <a:solidFill>
                <a:schemeClr val="lt1"/>
              </a:solidFill>
              <a:latin typeface="Courier New"/>
              <a:ea typeface="Courier New"/>
              <a:cs typeface="Courier New"/>
              <a:sym typeface="Courier New"/>
            </a:endParaRPr>
          </a:p>
          <a:p>
            <a:pPr indent="0" lvl="0" marL="0" rtl="0" algn="l">
              <a:spcBef>
                <a:spcPts val="0"/>
              </a:spcBef>
              <a:spcAft>
                <a:spcPts val="0"/>
              </a:spcAft>
              <a:buNone/>
            </a:pPr>
            <a:r>
              <a:rPr lang="en" sz="1300">
                <a:solidFill>
                  <a:schemeClr val="lt1"/>
                </a:solidFill>
                <a:latin typeface="Courier New"/>
                <a:ea typeface="Courier New"/>
                <a:cs typeface="Courier New"/>
                <a:sym typeface="Courier New"/>
              </a:rPr>
              <a:t>conda install &lt;whatever&gt;</a:t>
            </a:r>
            <a:endParaRPr sz="1300">
              <a:solidFill>
                <a:schemeClr val="lt1"/>
              </a:solidFill>
              <a:latin typeface="Courier New"/>
              <a:ea typeface="Courier New"/>
              <a:cs typeface="Courier New"/>
              <a:sym typeface="Courier New"/>
            </a:endParaRPr>
          </a:p>
        </p:txBody>
      </p:sp>
      <p:sp>
        <p:nvSpPr>
          <p:cNvPr id="505" name="Google Shape;505;p60"/>
          <p:cNvSpPr txBox="1"/>
          <p:nvPr/>
        </p:nvSpPr>
        <p:spPr>
          <a:xfrm>
            <a:off x="4624925" y="3732925"/>
            <a:ext cx="3929400" cy="384900"/>
          </a:xfrm>
          <a:prstGeom prst="rect">
            <a:avLst/>
          </a:prstGeom>
          <a:solidFill>
            <a:srgbClr val="000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Courier New"/>
                <a:ea typeface="Courier New"/>
                <a:cs typeface="Courier New"/>
                <a:sym typeface="Courier New"/>
              </a:rPr>
              <a:t>conda create –name &lt;name&gt; python=3.7</a:t>
            </a:r>
            <a:endParaRPr sz="1300">
              <a:solidFill>
                <a:schemeClr val="lt1"/>
              </a:solidFill>
              <a:latin typeface="Courier New"/>
              <a:ea typeface="Courier New"/>
              <a:cs typeface="Courier New"/>
              <a:sym typeface="Courier New"/>
            </a:endParaRPr>
          </a:p>
        </p:txBody>
      </p:sp>
      <p:sp>
        <p:nvSpPr>
          <p:cNvPr id="506" name="Google Shape;506;p60"/>
          <p:cNvSpPr txBox="1"/>
          <p:nvPr/>
        </p:nvSpPr>
        <p:spPr>
          <a:xfrm>
            <a:off x="4624925" y="4718125"/>
            <a:ext cx="3929400" cy="384900"/>
          </a:xfrm>
          <a:prstGeom prst="rect">
            <a:avLst/>
          </a:prstGeom>
          <a:solidFill>
            <a:srgbClr val="000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Courier New"/>
                <a:ea typeface="Courier New"/>
                <a:cs typeface="Courier New"/>
                <a:sym typeface="Courier New"/>
              </a:rPr>
              <a:t>conda install –c conda-forge yfinance</a:t>
            </a:r>
            <a:endParaRPr sz="1300">
              <a:solidFill>
                <a:schemeClr val="lt1"/>
              </a:solidFill>
              <a:latin typeface="Courier New"/>
              <a:ea typeface="Courier New"/>
              <a:cs typeface="Courier New"/>
              <a:sym typeface="Courier New"/>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6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Attendance Form</a:t>
            </a:r>
            <a:endParaRPr/>
          </a:p>
        </p:txBody>
      </p:sp>
      <p:sp>
        <p:nvSpPr>
          <p:cNvPr id="512" name="Google Shape;512;p61"/>
          <p:cNvSpPr txBox="1"/>
          <p:nvPr>
            <p:ph idx="1" type="body"/>
          </p:nvPr>
        </p:nvSpPr>
        <p:spPr>
          <a:xfrm>
            <a:off x="5632513" y="884875"/>
            <a:ext cx="3054000" cy="475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Link to Onboarding Document, Slack and Team Folder</a:t>
            </a:r>
            <a:endParaRPr/>
          </a:p>
        </p:txBody>
      </p:sp>
      <p:sp>
        <p:nvSpPr>
          <p:cNvPr id="513" name="Google Shape;513;p61"/>
          <p:cNvSpPr txBox="1"/>
          <p:nvPr/>
        </p:nvSpPr>
        <p:spPr>
          <a:xfrm>
            <a:off x="1153900" y="978425"/>
            <a:ext cx="3054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Lato"/>
                <a:ea typeface="Lato"/>
                <a:cs typeface="Lato"/>
                <a:sym typeface="Lato"/>
              </a:rPr>
              <a:t>This one</a:t>
            </a:r>
            <a:endParaRPr sz="2000">
              <a:solidFill>
                <a:schemeClr val="lt1"/>
              </a:solidFill>
              <a:latin typeface="Lato"/>
              <a:ea typeface="Lato"/>
              <a:cs typeface="Lato"/>
              <a:sym typeface="Lato"/>
            </a:endParaRPr>
          </a:p>
        </p:txBody>
      </p:sp>
      <p:sp>
        <p:nvSpPr>
          <p:cNvPr id="514" name="Google Shape;514;p61"/>
          <p:cNvSpPr/>
          <p:nvPr/>
        </p:nvSpPr>
        <p:spPr>
          <a:xfrm>
            <a:off x="2439075" y="876175"/>
            <a:ext cx="352500" cy="4926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15" name="Google Shape;515;p61"/>
          <p:cNvSpPr txBox="1"/>
          <p:nvPr/>
        </p:nvSpPr>
        <p:spPr>
          <a:xfrm>
            <a:off x="731050" y="4496125"/>
            <a:ext cx="3280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3"/>
              </a:rPr>
              <a:t>https://forms.gle/Up9noY4arbndAj5p7</a:t>
            </a:r>
            <a:endParaRPr/>
          </a:p>
          <a:p>
            <a:pPr indent="0" lvl="0" marL="0" rtl="0" algn="l">
              <a:spcBef>
                <a:spcPts val="0"/>
              </a:spcBef>
              <a:spcAft>
                <a:spcPts val="0"/>
              </a:spcAft>
              <a:buNone/>
            </a:pPr>
            <a:r>
              <a:t/>
            </a:r>
            <a:endParaRPr/>
          </a:p>
        </p:txBody>
      </p:sp>
      <p:pic>
        <p:nvPicPr>
          <p:cNvPr id="516" name="Google Shape;516;p61"/>
          <p:cNvPicPr preferRelativeResize="0"/>
          <p:nvPr/>
        </p:nvPicPr>
        <p:blipFill rotWithShape="1">
          <a:blip r:embed="rId4">
            <a:alphaModFix/>
          </a:blip>
          <a:srcRect b="22851" l="0" r="0" t="0"/>
          <a:stretch/>
        </p:blipFill>
        <p:spPr>
          <a:xfrm>
            <a:off x="1011150" y="1572314"/>
            <a:ext cx="2720302" cy="2720276"/>
          </a:xfrm>
          <a:prstGeom prst="rect">
            <a:avLst/>
          </a:prstGeom>
          <a:noFill/>
          <a:ln>
            <a:noFill/>
          </a:ln>
        </p:spPr>
      </p:pic>
      <p:sp>
        <p:nvSpPr>
          <p:cNvPr id="517" name="Google Shape;517;p61"/>
          <p:cNvSpPr txBox="1"/>
          <p:nvPr/>
        </p:nvSpPr>
        <p:spPr>
          <a:xfrm>
            <a:off x="5230150" y="3795350"/>
            <a:ext cx="3000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5"/>
              </a:rPr>
              <a:t>https://docs.google.com/document/d/1oA2q-qjPCw1bY79zWf1LtpeN_da65L0ntnxzCQSsJRc/edit?usp=sharing</a:t>
            </a:r>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F15D24"/>
      </a:dk1>
      <a:lt1>
        <a:srgbClr val="FFFFFF"/>
      </a:lt1>
      <a:dk2>
        <a:srgbClr val="D9D9D9"/>
      </a:dk2>
      <a:lt2>
        <a:srgbClr val="3D3D3D"/>
      </a:lt2>
      <a:accent1>
        <a:srgbClr val="FFFFFF"/>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