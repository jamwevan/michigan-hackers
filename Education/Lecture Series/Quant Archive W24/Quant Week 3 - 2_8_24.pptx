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5143500" cx="9144000"/>
  <p:notesSz cx="6858000" cy="9144000"/>
  <p:embeddedFontLst>
    <p:embeddedFont>
      <p:font typeface="Montserrat"/>
      <p:regular r:id="rId35"/>
      <p:bold r:id="rId36"/>
      <p:italic r:id="rId37"/>
      <p:boldItalic r:id="rId38"/>
    </p:embeddedFont>
    <p:embeddedFont>
      <p:font typeface="Lato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79DBA75-10F4-48A4-87DD-6587E9D74FFE}">
  <a:tblStyle styleId="{279DBA75-10F4-48A4-87DD-6587E9D74FF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bold.fntdata"/><Relationship Id="rId20" Type="http://schemas.openxmlformats.org/officeDocument/2006/relationships/slide" Target="slides/slide14.xml"/><Relationship Id="rId42" Type="http://schemas.openxmlformats.org/officeDocument/2006/relationships/font" Target="fonts/Lato-boldItalic.fntdata"/><Relationship Id="rId41" Type="http://schemas.openxmlformats.org/officeDocument/2006/relationships/font" Target="fonts/Lato-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Montserrat-regular.fntdata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Montserrat-italic.fntdata"/><Relationship Id="rId14" Type="http://schemas.openxmlformats.org/officeDocument/2006/relationships/slide" Target="slides/slide8.xml"/><Relationship Id="rId36" Type="http://schemas.openxmlformats.org/officeDocument/2006/relationships/font" Target="fonts/Montserrat-bold.fntdata"/><Relationship Id="rId17" Type="http://schemas.openxmlformats.org/officeDocument/2006/relationships/slide" Target="slides/slide11.xml"/><Relationship Id="rId39" Type="http://schemas.openxmlformats.org/officeDocument/2006/relationships/font" Target="fonts/Lato-regular.fntdata"/><Relationship Id="rId16" Type="http://schemas.openxmlformats.org/officeDocument/2006/relationships/slide" Target="slides/slide10.xml"/><Relationship Id="rId38" Type="http://schemas.openxmlformats.org/officeDocument/2006/relationships/font" Target="fonts/Montserrat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Complete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6681c12f4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6681c12f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6681c12f4c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6681c12f4c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6681c12f4c_2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6681c12f4c_2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66b80fe3a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66b80fe3a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513a471880_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513a471880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b5a9561c10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b5a9561c1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b71d1aab4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b71d1aab4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b71d1aab4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b71d1aab4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b71d1aab4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b71d1aab4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b71d1aab4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b71d1aab4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b71d1aab40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b71d1aab40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b71d1aab40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b71d1aab40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b71d1aab40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b71d1aab40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b71d1aab40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b71d1aab40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b71d1aab40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b71d1aab40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b71d1aab40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b71d1aab40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b71d1aab40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b71d1aab40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b71d1aab40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b71d1aab40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b71d1aab40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b71d1aab40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689fb80ea3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689fb80ea3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689fb80ea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2689fb80ea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689fb80ea3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2689fb80ea3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6848eae863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6848eae86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We’ll write the platform to make and conduct trading strategies.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guys will write and implement the strategies, test them on prior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Alternate for more software-oriented people you guys could also make the platform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 do this in python/C++, if python use numPy and Yahoo Finance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matplotlib plot graphs, show that in pdf/md/html file through github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6848eae86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6848eae86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6848eae863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26848eae86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6848eae86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26848eae86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We’ll write the platform to make and conduct trading strategies.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guys will write and implement the strategies, test them on prior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Alternate for more software-oriented people you guys could also make the platform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 do this in python/C++, if python use numPy and Yahoo Finance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matplotlib plot graphs, show that in pdf/md/html file through github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6681c12f4c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26681c12f4c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forms.gle/fZU7zFBUvnw92ces6" TargetMode="External"/><Relationship Id="rId4" Type="http://schemas.openxmlformats.org/officeDocument/2006/relationships/image" Target="../media/image2.png"/><Relationship Id="rId5" Type="http://schemas.openxmlformats.org/officeDocument/2006/relationships/hyperlink" Target="http://tinyurl.com/5ad364cy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99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 Week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2/8/24</a:t>
            </a:r>
            <a:endParaRPr/>
          </a:p>
        </p:txBody>
      </p:sp>
      <p:pic>
        <p:nvPicPr>
          <p:cNvPr id="135" name="Google Shape;13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775" y="2571750"/>
            <a:ext cx="2208275" cy="220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3391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Icebreaker Question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Brainteasers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Market Making, continued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Market Making Game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Python/Conda Set Up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Project</a:t>
            </a:r>
            <a:endParaRPr sz="2400"/>
          </a:p>
        </p:txBody>
      </p:sp>
      <p:pic>
        <p:nvPicPr>
          <p:cNvPr id="142" name="Google Shape;14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Ice Breaker</a:t>
            </a:r>
            <a:endParaRPr/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1297500" y="13391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What is the worst class you’ve ever taken?</a:t>
            </a:r>
            <a:endParaRPr sz="1600"/>
          </a:p>
        </p:txBody>
      </p:sp>
      <p:pic>
        <p:nvPicPr>
          <p:cNvPr id="149" name="Google Shape;14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6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Brain Teaser - Chameleon Colors</a:t>
            </a:r>
            <a:endParaRPr/>
          </a:p>
        </p:txBody>
      </p:sp>
      <p:sp>
        <p:nvSpPr>
          <p:cNvPr id="156" name="Google Shape;156;p16"/>
          <p:cNvSpPr txBox="1"/>
          <p:nvPr>
            <p:ph idx="1" type="body"/>
          </p:nvPr>
        </p:nvSpPr>
        <p:spPr>
          <a:xfrm>
            <a:off x="1297500" y="1485325"/>
            <a:ext cx="7257000" cy="268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A remote island has chameleons that can change between 3 </a:t>
            </a:r>
            <a:r>
              <a:rPr lang="en" sz="1700"/>
              <a:t>different</a:t>
            </a:r>
            <a:r>
              <a:rPr lang="en" sz="1700"/>
              <a:t> colors: red, green and blue</a:t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/>
              <a:t>When two chameleons meet, they will change their color to the third color (example red and blue ones meet, they become green)</a:t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/>
              <a:t>If there are 13 red, 15 green, and 17 blue chameleons,      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(13,15,17) is it ever possible for all the chameleons to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be the same color?</a:t>
            </a:r>
            <a:endParaRPr sz="1700"/>
          </a:p>
        </p:txBody>
      </p:sp>
      <p:pic>
        <p:nvPicPr>
          <p:cNvPr id="157" name="Google Shape;15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31009" y="2457000"/>
            <a:ext cx="2627087" cy="2686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Brain Teaser - Answer</a:t>
            </a:r>
            <a:endParaRPr/>
          </a:p>
        </p:txBody>
      </p:sp>
      <p:sp>
        <p:nvSpPr>
          <p:cNvPr id="163" name="Google Shape;163;p17"/>
          <p:cNvSpPr txBox="1"/>
          <p:nvPr>
            <p:ph idx="1" type="body"/>
          </p:nvPr>
        </p:nvSpPr>
        <p:spPr>
          <a:xfrm>
            <a:off x="1297500" y="14913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This problem can be reduced to 0 red, 2 green, and 4 blue chameleons (0,2,4).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This is because any (1,1,1) can become (0,0,3)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These are the possible states from (0,2,4)</a:t>
            </a:r>
            <a:r>
              <a:rPr lang="en" sz="1700"/>
              <a:t>: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The combination (1,2,3) can be further reduced to (0,1,2), which can never reach (3,0,0). (0,1,2) will repeat, and will always return to (0,1,2)</a:t>
            </a:r>
            <a:endParaRPr sz="1700"/>
          </a:p>
        </p:txBody>
      </p:sp>
      <p:pic>
        <p:nvPicPr>
          <p:cNvPr id="164" name="Google Shape;16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6349" y="2519524"/>
            <a:ext cx="2450500" cy="144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 txBox="1"/>
          <p:nvPr>
            <p:ph type="title"/>
          </p:nvPr>
        </p:nvSpPr>
        <p:spPr>
          <a:xfrm>
            <a:off x="823850" y="2053000"/>
            <a:ext cx="53499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 Making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 Matching System</a:t>
            </a:r>
            <a:endParaRPr/>
          </a:p>
        </p:txBody>
      </p:sp>
      <p:sp>
        <p:nvSpPr>
          <p:cNvPr id="175" name="Google Shape;175;p19"/>
          <p:cNvSpPr txBox="1"/>
          <p:nvPr>
            <p:ph idx="1" type="body"/>
          </p:nvPr>
        </p:nvSpPr>
        <p:spPr>
          <a:xfrm>
            <a:off x="1105450" y="1207350"/>
            <a:ext cx="6468300" cy="33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 system that exchanges use to match bids and asks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All electronic exchanges rely on these systems, also known as matching engines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Matching engines are common topics in interviews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Some firms (IMC) may ask you to implement a basic matching engine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Two states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Continuous: Orders matched immediately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Auction: Orders matched at fixed intervals, often is used at the start of a day when orders have built up.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Implementation of these generally uses a priority queue/stack</a:t>
            </a:r>
            <a:endParaRPr sz="1600"/>
          </a:p>
        </p:txBody>
      </p:sp>
      <p:pic>
        <p:nvPicPr>
          <p:cNvPr id="176" name="Google Shape;17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 txBox="1"/>
          <p:nvPr>
            <p:ph type="title"/>
          </p:nvPr>
        </p:nvSpPr>
        <p:spPr>
          <a:xfrm>
            <a:off x="1297500" y="393750"/>
            <a:ext cx="7038900" cy="5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 Book Example</a:t>
            </a:r>
            <a:endParaRPr/>
          </a:p>
        </p:txBody>
      </p:sp>
      <p:pic>
        <p:nvPicPr>
          <p:cNvPr id="182" name="Google Shape;18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3" name="Google Shape;183;p20"/>
          <p:cNvGraphicFramePr/>
          <p:nvPr/>
        </p:nvGraphicFramePr>
        <p:xfrm>
          <a:off x="823325" y="146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{279DBA75-10F4-48A4-87DD-6587E9D74FFE}</a:tableStyleId>
              </a:tblPr>
              <a:tblGrid>
                <a:gridCol w="2413000"/>
                <a:gridCol w="2413000"/>
                <a:gridCol w="2413000"/>
              </a:tblGrid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Bid (Volume)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Price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Ask (Volume)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100.03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150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100.02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100.01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50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60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99.99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120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99.98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1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180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99.97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/>
          <p:nvPr>
            <p:ph type="title"/>
          </p:nvPr>
        </p:nvSpPr>
        <p:spPr>
          <a:xfrm>
            <a:off x="1297500" y="393750"/>
            <a:ext cx="7038900" cy="5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 Book Example</a:t>
            </a:r>
            <a:endParaRPr/>
          </a:p>
        </p:txBody>
      </p:sp>
      <p:pic>
        <p:nvPicPr>
          <p:cNvPr id="189" name="Google Shape;18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0" name="Google Shape;190;p21"/>
          <p:cNvGraphicFramePr/>
          <p:nvPr/>
        </p:nvGraphicFramePr>
        <p:xfrm>
          <a:off x="823325" y="146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{279DBA75-10F4-48A4-87DD-6587E9D74FFE}</a:tableStyleId>
              </a:tblPr>
              <a:tblGrid>
                <a:gridCol w="2413000"/>
                <a:gridCol w="2413000"/>
                <a:gridCol w="2413000"/>
              </a:tblGrid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Bid (Volume)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Price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Ask (Volume)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100.03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150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100.02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 (SOLD)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100.01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50 (SOLD)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60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99.99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120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99.98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1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180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99.97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 txBox="1"/>
          <p:nvPr>
            <p:ph type="title"/>
          </p:nvPr>
        </p:nvSpPr>
        <p:spPr>
          <a:xfrm>
            <a:off x="1297500" y="393750"/>
            <a:ext cx="7038900" cy="5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 Book Example</a:t>
            </a:r>
            <a:endParaRPr/>
          </a:p>
        </p:txBody>
      </p:sp>
      <p:pic>
        <p:nvPicPr>
          <p:cNvPr id="196" name="Google Shape;19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7" name="Google Shape;197;p22"/>
          <p:cNvGraphicFramePr/>
          <p:nvPr/>
        </p:nvGraphicFramePr>
        <p:xfrm>
          <a:off x="823325" y="146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{279DBA75-10F4-48A4-87DD-6587E9D74FFE}</a:tableStyleId>
              </a:tblPr>
              <a:tblGrid>
                <a:gridCol w="2413000"/>
                <a:gridCol w="2413000"/>
                <a:gridCol w="2413000"/>
              </a:tblGrid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Bid (Volume)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Price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Ask (Volume)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100.05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250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100.04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200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100.03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150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100.02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60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100.01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120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1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180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99.99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3"/>
          <p:cNvSpPr txBox="1"/>
          <p:nvPr>
            <p:ph type="title"/>
          </p:nvPr>
        </p:nvSpPr>
        <p:spPr>
          <a:xfrm>
            <a:off x="823850" y="2053000"/>
            <a:ext cx="53499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 Making Game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</a:t>
            </a:r>
            <a:endParaRPr/>
          </a:p>
        </p:txBody>
      </p:sp>
      <p:sp>
        <p:nvSpPr>
          <p:cNvPr id="208" name="Google Shape;208;p24"/>
          <p:cNvSpPr txBox="1"/>
          <p:nvPr>
            <p:ph idx="1" type="body"/>
          </p:nvPr>
        </p:nvSpPr>
        <p:spPr>
          <a:xfrm>
            <a:off x="950350" y="1207350"/>
            <a:ext cx="6623400" cy="33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Similar to Jane Street Estimathon, or Optiver’s market making game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 question will appear on screen, and one person will make a market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Everyone must then either buy or sell on that market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 role of market maker will rotate such that everyone is the market maker once</a:t>
            </a:r>
            <a:endParaRPr sz="1600"/>
          </a:p>
        </p:txBody>
      </p:sp>
      <p:pic>
        <p:nvPicPr>
          <p:cNvPr id="209" name="Google Shape;20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5"/>
          <p:cNvSpPr txBox="1"/>
          <p:nvPr>
            <p:ph type="title"/>
          </p:nvPr>
        </p:nvSpPr>
        <p:spPr>
          <a:xfrm>
            <a:off x="823850" y="2053000"/>
            <a:ext cx="53499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 The Population of Montenegro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6"/>
          <p:cNvSpPr txBox="1"/>
          <p:nvPr>
            <p:ph type="title"/>
          </p:nvPr>
        </p:nvSpPr>
        <p:spPr>
          <a:xfrm>
            <a:off x="823850" y="2053000"/>
            <a:ext cx="53499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2: Exponential of the EECS 281 late withdrawal rate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7"/>
          <p:cNvSpPr txBox="1"/>
          <p:nvPr>
            <p:ph type="title"/>
          </p:nvPr>
        </p:nvSpPr>
        <p:spPr>
          <a:xfrm>
            <a:off x="823850" y="2053000"/>
            <a:ext cx="5349900" cy="163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3: The Sum of the Class Numbers that Toland and I are taking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8"/>
          <p:cNvSpPr txBox="1"/>
          <p:nvPr>
            <p:ph type="title"/>
          </p:nvPr>
        </p:nvSpPr>
        <p:spPr>
          <a:xfrm>
            <a:off x="823850" y="2053000"/>
            <a:ext cx="53499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4: The amount of people living in South Quad divided by pi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9"/>
          <p:cNvSpPr txBox="1"/>
          <p:nvPr>
            <p:ph type="title"/>
          </p:nvPr>
        </p:nvSpPr>
        <p:spPr>
          <a:xfrm>
            <a:off x="823850" y="2053000"/>
            <a:ext cx="55245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5: The area of Morocco (sq mi)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0"/>
          <p:cNvSpPr txBox="1"/>
          <p:nvPr>
            <p:ph type="title"/>
          </p:nvPr>
        </p:nvSpPr>
        <p:spPr>
          <a:xfrm>
            <a:off x="823850" y="2053000"/>
            <a:ext cx="53499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6: The percentage on Patrick’s phone right now times 50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1"/>
          <p:cNvSpPr txBox="1"/>
          <p:nvPr>
            <p:ph type="title"/>
          </p:nvPr>
        </p:nvSpPr>
        <p:spPr>
          <a:xfrm>
            <a:off x="823850" y="2053000"/>
            <a:ext cx="53499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7: The FY23 Michigan Football Revenue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2"/>
          <p:cNvSpPr txBox="1"/>
          <p:nvPr>
            <p:ph type="title"/>
          </p:nvPr>
        </p:nvSpPr>
        <p:spPr>
          <a:xfrm>
            <a:off x="823850" y="2053000"/>
            <a:ext cx="53499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8: The number of unread messages on Toland’s Messages app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3"/>
          <p:cNvSpPr txBox="1"/>
          <p:nvPr>
            <p:ph type="title"/>
          </p:nvPr>
        </p:nvSpPr>
        <p:spPr>
          <a:xfrm>
            <a:off x="823850" y="2053000"/>
            <a:ext cx="53499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r>
              <a:rPr lang="en"/>
              <a:t>: The Number of Cars registered in NYC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4"/>
          <p:cNvSpPr txBox="1"/>
          <p:nvPr>
            <p:ph type="title"/>
          </p:nvPr>
        </p:nvSpPr>
        <p:spPr>
          <a:xfrm>
            <a:off x="823850" y="2053000"/>
            <a:ext cx="53499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r>
              <a:rPr lang="en"/>
              <a:t>: The Volume of Lake Michigan in cubic miles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5"/>
          <p:cNvSpPr txBox="1"/>
          <p:nvPr>
            <p:ph type="title"/>
          </p:nvPr>
        </p:nvSpPr>
        <p:spPr>
          <a:xfrm>
            <a:off x="823850" y="2053000"/>
            <a:ext cx="53499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11: The Number of Cars registered in NYC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6"/>
          <p:cNvSpPr txBox="1"/>
          <p:nvPr>
            <p:ph type="title"/>
          </p:nvPr>
        </p:nvSpPr>
        <p:spPr>
          <a:xfrm>
            <a:off x="449275" y="2062150"/>
            <a:ext cx="56718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Python/Conda Set Up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Setup</a:t>
            </a:r>
            <a:endParaRPr/>
          </a:p>
        </p:txBody>
      </p:sp>
      <p:sp>
        <p:nvSpPr>
          <p:cNvPr id="275" name="Google Shape;275;p37"/>
          <p:cNvSpPr txBox="1"/>
          <p:nvPr>
            <p:ph idx="1" type="body"/>
          </p:nvPr>
        </p:nvSpPr>
        <p:spPr>
          <a:xfrm>
            <a:off x="1337850" y="1220400"/>
            <a:ext cx="6668400" cy="33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This is what you can </a:t>
            </a:r>
            <a:r>
              <a:rPr lang="en" sz="1600"/>
              <a:t>type in your terminal to install python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Note: python and python3 are different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python is the default python interpreter, but it may be the wrong version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/>
              <a:t>As long as whichever one you use is version 3 you are good to go</a:t>
            </a:r>
            <a:endParaRPr sz="1600"/>
          </a:p>
        </p:txBody>
      </p:sp>
      <p:pic>
        <p:nvPicPr>
          <p:cNvPr id="276" name="Google Shape;27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7"/>
          <p:cNvSpPr txBox="1"/>
          <p:nvPr/>
        </p:nvSpPr>
        <p:spPr>
          <a:xfrm>
            <a:off x="1412700" y="1769775"/>
            <a:ext cx="3159300" cy="384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~$ sudo apt install python3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8" name="Google Shape;278;p37"/>
          <p:cNvSpPr txBox="1"/>
          <p:nvPr/>
        </p:nvSpPr>
        <p:spPr>
          <a:xfrm>
            <a:off x="5656350" y="2683600"/>
            <a:ext cx="2219400" cy="585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~$ python3 --version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~$ python --version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9" name="Google Shape;279;p37"/>
          <p:cNvSpPr txBox="1"/>
          <p:nvPr/>
        </p:nvSpPr>
        <p:spPr>
          <a:xfrm>
            <a:off x="1412700" y="4128400"/>
            <a:ext cx="2219400" cy="585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~$ python3 test.py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~$ python test.py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Conda </a:t>
            </a:r>
            <a:r>
              <a:rPr lang="en"/>
              <a:t>Setup</a:t>
            </a:r>
            <a:endParaRPr/>
          </a:p>
        </p:txBody>
      </p:sp>
      <p:sp>
        <p:nvSpPr>
          <p:cNvPr id="285" name="Google Shape;285;p38"/>
          <p:cNvSpPr txBox="1"/>
          <p:nvPr>
            <p:ph idx="1" type="body"/>
          </p:nvPr>
        </p:nvSpPr>
        <p:spPr>
          <a:xfrm>
            <a:off x="1337850" y="1220400"/>
            <a:ext cx="7294800" cy="33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We are going to use miniconda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Go to this website and download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the version for your system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May need to add execute privilege to the file, then run it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Simple conda commands				Create environment in your folder: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							replace python=3.7 with your version</a:t>
            </a:r>
            <a:endParaRPr sz="1600"/>
          </a:p>
          <a:p>
            <a:pPr indent="45720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/>
              <a:t>Get yfinance package</a:t>
            </a:r>
            <a:endParaRPr sz="1600"/>
          </a:p>
        </p:txBody>
      </p:sp>
      <p:pic>
        <p:nvPicPr>
          <p:cNvPr id="286" name="Google Shape;28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8"/>
          <p:cNvSpPr txBox="1"/>
          <p:nvPr/>
        </p:nvSpPr>
        <p:spPr>
          <a:xfrm>
            <a:off x="1412700" y="2386688"/>
            <a:ext cx="2846700" cy="384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chmod +x &lt;.sh filename&gt;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88" name="Google Shape;288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0850" y="1133950"/>
            <a:ext cx="2788250" cy="1549649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89" name="Google Shape;289;p38"/>
          <p:cNvSpPr txBox="1"/>
          <p:nvPr/>
        </p:nvSpPr>
        <p:spPr>
          <a:xfrm>
            <a:off x="1412700" y="3628500"/>
            <a:ext cx="2846700" cy="985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conda init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conda list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conda env list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conda install &lt;whatever&gt;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0" name="Google Shape;290;p38"/>
          <p:cNvSpPr txBox="1"/>
          <p:nvPr/>
        </p:nvSpPr>
        <p:spPr>
          <a:xfrm>
            <a:off x="4624925" y="3732925"/>
            <a:ext cx="3929400" cy="384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conda create –name &lt;name&gt; python=3.7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1" name="Google Shape;291;p38"/>
          <p:cNvSpPr txBox="1"/>
          <p:nvPr/>
        </p:nvSpPr>
        <p:spPr>
          <a:xfrm>
            <a:off x="4624925" y="4718125"/>
            <a:ext cx="3929400" cy="384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conda install –c conda-forge yfinance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9"/>
          <p:cNvSpPr txBox="1"/>
          <p:nvPr>
            <p:ph type="title"/>
          </p:nvPr>
        </p:nvSpPr>
        <p:spPr>
          <a:xfrm>
            <a:off x="449275" y="2062150"/>
            <a:ext cx="56718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Discussion/Work Time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Attendance Form</a:t>
            </a:r>
            <a:endParaRPr/>
          </a:p>
        </p:txBody>
      </p:sp>
      <p:sp>
        <p:nvSpPr>
          <p:cNvPr id="302" name="Google Shape;302;p40"/>
          <p:cNvSpPr txBox="1"/>
          <p:nvPr>
            <p:ph idx="1" type="body"/>
          </p:nvPr>
        </p:nvSpPr>
        <p:spPr>
          <a:xfrm>
            <a:off x="5632513" y="884875"/>
            <a:ext cx="3054000" cy="47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Link to Onboarding Document, Slack and Team Folder</a:t>
            </a:r>
            <a:endParaRPr/>
          </a:p>
        </p:txBody>
      </p:sp>
      <p:sp>
        <p:nvSpPr>
          <p:cNvPr id="303" name="Google Shape;303;p40"/>
          <p:cNvSpPr txBox="1"/>
          <p:nvPr/>
        </p:nvSpPr>
        <p:spPr>
          <a:xfrm>
            <a:off x="1153900" y="978425"/>
            <a:ext cx="305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This one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4" name="Google Shape;304;p40"/>
          <p:cNvSpPr/>
          <p:nvPr/>
        </p:nvSpPr>
        <p:spPr>
          <a:xfrm>
            <a:off x="2439075" y="876175"/>
            <a:ext cx="352500" cy="4926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5" name="Google Shape;305;p40"/>
          <p:cNvSpPr txBox="1"/>
          <p:nvPr/>
        </p:nvSpPr>
        <p:spPr>
          <a:xfrm>
            <a:off x="731050" y="4496125"/>
            <a:ext cx="3280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https://forms.gle/fZU7zFBUvnw92ces6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6" name="Google Shape;30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2825" y="1541838"/>
            <a:ext cx="2720300" cy="27203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40"/>
          <p:cNvSpPr txBox="1"/>
          <p:nvPr/>
        </p:nvSpPr>
        <p:spPr>
          <a:xfrm>
            <a:off x="5173350" y="2167050"/>
            <a:ext cx="3694500" cy="404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5"/>
              </a:rPr>
              <a:t>http://tinyurl.com/5ad364cy</a:t>
            </a:r>
            <a:endParaRPr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F15D24"/>
      </a:dk1>
      <a:lt1>
        <a:srgbClr val="FFFFFF"/>
      </a:lt1>
      <a:dk2>
        <a:srgbClr val="D9D9D9"/>
      </a:dk2>
      <a:lt2>
        <a:srgbClr val="3D3D3D"/>
      </a:lt2>
      <a:accent1>
        <a:srgbClr val="FFFFFF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