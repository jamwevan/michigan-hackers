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Montserrat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bold.fntdata"/><Relationship Id="rId13" Type="http://schemas.openxmlformats.org/officeDocument/2006/relationships/slide" Target="slides/slide8.xml"/><Relationship Id="rId35" Type="http://schemas.openxmlformats.org/officeDocument/2006/relationships/font" Target="fonts/Lato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37" Type="http://schemas.openxmlformats.org/officeDocument/2006/relationships/font" Target="fonts/Lato-italic.fntdata"/><Relationship Id="rId14" Type="http://schemas.openxmlformats.org/officeDocument/2006/relationships/slide" Target="slides/slide9.xml"/><Relationship Id="rId36" Type="http://schemas.openxmlformats.org/officeDocument/2006/relationships/font" Target="fonts/Lat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La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681c12f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681c12f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681c12f4c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681c12f4c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6ba69423e9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6ba69423e9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6ba69423e9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6ba69423e9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6681c12f4c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6681c12f4c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6ba69423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6ba69423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b71d1aab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b71d1aab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b81eb3dc9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b81eb3dc9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6ba69423e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6ba69423e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b81eb3dc9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b81eb3dc9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b81eb3dc9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b81eb3dc9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b81eb3dc9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b81eb3dc9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b961e4ebc2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b961e4ebc2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b81eb3dc9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b81eb3dc9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81eb3dc9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b81eb3dc9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b81eb3dc9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b81eb3dc9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b81eb3dc9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b81eb3dc9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b81eb3dc9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b81eb3dc9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6848eae86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6848eae86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write the platform to make and conduct trading strategies.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guys will write and implement the strategies, test them on prior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for more software-oriented people you guys could also make the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do this in python/C++, if python use numPy and Yahoo Finance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matplotlib plot graphs, show that in pdf/md/html file through github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6ba69423e9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6ba69423e9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6ba69423e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6ba69423e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6ba69423e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6ba69423e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6ba69423e9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6ba69423e9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6681c12f4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6681c12f4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areers.imc.com/us/en/launchpad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google.com/document/d/1oA2q-qjPCw1bY79zWf1LtpeN_da65L0ntnxzCQSsJRc/edit?usp=sharing" TargetMode="Externa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9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Week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3/14/24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5" y="2571750"/>
            <a:ext cx="2208275" cy="22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Icebreaker Question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Brainteasers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Greek Options Values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Project</a:t>
            </a:r>
            <a:endParaRPr sz="24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Breaker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Favorite flavor (of anything)</a:t>
            </a:r>
            <a:endParaRPr sz="2000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IMC Sponsorship!</a:t>
            </a:r>
            <a:endParaRPr/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6250" y="1131350"/>
            <a:ext cx="4980152" cy="35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475" y="1443450"/>
            <a:ext cx="2090700" cy="20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244950" y="4275490"/>
            <a:ext cx="19047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Referal Code: 3MRLW8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IMC Sponsorship!</a:t>
            </a:r>
            <a:endParaRPr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1297500" y="1485325"/>
            <a:ext cx="7257000" cy="26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Sophomores, apply to IMC Launchpad: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uFill>
                  <a:noFill/>
                </a:uFill>
                <a:hlinkClick r:id="rId3"/>
              </a:rPr>
              <a:t>https://careers.imc.com/us/en/launchpad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Great opportunity to learn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If you get in, IMC gives you a final round internship interview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IMC Event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Time/Date TBD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Bankers</a:t>
            </a:r>
            <a:endParaRPr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1297500" y="1485325"/>
            <a:ext cx="7257000" cy="26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2 bankers arrive at the station at some random time </a:t>
            </a:r>
            <a:r>
              <a:rPr lang="en" sz="1700"/>
              <a:t>between</a:t>
            </a:r>
            <a:r>
              <a:rPr lang="en" sz="1700"/>
              <a:t> 5 and 6am.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(uniform distribution)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They stay exactly 5 minutes then leave. 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On a given day, what is the probability they will run into each other?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Bankers - Solution</a:t>
            </a:r>
            <a:endParaRPr/>
          </a:p>
        </p:txBody>
      </p:sp>
      <p:sp>
        <p:nvSpPr>
          <p:cNvPr id="177" name="Google Shape;177;p19"/>
          <p:cNvSpPr txBox="1"/>
          <p:nvPr>
            <p:ph idx="1" type="body"/>
          </p:nvPr>
        </p:nvSpPr>
        <p:spPr>
          <a:xfrm>
            <a:off x="1297500" y="1485325"/>
            <a:ext cx="7257000" cy="26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Let’s say these people are person X and person Y. Their arrival times are each between 0 and 60.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They will meet when |X - Y| ≤ 5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Find the area of the red strip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(60*60 - 2*(½*55*55)) / 3600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= 23/144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78" name="Google Shape;17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2219" y="2412800"/>
            <a:ext cx="2586749" cy="25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100" y="4171825"/>
            <a:ext cx="4954850" cy="80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130300" y="3843575"/>
            <a:ext cx="5628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Technical formulaic way of thinking about this problem: where f=1/3600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 Greek Values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Greeks? </a:t>
            </a:r>
            <a:endParaRPr/>
          </a:p>
        </p:txBody>
      </p:sp>
      <p:sp>
        <p:nvSpPr>
          <p:cNvPr id="191" name="Google Shape;191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Greek values are metrics that are used to determine the performance of options in relation to their underlying asset.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These are the first partial derivatives of various factors influencing the asset value.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The primary greek values are: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Delta Δ, Theta Θ, Gamma Γ, Vega v, and Rho ⍴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Note: </a:t>
            </a:r>
            <a:r>
              <a:rPr b="1" lang="en"/>
              <a:t>Alpha </a:t>
            </a:r>
            <a:r>
              <a:rPr lang="en"/>
              <a:t>and  </a:t>
            </a:r>
            <a:r>
              <a:rPr b="1" lang="en"/>
              <a:t>Beta </a:t>
            </a:r>
            <a:r>
              <a:rPr lang="en"/>
              <a:t>are not included here.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</a:t>
            </a:r>
            <a:r>
              <a:rPr lang="en"/>
              <a:t> (not a Greek)</a:t>
            </a:r>
            <a:endParaRPr/>
          </a:p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This measures how good/bad a stock has performed compared to a benchmark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Often measured in percentage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4543"/>
          <a:stretch/>
        </p:blipFill>
        <p:spPr>
          <a:xfrm>
            <a:off x="4210675" y="3268450"/>
            <a:ext cx="4634100" cy="1726200"/>
          </a:xfrm>
          <a:prstGeom prst="roundRect">
            <a:avLst>
              <a:gd fmla="val 536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9" name="Google Shape;199;p22"/>
          <p:cNvSpPr txBox="1"/>
          <p:nvPr/>
        </p:nvSpPr>
        <p:spPr>
          <a:xfrm>
            <a:off x="4210675" y="2830700"/>
            <a:ext cx="428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From Investopedia: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708725" y="2830700"/>
            <a:ext cx="3564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Example: 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Stock Starting Price: $20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Stock Ending Price: $21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Dividend: $1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Alpha = (21 + 1 - 20) / 20 = 10%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Beta β (not a Greek)</a:t>
            </a:r>
            <a:endParaRPr/>
          </a:p>
        </p:txBody>
      </p:sp>
      <p:sp>
        <p:nvSpPr>
          <p:cNvPr id="206" name="Google Shape;206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Even though Beta is a greek letter, it is not considered a greek.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It doesn’t represent a partial derivative of the underlying asset like the other values do.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Beta represents the volatility of an asset compared to the rest of the market.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In terms of statistics, this is very similar to variance but is normalized to the market as a whole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 beta of greater than 1 means the asset is more volatile than the market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A beta of less than 1 means the asset is less volatile than the market</a:t>
            </a:r>
            <a:endParaRPr sz="1600"/>
          </a:p>
        </p:txBody>
      </p:sp>
      <p:pic>
        <p:nvPicPr>
          <p:cNvPr id="207" name="Google Shape;2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250" y="791452"/>
            <a:ext cx="4150875" cy="71215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at NVDA (again)</a:t>
            </a:r>
            <a:endParaRPr/>
          </a:p>
        </p:txBody>
      </p:sp>
      <p:sp>
        <p:nvSpPr>
          <p:cNvPr id="213" name="Google Shape;213;p24"/>
          <p:cNvSpPr txBox="1"/>
          <p:nvPr>
            <p:ph idx="1" type="body"/>
          </p:nvPr>
        </p:nvSpPr>
        <p:spPr>
          <a:xfrm>
            <a:off x="463725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700" y="1897707"/>
            <a:ext cx="4196800" cy="2491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885564"/>
            <a:ext cx="4196799" cy="2503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Delta Δ</a:t>
            </a:r>
            <a:endParaRPr/>
          </a:p>
        </p:txBody>
      </p:sp>
      <p:sp>
        <p:nvSpPr>
          <p:cNvPr id="221" name="Google Shape;221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Estimates the change in price of the derivative/option based on a $1 move in the price of the underlying asset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This value is typically not above 1.0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Example,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 stock price </a:t>
            </a:r>
            <a:r>
              <a:rPr lang="en" sz="1600"/>
              <a:t>increases</a:t>
            </a:r>
            <a:r>
              <a:rPr lang="en" sz="1600"/>
              <a:t> by $2.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 call option with a strike price of $80 </a:t>
            </a:r>
            <a:r>
              <a:rPr lang="en" sz="1600"/>
              <a:t>that</a:t>
            </a:r>
            <a:r>
              <a:rPr lang="en" sz="1600"/>
              <a:t> is currently trading at $20 has a delta of 0.8 	  What will the new price of this be?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$21.60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6363"/>
            <a:ext cx="9144003" cy="333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Theta Θ</a:t>
            </a:r>
            <a:endParaRPr/>
          </a:p>
        </p:txBody>
      </p:sp>
      <p:sp>
        <p:nvSpPr>
          <p:cNvPr id="234" name="Google Shape;234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Estimates the rate of change between price and time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Value will get larger as the option gets closer to date of expiration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In-the-money options will have a positive theta value, out of the money options will be </a:t>
            </a:r>
            <a:r>
              <a:rPr lang="en"/>
              <a:t>negative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Example,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 theta value is -0.5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This means that  for every day that passes, the price of the option will go down by $0.50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Gamma Γ</a:t>
            </a:r>
            <a:endParaRPr/>
          </a:p>
        </p:txBody>
      </p:sp>
      <p:sp>
        <p:nvSpPr>
          <p:cNvPr id="240" name="Google Shape;240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derivative of Delta with respect to price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Basically how fast the Delta is changing at a price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Higher gamma values mean more risk. Given 2 stocks with equal delta values that each have price changes of $5, the one with a higher gamma will have a larger change in price</a:t>
            </a:r>
            <a:endParaRPr sz="1600"/>
          </a:p>
        </p:txBody>
      </p:sp>
      <p:pic>
        <p:nvPicPr>
          <p:cNvPr id="241" name="Google Shape;24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9150" y="3168450"/>
            <a:ext cx="3738099" cy="197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Vega v</a:t>
            </a:r>
            <a:endParaRPr/>
          </a:p>
        </p:txBody>
      </p:sp>
      <p:sp>
        <p:nvSpPr>
          <p:cNvPr id="247" name="Google Shape;247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Measures change in price based on change in implied volatility.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Forward-looking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Whereas delta measures in terms of actual price change, Vega measures in terms of theoretical price changes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Rho ⍴</a:t>
            </a:r>
            <a:endParaRPr/>
          </a:p>
        </p:txBody>
      </p:sp>
      <p:sp>
        <p:nvSpPr>
          <p:cNvPr id="253" name="Google Shape;253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Measures Price change in terms of Interest Rates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Lesser Known Greeks</a:t>
            </a:r>
            <a:endParaRPr/>
          </a:p>
        </p:txBody>
      </p:sp>
      <p:sp>
        <p:nvSpPr>
          <p:cNvPr id="259" name="Google Shape;259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Lambda, Epsilon, Vomma, Vera, Zomma, and Ultima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These are second and third derivatives of the other greeks we have talked about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These trends can also be seen by those with a keen eye by looking at the main Greeks, but are explicitly calculated and named to be these variables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Becoming increasingly more important in large algorithms because </a:t>
            </a:r>
            <a:r>
              <a:rPr lang="en" sz="1600"/>
              <a:t>they are relatively easy to compute and can show hidden patterns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/>
          <p:nvPr>
            <p:ph type="title"/>
          </p:nvPr>
        </p:nvSpPr>
        <p:spPr>
          <a:xfrm>
            <a:off x="449275" y="2062150"/>
            <a:ext cx="5671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Discussion/Work Time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Environment</a:t>
            </a:r>
            <a:endParaRPr/>
          </a:p>
        </p:txBody>
      </p:sp>
      <p:sp>
        <p:nvSpPr>
          <p:cNvPr id="270" name="Google Shape;270;p3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of right now, we’ll use Google Drive/Colab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.py files stored in the drive, need to be implemented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.ipynb file for driver, also needs to be implemented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Hoping to move to git/github and conda environments soon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Review the guide and setup your python and conda environments accordingly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you get stuck, I will be available to help out next week outside of our normal meeting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Colab</a:t>
            </a:r>
            <a:endParaRPr/>
          </a:p>
        </p:txBody>
      </p:sp>
      <p:sp>
        <p:nvSpPr>
          <p:cNvPr id="276" name="Google Shape;276;p3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Located in Quant Drive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Copy this and put it in your drive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Sample </a:t>
            </a:r>
            <a:r>
              <a:rPr lang="en" sz="1600"/>
              <a:t>finance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commands/functions,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What we’ve been working on</a:t>
            </a:r>
            <a:endParaRPr sz="1600"/>
          </a:p>
        </p:txBody>
      </p:sp>
      <p:pic>
        <p:nvPicPr>
          <p:cNvPr id="277" name="Google Shape;2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9225" y="1394200"/>
            <a:ext cx="3877176" cy="325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algorithm.py</a:t>
            </a:r>
            <a:endParaRPr/>
          </a:p>
        </p:txBody>
      </p:sp>
      <p:sp>
        <p:nvSpPr>
          <p:cNvPr id="283" name="Google Shape;283;p35"/>
          <p:cNvSpPr txBox="1"/>
          <p:nvPr>
            <p:ph idx="1" type="body"/>
          </p:nvPr>
        </p:nvSpPr>
        <p:spPr>
          <a:xfrm>
            <a:off x="877050" y="1567550"/>
            <a:ext cx="7619400" cy="3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Base class for algorithms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Other algorithms we develop will inherit from this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Necessary to standardize input/output so we can backtest many types of algos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Member </a:t>
            </a:r>
            <a:r>
              <a:rPr lang="en" sz="1600"/>
              <a:t>variables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portfolio: dictionary of (Ticker, # of shares)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</a:t>
            </a:r>
            <a:r>
              <a:rPr lang="en" sz="1600"/>
              <a:t>ash: amount of cash on hand (can be negative)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Member functions: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buy(Ticker): increases ticker value, decreases cash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sell(Ticker): decreases ticker value, increases cash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backtest</a:t>
            </a:r>
            <a:r>
              <a:rPr lang="en"/>
              <a:t>.py</a:t>
            </a:r>
            <a:endParaRPr/>
          </a:p>
        </p:txBody>
      </p:sp>
      <p:sp>
        <p:nvSpPr>
          <p:cNvPr id="289" name="Google Shape;289;p36"/>
          <p:cNvSpPr txBox="1"/>
          <p:nvPr>
            <p:ph idx="1" type="body"/>
          </p:nvPr>
        </p:nvSpPr>
        <p:spPr>
          <a:xfrm>
            <a:off x="877050" y="1567550"/>
            <a:ext cx="8039700" cy="3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Backtest class contains functions for running algorithms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</a:t>
            </a:r>
            <a:r>
              <a:rPr lang="en" sz="1600"/>
              <a:t>un(algorithm, startDate, endDate): runs the algorithm on a particular date range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Logs relevant information, like when trades are made, portfolio value at each time step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graphReturns(): creates a plot of returns vs. time (using matplotlib)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</a:t>
            </a:r>
            <a:r>
              <a:rPr lang="en" sz="1600"/>
              <a:t>alculateVol(): calculates the volatility of the algorithm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calculateSharpe(): calculates the Sharpe ratio of the algorithm (risk v. return)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 Form</a:t>
            </a:r>
            <a:endParaRPr/>
          </a:p>
        </p:txBody>
      </p:sp>
      <p:sp>
        <p:nvSpPr>
          <p:cNvPr id="295" name="Google Shape;295;p37"/>
          <p:cNvSpPr txBox="1"/>
          <p:nvPr>
            <p:ph idx="1" type="body"/>
          </p:nvPr>
        </p:nvSpPr>
        <p:spPr>
          <a:xfrm>
            <a:off x="5632513" y="884875"/>
            <a:ext cx="3054000" cy="4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Link to Onboarding Document, Slack and Team Folder</a:t>
            </a:r>
            <a:endParaRPr/>
          </a:p>
        </p:txBody>
      </p:sp>
      <p:sp>
        <p:nvSpPr>
          <p:cNvPr id="296" name="Google Shape;296;p37"/>
          <p:cNvSpPr txBox="1"/>
          <p:nvPr/>
        </p:nvSpPr>
        <p:spPr>
          <a:xfrm>
            <a:off x="1153900" y="978425"/>
            <a:ext cx="305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one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7" name="Google Shape;297;p37"/>
          <p:cNvSpPr/>
          <p:nvPr/>
        </p:nvSpPr>
        <p:spPr>
          <a:xfrm>
            <a:off x="2439075" y="876175"/>
            <a:ext cx="352500" cy="492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8" name="Google Shape;298;p37"/>
          <p:cNvSpPr txBox="1"/>
          <p:nvPr/>
        </p:nvSpPr>
        <p:spPr>
          <a:xfrm>
            <a:off x="731050" y="4496125"/>
            <a:ext cx="328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7"/>
          <p:cNvSpPr txBox="1"/>
          <p:nvPr/>
        </p:nvSpPr>
        <p:spPr>
          <a:xfrm>
            <a:off x="5230150" y="379535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https://docs.google.com/document/d/1oA2q-qjPCw1bY79zWf1LtpeN_da65L0ntnxzCQSsJRc/edit?usp=sharing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4588" y="1623425"/>
            <a:ext cx="2772613" cy="27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