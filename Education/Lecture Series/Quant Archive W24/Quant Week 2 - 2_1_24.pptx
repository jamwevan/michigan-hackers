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Montserrat"/>
      <p:regular r:id="rId30"/>
      <p:bold r:id="rId31"/>
      <p:italic r:id="rId32"/>
      <p:boldItalic r:id="rId33"/>
    </p:embeddedFont>
    <p:embeddedFont>
      <p:font typeface="La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AAC630-4D4A-422B-A876-2EC735031D02}">
  <a:tblStyle styleId="{A3AAC630-4D4A-422B-A876-2EC735031D0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5.xml"/><Relationship Id="rId33" Type="http://schemas.openxmlformats.org/officeDocument/2006/relationships/font" Target="fonts/Montserrat-boldItalic.fntdata"/><Relationship Id="rId10" Type="http://schemas.openxmlformats.org/officeDocument/2006/relationships/slide" Target="slides/slide4.xml"/><Relationship Id="rId32" Type="http://schemas.openxmlformats.org/officeDocument/2006/relationships/font" Target="fonts/Montserrat-italic.fntdata"/><Relationship Id="rId13" Type="http://schemas.openxmlformats.org/officeDocument/2006/relationships/slide" Target="slides/slide7.xml"/><Relationship Id="rId35" Type="http://schemas.openxmlformats.org/officeDocument/2006/relationships/font" Target="fonts/Lato-bold.fntdata"/><Relationship Id="rId12" Type="http://schemas.openxmlformats.org/officeDocument/2006/relationships/slide" Target="slides/slide6.xml"/><Relationship Id="rId34" Type="http://schemas.openxmlformats.org/officeDocument/2006/relationships/font" Target="fonts/Lato-regular.fntdata"/><Relationship Id="rId15" Type="http://schemas.openxmlformats.org/officeDocument/2006/relationships/slide" Target="slides/slide9.xml"/><Relationship Id="rId37" Type="http://schemas.openxmlformats.org/officeDocument/2006/relationships/font" Target="fonts/Lato-boldItalic.fntdata"/><Relationship Id="rId14" Type="http://schemas.openxmlformats.org/officeDocument/2006/relationships/slide" Target="slides/slide8.xml"/><Relationship Id="rId36" Type="http://schemas.openxmlformats.org/officeDocument/2006/relationships/font" Target="fonts/La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681c12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681c12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681c12f4c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681c12f4c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681c12f4c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681c12f4c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66b80fe3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66b80fe3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513a471880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513a471880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b5a9561c1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b5a9561c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513a471880_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513a471880_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b5a9561c1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b5a9561c1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b5a9561c1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b5a9561c1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b5a9561c1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b5a9561c1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6681c12f4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6681c12f4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6681c12f4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6681c12f4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b5a9561c1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b5a9561c1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681c12f4c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6681c12f4c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6681c12f4c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6681c12f4c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b5a9561c1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b5a9561c1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b5a9561c1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b5a9561c1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b5a9561c1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b5a9561c1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b5a9561c1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b5a9561c1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b5a9561c1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b5a9561c1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b5a9561c1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b5a9561c1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a:t>
            </a:r>
            <a:endParaRPr/>
          </a:p>
          <a:p>
            <a:pPr indent="0" lvl="0" marL="0" rtl="0" algn="l">
              <a:spcBef>
                <a:spcPts val="0"/>
              </a:spcBef>
              <a:spcAft>
                <a:spcPts val="0"/>
              </a:spcAft>
              <a:buNone/>
            </a:pPr>
            <a:r>
              <a:rPr lang="en"/>
              <a:t>We’ll write the platform to make and conduct trading strategies.</a:t>
            </a:r>
            <a:endParaRPr/>
          </a:p>
          <a:p>
            <a:pPr indent="0" lvl="0" marL="0" rtl="0" algn="l">
              <a:spcBef>
                <a:spcPts val="0"/>
              </a:spcBef>
              <a:spcAft>
                <a:spcPts val="0"/>
              </a:spcAft>
              <a:buNone/>
            </a:pPr>
            <a:r>
              <a:rPr lang="en"/>
              <a:t>You guys will write and implement the strategies, test them on prior data</a:t>
            </a:r>
            <a:endParaRPr/>
          </a:p>
          <a:p>
            <a:pPr indent="0" lvl="0" marL="0" rtl="0" algn="l">
              <a:spcBef>
                <a:spcPts val="0"/>
              </a:spcBef>
              <a:spcAft>
                <a:spcPts val="0"/>
              </a:spcAft>
              <a:buNone/>
            </a:pPr>
            <a:r>
              <a:rPr lang="en"/>
              <a:t>Alternate for more software-oriented people you guys could also make the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do this in python/C++, if python use numPy and Yahoo Finance data</a:t>
            </a:r>
            <a:endParaRPr/>
          </a:p>
          <a:p>
            <a:pPr indent="0" lvl="0" marL="0" rtl="0" algn="l">
              <a:spcBef>
                <a:spcPts val="0"/>
              </a:spcBef>
              <a:spcAft>
                <a:spcPts val="0"/>
              </a:spcAft>
              <a:buNone/>
            </a:pPr>
            <a:r>
              <a:rPr lang="en"/>
              <a:t>Use matplotlib plot graphs, show that in pdf/md/html file through github</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6681c12f4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6681c12f4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hyperlink" Target="https://forms.gle/zSxTW3EgUcRMSiL3A" TargetMode="External"/><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9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 Week 2</a:t>
            </a:r>
            <a:endParaRPr/>
          </a:p>
          <a:p>
            <a:pPr indent="0" lvl="0" marL="0" rtl="0" algn="l">
              <a:spcBef>
                <a:spcPts val="0"/>
              </a:spcBef>
              <a:spcAft>
                <a:spcPts val="0"/>
              </a:spcAft>
              <a:buNone/>
            </a:pPr>
            <a:r>
              <a:rPr lang="en"/>
              <a:t>2/1/24</a:t>
            </a:r>
            <a:endParaRPr/>
          </a:p>
        </p:txBody>
      </p:sp>
      <p:pic>
        <p:nvPicPr>
          <p:cNvPr id="135" name="Google Shape;135;p13"/>
          <p:cNvPicPr preferRelativeResize="0"/>
          <p:nvPr/>
        </p:nvPicPr>
        <p:blipFill>
          <a:blip r:embed="rId3">
            <a:alphaModFix/>
          </a:blip>
          <a:stretch>
            <a:fillRect/>
          </a:stretch>
        </p:blipFill>
        <p:spPr>
          <a:xfrm>
            <a:off x="322775" y="2571750"/>
            <a:ext cx="2208275" cy="2208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41" name="Google Shape;141;p14"/>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 sz="2400"/>
              <a:t>Icebreaker Question</a:t>
            </a:r>
            <a:endParaRPr sz="2400"/>
          </a:p>
          <a:p>
            <a:pPr indent="-381000" lvl="0" marL="457200" rtl="0" algn="l">
              <a:spcBef>
                <a:spcPts val="0"/>
              </a:spcBef>
              <a:spcAft>
                <a:spcPts val="0"/>
              </a:spcAft>
              <a:buSzPts val="2400"/>
              <a:buAutoNum type="arabicPeriod"/>
            </a:pPr>
            <a:r>
              <a:rPr lang="en" sz="2400"/>
              <a:t>Brainteasers</a:t>
            </a:r>
            <a:endParaRPr sz="2400"/>
          </a:p>
          <a:p>
            <a:pPr indent="-381000" lvl="0" marL="457200" rtl="0" algn="l">
              <a:spcBef>
                <a:spcPts val="0"/>
              </a:spcBef>
              <a:spcAft>
                <a:spcPts val="0"/>
              </a:spcAft>
              <a:buSzPts val="2400"/>
              <a:buAutoNum type="arabicPeriod"/>
            </a:pPr>
            <a:r>
              <a:rPr lang="en" sz="2400"/>
              <a:t>Order Book</a:t>
            </a:r>
            <a:endParaRPr sz="2400"/>
          </a:p>
          <a:p>
            <a:pPr indent="-381000" lvl="0" marL="457200" rtl="0" algn="l">
              <a:spcBef>
                <a:spcPts val="0"/>
              </a:spcBef>
              <a:spcAft>
                <a:spcPts val="0"/>
              </a:spcAft>
              <a:buSzPts val="2400"/>
              <a:buAutoNum type="arabicPeriod"/>
            </a:pPr>
            <a:r>
              <a:rPr lang="en" sz="2400"/>
              <a:t>Market Making</a:t>
            </a:r>
            <a:endParaRPr sz="2400"/>
          </a:p>
          <a:p>
            <a:pPr indent="-381000" lvl="0" marL="457200" rtl="0" algn="l">
              <a:spcBef>
                <a:spcPts val="0"/>
              </a:spcBef>
              <a:spcAft>
                <a:spcPts val="0"/>
              </a:spcAft>
              <a:buSzPts val="2400"/>
              <a:buAutoNum type="arabicPeriod"/>
            </a:pPr>
            <a:r>
              <a:rPr lang="en" sz="2400"/>
              <a:t>High Frequency Trading</a:t>
            </a:r>
            <a:endParaRPr sz="2400"/>
          </a:p>
          <a:p>
            <a:pPr indent="-381000" lvl="0" marL="457200" rtl="0" algn="l">
              <a:spcBef>
                <a:spcPts val="0"/>
              </a:spcBef>
              <a:spcAft>
                <a:spcPts val="0"/>
              </a:spcAft>
              <a:buSzPts val="2400"/>
              <a:buAutoNum type="arabicPeriod"/>
            </a:pPr>
            <a:r>
              <a:rPr lang="en" sz="2400"/>
              <a:t>Project</a:t>
            </a:r>
            <a:endParaRPr sz="2400"/>
          </a:p>
        </p:txBody>
      </p:sp>
      <p:pic>
        <p:nvPicPr>
          <p:cNvPr id="142" name="Google Shape;142;p14"/>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Ice Breaker</a:t>
            </a:r>
            <a:endParaRPr/>
          </a:p>
        </p:txBody>
      </p:sp>
      <p:sp>
        <p:nvSpPr>
          <p:cNvPr id="148" name="Google Shape;148;p15"/>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Favorite Movie</a:t>
            </a:r>
            <a:endParaRPr sz="1600"/>
          </a:p>
        </p:txBody>
      </p:sp>
      <p:pic>
        <p:nvPicPr>
          <p:cNvPr id="149" name="Google Shape;149;p15"/>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6"/>
          <p:cNvPicPr preferRelativeResize="0"/>
          <p:nvPr/>
        </p:nvPicPr>
        <p:blipFill>
          <a:blip r:embed="rId3">
            <a:alphaModFix/>
          </a:blip>
          <a:stretch>
            <a:fillRect/>
          </a:stretch>
        </p:blipFill>
        <p:spPr>
          <a:xfrm>
            <a:off x="7481275" y="0"/>
            <a:ext cx="1662724" cy="1662725"/>
          </a:xfrm>
          <a:prstGeom prst="rect">
            <a:avLst/>
          </a:prstGeom>
          <a:noFill/>
          <a:ln>
            <a:noFill/>
          </a:ln>
        </p:spPr>
      </p:pic>
      <p:sp>
        <p:nvSpPr>
          <p:cNvPr id="155" name="Google Shape;155;p16"/>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Glass Balls</a:t>
            </a:r>
            <a:endParaRPr/>
          </a:p>
        </p:txBody>
      </p:sp>
      <p:sp>
        <p:nvSpPr>
          <p:cNvPr id="156" name="Google Shape;156;p16"/>
          <p:cNvSpPr txBox="1"/>
          <p:nvPr>
            <p:ph idx="1" type="body"/>
          </p:nvPr>
        </p:nvSpPr>
        <p:spPr>
          <a:xfrm>
            <a:off x="1297500" y="1485325"/>
            <a:ext cx="7257000" cy="26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You are holding two glass balls in a 100-story building</a:t>
            </a:r>
            <a:endParaRPr sz="1700"/>
          </a:p>
          <a:p>
            <a:pPr indent="0" lvl="0" marL="0" rtl="0" algn="l">
              <a:spcBef>
                <a:spcPts val="1600"/>
              </a:spcBef>
              <a:spcAft>
                <a:spcPts val="0"/>
              </a:spcAft>
              <a:buNone/>
            </a:pPr>
            <a:r>
              <a:rPr lang="en" sz="1700"/>
              <a:t>If a ball is thrown out of the window, there is a certain floor X where every throw at or above that floor will break the ball, but the ball will not break if thrown under that.</a:t>
            </a:r>
            <a:endParaRPr sz="1700"/>
          </a:p>
          <a:p>
            <a:pPr indent="0" lvl="0" marL="0" rtl="0" algn="l">
              <a:spcBef>
                <a:spcPts val="1600"/>
              </a:spcBef>
              <a:spcAft>
                <a:spcPts val="0"/>
              </a:spcAft>
              <a:buNone/>
            </a:pPr>
            <a:r>
              <a:rPr lang="en" sz="1700"/>
              <a:t>A ball can be rethrown if it does not break.</a:t>
            </a:r>
            <a:endParaRPr sz="1700"/>
          </a:p>
          <a:p>
            <a:pPr indent="0" lvl="0" marL="0" rtl="0" algn="l">
              <a:spcBef>
                <a:spcPts val="1600"/>
              </a:spcBef>
              <a:spcAft>
                <a:spcPts val="0"/>
              </a:spcAft>
              <a:buNone/>
            </a:pPr>
            <a:r>
              <a:rPr lang="en" sz="1700"/>
              <a:t>At most how many throws will it take to </a:t>
            </a:r>
            <a:r>
              <a:rPr lang="en" sz="1700"/>
              <a:t>determine X?</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 Teaser - Answer</a:t>
            </a:r>
            <a:endParaRPr/>
          </a:p>
        </p:txBody>
      </p:sp>
      <p:sp>
        <p:nvSpPr>
          <p:cNvPr id="162" name="Google Shape;162;p17"/>
          <p:cNvSpPr txBox="1"/>
          <p:nvPr>
            <p:ph idx="1" type="body"/>
          </p:nvPr>
        </p:nvSpPr>
        <p:spPr>
          <a:xfrm>
            <a:off x="1297500" y="14913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Let’s say the maximum amount of throws for a ball is N.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You would have to drop the first ball on the Nth floor. </a:t>
            </a:r>
            <a:endParaRPr sz="1400"/>
          </a:p>
          <a:p>
            <a:pPr indent="0" lvl="0" marL="0" rtl="0" algn="l">
              <a:spcBef>
                <a:spcPts val="0"/>
              </a:spcBef>
              <a:spcAft>
                <a:spcPts val="0"/>
              </a:spcAft>
              <a:buNone/>
            </a:pPr>
            <a:r>
              <a:rPr lang="en" sz="1400"/>
              <a:t>If that breaks you try floors 1 to N-1 in order</a:t>
            </a:r>
            <a:endParaRPr sz="1400"/>
          </a:p>
          <a:p>
            <a:pPr indent="0" lvl="0" marL="0" rtl="0" algn="l">
              <a:spcBef>
                <a:spcPts val="0"/>
              </a:spcBef>
              <a:spcAft>
                <a:spcPts val="0"/>
              </a:spcAft>
              <a:buNone/>
            </a:pPr>
            <a:r>
              <a:rPr lang="en" sz="1400"/>
              <a:t>If that does not break you then drop the same ball again on the floor N + N-1</a:t>
            </a:r>
            <a:endParaRPr sz="1400"/>
          </a:p>
          <a:p>
            <a:pPr indent="0" lvl="0" marL="0" rtl="0" algn="l">
              <a:spcBef>
                <a:spcPts val="0"/>
              </a:spcBef>
              <a:spcAft>
                <a:spcPts val="0"/>
              </a:spcAft>
              <a:buNone/>
            </a:pPr>
            <a:r>
              <a:rPr lang="en" sz="1400"/>
              <a:t>You then have N-2 throws with the other ball to try floors N+1 to N-2</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For N throws you would be able to cover N + N-1 + N-2 + … + 1 = N(N-1)/2 (summation formula)</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In this case N(N+1)/2 ≥ 100, so N ≥ 14.</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It takes at most 14 drops to find floor X.</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is an Order Book?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a:t>
            </a:r>
            <a:endParaRPr/>
          </a:p>
        </p:txBody>
      </p:sp>
      <p:sp>
        <p:nvSpPr>
          <p:cNvPr id="173" name="Google Shape;173;p19"/>
          <p:cNvSpPr txBox="1"/>
          <p:nvPr>
            <p:ph idx="1" type="body"/>
          </p:nvPr>
        </p:nvSpPr>
        <p:spPr>
          <a:xfrm>
            <a:off x="1105450" y="1207350"/>
            <a:ext cx="6468300" cy="3393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 visual representation of current limit orders</a:t>
            </a:r>
            <a:endParaRPr sz="1600"/>
          </a:p>
          <a:p>
            <a:pPr indent="-330200" lvl="1" marL="914400" rtl="0" algn="l">
              <a:spcBef>
                <a:spcPts val="0"/>
              </a:spcBef>
              <a:spcAft>
                <a:spcPts val="0"/>
              </a:spcAft>
              <a:buSzPts val="1600"/>
              <a:buChar char="○"/>
            </a:pPr>
            <a:r>
              <a:rPr lang="en" sz="1600"/>
              <a:t>Limit orders: Orders placed to buy or sell at a specific, predetermined price</a:t>
            </a:r>
            <a:endParaRPr sz="1600"/>
          </a:p>
          <a:p>
            <a:pPr indent="-330200" lvl="1" marL="914400" rtl="0" algn="l">
              <a:spcBef>
                <a:spcPts val="0"/>
              </a:spcBef>
              <a:spcAft>
                <a:spcPts val="0"/>
              </a:spcAft>
              <a:buSzPts val="1600"/>
              <a:buChar char="○"/>
            </a:pPr>
            <a:r>
              <a:rPr lang="en" sz="1600"/>
              <a:t>Market orders: Orders placed to buy at the current available price</a:t>
            </a:r>
            <a:endParaRPr sz="1600"/>
          </a:p>
          <a:p>
            <a:pPr indent="-330200" lvl="0" marL="457200" rtl="0" algn="l">
              <a:spcBef>
                <a:spcPts val="0"/>
              </a:spcBef>
              <a:spcAft>
                <a:spcPts val="0"/>
              </a:spcAft>
              <a:buSzPts val="1600"/>
              <a:buChar char="●"/>
            </a:pPr>
            <a:r>
              <a:rPr lang="en" sz="1600"/>
              <a:t>Understanding an order book is very important for working in quant (and as a result, interviewing for quant)</a:t>
            </a:r>
            <a:endParaRPr sz="1600"/>
          </a:p>
          <a:p>
            <a:pPr indent="-330200" lvl="0" marL="457200" rtl="0" algn="l">
              <a:spcBef>
                <a:spcPts val="0"/>
              </a:spcBef>
              <a:spcAft>
                <a:spcPts val="0"/>
              </a:spcAft>
              <a:buSzPts val="1600"/>
              <a:buChar char="●"/>
            </a:pPr>
            <a:r>
              <a:rPr lang="en" sz="1600"/>
              <a:t>The order book is a key component of understanding how market makers make money</a:t>
            </a:r>
            <a:endParaRPr sz="1600"/>
          </a:p>
        </p:txBody>
      </p:sp>
      <p:pic>
        <p:nvPicPr>
          <p:cNvPr id="174" name="Google Shape;174;p19"/>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180" name="Google Shape;180;p20"/>
          <p:cNvPicPr preferRelativeResize="0"/>
          <p:nvPr/>
        </p:nvPicPr>
        <p:blipFill>
          <a:blip r:embed="rId3">
            <a:alphaModFix/>
          </a:blip>
          <a:stretch>
            <a:fillRect/>
          </a:stretch>
        </p:blipFill>
        <p:spPr>
          <a:xfrm>
            <a:off x="7481275" y="0"/>
            <a:ext cx="1662724" cy="1662725"/>
          </a:xfrm>
          <a:prstGeom prst="rect">
            <a:avLst/>
          </a:prstGeom>
          <a:noFill/>
          <a:ln>
            <a:noFill/>
          </a:ln>
        </p:spPr>
      </p:pic>
      <p:graphicFrame>
        <p:nvGraphicFramePr>
          <p:cNvPr id="181" name="Google Shape;181;p20"/>
          <p:cNvGraphicFramePr/>
          <p:nvPr/>
        </p:nvGraphicFramePr>
        <p:xfrm>
          <a:off x="823325" y="1469625"/>
          <a:ext cx="3000000" cy="3000000"/>
        </p:xfrm>
        <a:graphic>
          <a:graphicData uri="http://schemas.openxmlformats.org/drawingml/2006/table">
            <a:tbl>
              <a:tblPr>
                <a:noFill/>
                <a:tableStyleId>{A3AAC630-4D4A-422B-A876-2EC735031D02}</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60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99.98</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99.97</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187" name="Google Shape;187;p21"/>
          <p:cNvPicPr preferRelativeResize="0"/>
          <p:nvPr/>
        </p:nvPicPr>
        <p:blipFill>
          <a:blip r:embed="rId3">
            <a:alphaModFix/>
          </a:blip>
          <a:stretch>
            <a:fillRect/>
          </a:stretch>
        </p:blipFill>
        <p:spPr>
          <a:xfrm>
            <a:off x="7481275" y="0"/>
            <a:ext cx="1662724" cy="1662725"/>
          </a:xfrm>
          <a:prstGeom prst="rect">
            <a:avLst/>
          </a:prstGeom>
          <a:noFill/>
          <a:ln>
            <a:noFill/>
          </a:ln>
        </p:spPr>
      </p:pic>
      <p:graphicFrame>
        <p:nvGraphicFramePr>
          <p:cNvPr id="188" name="Google Shape;188;p21"/>
          <p:cNvGraphicFramePr/>
          <p:nvPr/>
        </p:nvGraphicFramePr>
        <p:xfrm>
          <a:off x="823325" y="1469625"/>
          <a:ext cx="3000000" cy="3000000"/>
        </p:xfrm>
        <a:graphic>
          <a:graphicData uri="http://schemas.openxmlformats.org/drawingml/2006/table">
            <a:tbl>
              <a:tblPr>
                <a:noFill/>
                <a:tableStyleId>{A3AAC630-4D4A-422B-A876-2EC735031D02}</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60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99.98</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99.97</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194" name="Google Shape;194;p22"/>
          <p:cNvPicPr preferRelativeResize="0"/>
          <p:nvPr/>
        </p:nvPicPr>
        <p:blipFill>
          <a:blip r:embed="rId3">
            <a:alphaModFix/>
          </a:blip>
          <a:stretch>
            <a:fillRect/>
          </a:stretch>
        </p:blipFill>
        <p:spPr>
          <a:xfrm>
            <a:off x="7481275" y="0"/>
            <a:ext cx="1662724" cy="1662725"/>
          </a:xfrm>
          <a:prstGeom prst="rect">
            <a:avLst/>
          </a:prstGeom>
          <a:noFill/>
          <a:ln>
            <a:noFill/>
          </a:ln>
        </p:spPr>
      </p:pic>
      <p:graphicFrame>
        <p:nvGraphicFramePr>
          <p:cNvPr id="195" name="Google Shape;195;p22"/>
          <p:cNvGraphicFramePr/>
          <p:nvPr/>
        </p:nvGraphicFramePr>
        <p:xfrm>
          <a:off x="823325" y="1469625"/>
          <a:ext cx="3000000" cy="3000000"/>
        </p:xfrm>
        <a:graphic>
          <a:graphicData uri="http://schemas.openxmlformats.org/drawingml/2006/table">
            <a:tbl>
              <a:tblPr>
                <a:noFill/>
                <a:tableStyleId>{A3AAC630-4D4A-422B-A876-2EC735031D02}</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100.05</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100.04</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60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201" name="Google Shape;201;p23"/>
          <p:cNvPicPr preferRelativeResize="0"/>
          <p:nvPr/>
        </p:nvPicPr>
        <p:blipFill>
          <a:blip r:embed="rId3">
            <a:alphaModFix/>
          </a:blip>
          <a:stretch>
            <a:fillRect/>
          </a:stretch>
        </p:blipFill>
        <p:spPr>
          <a:xfrm>
            <a:off x="7481275" y="0"/>
            <a:ext cx="1662724" cy="1662725"/>
          </a:xfrm>
          <a:prstGeom prst="rect">
            <a:avLst/>
          </a:prstGeom>
          <a:noFill/>
          <a:ln>
            <a:noFill/>
          </a:ln>
        </p:spPr>
      </p:pic>
      <p:pic>
        <p:nvPicPr>
          <p:cNvPr id="202" name="Google Shape;202;p23"/>
          <p:cNvPicPr preferRelativeResize="0"/>
          <p:nvPr/>
        </p:nvPicPr>
        <p:blipFill rotWithShape="1">
          <a:blip r:embed="rId4">
            <a:alphaModFix/>
          </a:blip>
          <a:srcRect b="0" l="0" r="0" t="0"/>
          <a:stretch/>
        </p:blipFill>
        <p:spPr>
          <a:xfrm>
            <a:off x="2196875" y="959250"/>
            <a:ext cx="4572201" cy="38937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Market Making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Market Making?</a:t>
            </a:r>
            <a:endParaRPr/>
          </a:p>
        </p:txBody>
      </p:sp>
      <p:sp>
        <p:nvSpPr>
          <p:cNvPr id="213" name="Google Shape;213;p25"/>
          <p:cNvSpPr txBox="1"/>
          <p:nvPr>
            <p:ph idx="1" type="body"/>
          </p:nvPr>
        </p:nvSpPr>
        <p:spPr>
          <a:xfrm>
            <a:off x="1297500" y="1105450"/>
            <a:ext cx="6221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 the general sense, a market is a place where you can both buy and sell assets (food, clothing, financial assets, illegal goods, etc.).</a:t>
            </a:r>
            <a:endParaRPr sz="1600"/>
          </a:p>
          <a:p>
            <a:pPr indent="0" lvl="0" marL="0" rtl="0" algn="l">
              <a:spcBef>
                <a:spcPts val="1600"/>
              </a:spcBef>
              <a:spcAft>
                <a:spcPts val="0"/>
              </a:spcAft>
              <a:buNone/>
            </a:pPr>
            <a:r>
              <a:rPr lang="en" sz="1600"/>
              <a:t>Any person who buys or sells a given asset might be a component of a market, but is not considered a market maker. The key feature of a market </a:t>
            </a:r>
            <a:r>
              <a:rPr b="1" lang="en" sz="1600" u="sng"/>
              <a:t>maker</a:t>
            </a:r>
            <a:r>
              <a:rPr lang="en" sz="1600"/>
              <a:t> is that they quote both a buy </a:t>
            </a:r>
            <a:r>
              <a:rPr b="1" lang="en" sz="1600"/>
              <a:t>and</a:t>
            </a:r>
            <a:r>
              <a:rPr lang="en" sz="1600"/>
              <a:t> sell price for an asset.</a:t>
            </a:r>
            <a:endParaRPr sz="1600"/>
          </a:p>
          <a:p>
            <a:pPr indent="0" lvl="0" marL="0" rtl="0" algn="l">
              <a:spcBef>
                <a:spcPts val="1600"/>
              </a:spcBef>
              <a:spcAft>
                <a:spcPts val="0"/>
              </a:spcAft>
              <a:buNone/>
            </a:pPr>
            <a:r>
              <a:rPr lang="en" sz="1600"/>
              <a:t>Some of the more well known market makers are:</a:t>
            </a:r>
            <a:endParaRPr sz="1600"/>
          </a:p>
          <a:p>
            <a:pPr indent="-330200" lvl="0" marL="457200" rtl="0" algn="l">
              <a:spcBef>
                <a:spcPts val="1600"/>
              </a:spcBef>
              <a:spcAft>
                <a:spcPts val="0"/>
              </a:spcAft>
              <a:buSzPts val="1600"/>
              <a:buChar char="●"/>
            </a:pPr>
            <a:r>
              <a:rPr lang="en" sz="1600"/>
              <a:t>Citadel Securities</a:t>
            </a:r>
            <a:endParaRPr sz="1600"/>
          </a:p>
          <a:p>
            <a:pPr indent="-330200" lvl="0" marL="457200" rtl="0" algn="l">
              <a:spcBef>
                <a:spcPts val="0"/>
              </a:spcBef>
              <a:spcAft>
                <a:spcPts val="0"/>
              </a:spcAft>
              <a:buSzPts val="1600"/>
              <a:buChar char="●"/>
            </a:pPr>
            <a:r>
              <a:rPr lang="en" sz="1600"/>
              <a:t>Jane Street</a:t>
            </a:r>
            <a:endParaRPr sz="1600"/>
          </a:p>
          <a:p>
            <a:pPr indent="-330200" lvl="0" marL="457200" rtl="0" algn="l">
              <a:spcBef>
                <a:spcPts val="0"/>
              </a:spcBef>
              <a:spcAft>
                <a:spcPts val="0"/>
              </a:spcAft>
              <a:buSzPts val="1600"/>
              <a:buChar char="●"/>
            </a:pPr>
            <a:r>
              <a:rPr lang="en" sz="1600"/>
              <a:t>Virtu Financial</a:t>
            </a:r>
            <a:endParaRPr sz="1600"/>
          </a:p>
          <a:p>
            <a:pPr indent="-330200" lvl="0" marL="457200" rtl="0" algn="l">
              <a:spcBef>
                <a:spcPts val="0"/>
              </a:spcBef>
              <a:spcAft>
                <a:spcPts val="0"/>
              </a:spcAft>
              <a:buSzPts val="1600"/>
              <a:buChar char="●"/>
            </a:pPr>
            <a:r>
              <a:rPr lang="en" sz="1600"/>
              <a:t>Many large banks (Goldman Sachs, Morgan Stanley)</a:t>
            </a:r>
            <a:endParaRPr sz="1600"/>
          </a:p>
        </p:txBody>
      </p:sp>
      <p:pic>
        <p:nvPicPr>
          <p:cNvPr id="214" name="Google Shape;214;p25"/>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MMs make money?</a:t>
            </a:r>
            <a:endParaRPr/>
          </a:p>
        </p:txBody>
      </p:sp>
      <p:sp>
        <p:nvSpPr>
          <p:cNvPr id="220" name="Google Shape;220;p26"/>
          <p:cNvSpPr txBox="1"/>
          <p:nvPr>
            <p:ph idx="1" type="body"/>
          </p:nvPr>
        </p:nvSpPr>
        <p:spPr>
          <a:xfrm>
            <a:off x="1297500" y="1105450"/>
            <a:ext cx="6221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goal of a market maker is to quote bid and ask prices such that people buy and sell equal amounts of the asset on both sides.</a:t>
            </a:r>
            <a:endParaRPr sz="1600"/>
          </a:p>
          <a:p>
            <a:pPr indent="0" lvl="0" marL="0" rtl="0" algn="l">
              <a:spcBef>
                <a:spcPts val="1600"/>
              </a:spcBef>
              <a:spcAft>
                <a:spcPts val="0"/>
              </a:spcAft>
              <a:buNone/>
            </a:pPr>
            <a:r>
              <a:rPr lang="en" sz="1600"/>
              <a:t>From the order book example earlier, if there are no large orders, and market orders are trickling in, whoever is making that market makes $0.02 for every pair of offsetting trades.</a:t>
            </a:r>
            <a:endParaRPr sz="1600"/>
          </a:p>
          <a:p>
            <a:pPr indent="0" lvl="0" marL="0" rtl="0" algn="l">
              <a:spcBef>
                <a:spcPts val="1600"/>
              </a:spcBef>
              <a:spcAft>
                <a:spcPts val="1600"/>
              </a:spcAft>
              <a:buNone/>
            </a:pPr>
            <a:r>
              <a:rPr lang="en" sz="1600"/>
              <a:t>An interesting feature of this strategy is that market makers remain neutral to moves up or down in the market. As long as their quoted prices result in equal amounts of trading on either side, they profit, regardless of large swings in the market.</a:t>
            </a:r>
            <a:endParaRPr sz="1600"/>
          </a:p>
        </p:txBody>
      </p:sp>
      <p:pic>
        <p:nvPicPr>
          <p:cNvPr id="221" name="Google Shape;221;p26"/>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High Frequency Trading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HFT?</a:t>
            </a:r>
            <a:endParaRPr/>
          </a:p>
        </p:txBody>
      </p:sp>
      <p:sp>
        <p:nvSpPr>
          <p:cNvPr id="232" name="Google Shape;232;p28"/>
          <p:cNvSpPr txBox="1"/>
          <p:nvPr>
            <p:ph idx="1" type="body"/>
          </p:nvPr>
        </p:nvSpPr>
        <p:spPr>
          <a:xfrm>
            <a:off x="1297500" y="1105450"/>
            <a:ext cx="6623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practice of trading at incredibly high speeds</a:t>
            </a:r>
            <a:endParaRPr sz="1600"/>
          </a:p>
          <a:p>
            <a:pPr indent="-330200" lvl="0" marL="457200" rtl="0" algn="l">
              <a:spcBef>
                <a:spcPts val="1600"/>
              </a:spcBef>
              <a:spcAft>
                <a:spcPts val="0"/>
              </a:spcAft>
              <a:buSzPts val="1600"/>
              <a:buChar char="●"/>
            </a:pPr>
            <a:r>
              <a:rPr lang="en" sz="1600"/>
              <a:t>Driven by highly </a:t>
            </a:r>
            <a:r>
              <a:rPr lang="en" sz="1600"/>
              <a:t>efficient algorithms written in low level languages or on FPGAs</a:t>
            </a:r>
            <a:endParaRPr sz="1600"/>
          </a:p>
          <a:p>
            <a:pPr indent="-330200" lvl="0" marL="457200" rtl="0" algn="l">
              <a:spcBef>
                <a:spcPts val="0"/>
              </a:spcBef>
              <a:spcAft>
                <a:spcPts val="0"/>
              </a:spcAft>
              <a:buSzPts val="1600"/>
              <a:buChar char="●"/>
            </a:pPr>
            <a:r>
              <a:rPr lang="en" sz="1600"/>
              <a:t>Requires significant infrastructure and investment</a:t>
            </a:r>
            <a:endParaRPr sz="1600"/>
          </a:p>
          <a:p>
            <a:pPr indent="-330200" lvl="0" marL="457200" rtl="0" algn="l">
              <a:spcBef>
                <a:spcPts val="0"/>
              </a:spcBef>
              <a:spcAft>
                <a:spcPts val="0"/>
              </a:spcAft>
              <a:buSzPts val="1600"/>
              <a:buChar char="●"/>
            </a:pPr>
            <a:r>
              <a:rPr lang="en" sz="1600"/>
              <a:t>Generally profit per trade is incredibly low, but the sheer volume of trades results in large profits</a:t>
            </a:r>
            <a:endParaRPr sz="1600"/>
          </a:p>
          <a:p>
            <a:pPr indent="0" lvl="0" marL="0" rtl="0" algn="l">
              <a:spcBef>
                <a:spcPts val="1600"/>
              </a:spcBef>
              <a:spcAft>
                <a:spcPts val="0"/>
              </a:spcAft>
              <a:buNone/>
            </a:pPr>
            <a:r>
              <a:rPr lang="en" sz="1600"/>
              <a:t>HFTs are incredibly secretive about their strategies. As soon as another firm discovers their strategy, the pseudo-arbitrage opportunity closes, and it is generally no longer profitable.</a:t>
            </a:r>
            <a:endParaRPr sz="1600"/>
          </a:p>
          <a:p>
            <a:pPr indent="0" lvl="0" marL="0" rtl="0" algn="l">
              <a:spcBef>
                <a:spcPts val="1600"/>
              </a:spcBef>
              <a:spcAft>
                <a:spcPts val="1600"/>
              </a:spcAft>
              <a:buNone/>
            </a:pPr>
            <a:r>
              <a:rPr lang="en" sz="1600"/>
              <a:t>As a result, many employees are required to sign NDAs and long non-competes (2+ years).</a:t>
            </a:r>
            <a:endParaRPr sz="1600"/>
          </a:p>
        </p:txBody>
      </p:sp>
      <p:pic>
        <p:nvPicPr>
          <p:cNvPr id="233" name="Google Shape;233;p28"/>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Basic HFT Strategies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Arbitrage</a:t>
            </a:r>
            <a:endParaRPr/>
          </a:p>
        </p:txBody>
      </p:sp>
      <p:sp>
        <p:nvSpPr>
          <p:cNvPr id="244" name="Google Shape;244;p30"/>
          <p:cNvSpPr txBox="1"/>
          <p:nvPr>
            <p:ph idx="1" type="body"/>
          </p:nvPr>
        </p:nvSpPr>
        <p:spPr>
          <a:xfrm>
            <a:off x="1297500" y="1105450"/>
            <a:ext cx="63219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Arbitrage describes an opportunity in which an individual can buy an asset, and immediately sell it for a higher price. </a:t>
            </a:r>
            <a:endParaRPr sz="1600"/>
          </a:p>
          <a:p>
            <a:pPr indent="0" lvl="0" marL="0" rtl="0" algn="l">
              <a:spcBef>
                <a:spcPts val="1600"/>
              </a:spcBef>
              <a:spcAft>
                <a:spcPts val="0"/>
              </a:spcAft>
              <a:buNone/>
            </a:pPr>
            <a:r>
              <a:rPr lang="en" sz="1600"/>
              <a:t>The most common example is in ForEx markets, but it can also occur between exchanges.</a:t>
            </a:r>
            <a:endParaRPr sz="1600"/>
          </a:p>
          <a:p>
            <a:pPr indent="0" lvl="0" marL="0" rtl="0" algn="l">
              <a:spcBef>
                <a:spcPts val="1600"/>
              </a:spcBef>
              <a:spcAft>
                <a:spcPts val="0"/>
              </a:spcAft>
              <a:buNone/>
            </a:pPr>
            <a:r>
              <a:rPr lang="en" sz="1600"/>
              <a:t>Because of the </a:t>
            </a:r>
            <a:r>
              <a:rPr lang="en" sz="1600"/>
              <a:t>competition</a:t>
            </a:r>
            <a:r>
              <a:rPr lang="en" sz="1600"/>
              <a:t> present, these opportunities rarely exist, and are closed quickly when they do.</a:t>
            </a:r>
            <a:endParaRPr sz="1600"/>
          </a:p>
          <a:p>
            <a:pPr indent="0" lvl="0" marL="0" rtl="0" algn="l">
              <a:spcBef>
                <a:spcPts val="1600"/>
              </a:spcBef>
              <a:spcAft>
                <a:spcPts val="1600"/>
              </a:spcAft>
              <a:buNone/>
            </a:pPr>
            <a:r>
              <a:t/>
            </a:r>
            <a:endParaRPr sz="1600"/>
          </a:p>
        </p:txBody>
      </p:sp>
      <p:pic>
        <p:nvPicPr>
          <p:cNvPr id="245" name="Google Shape;245;p30"/>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Latency </a:t>
            </a:r>
            <a:r>
              <a:rPr lang="en"/>
              <a:t>Arbitrage</a:t>
            </a:r>
            <a:endParaRPr/>
          </a:p>
        </p:txBody>
      </p:sp>
      <p:sp>
        <p:nvSpPr>
          <p:cNvPr id="251" name="Google Shape;251;p31"/>
          <p:cNvSpPr txBox="1"/>
          <p:nvPr>
            <p:ph idx="1" type="body"/>
          </p:nvPr>
        </p:nvSpPr>
        <p:spPr>
          <a:xfrm>
            <a:off x="1297500" y="1105450"/>
            <a:ext cx="63219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Latency Arbitrage is the most pure example of HFTs’ advantage over other traders/investors.</a:t>
            </a:r>
            <a:endParaRPr sz="1600"/>
          </a:p>
          <a:p>
            <a:pPr indent="-330200" lvl="0" marL="457200" rtl="0" algn="l">
              <a:spcBef>
                <a:spcPts val="1600"/>
              </a:spcBef>
              <a:spcAft>
                <a:spcPts val="0"/>
              </a:spcAft>
              <a:buSzPts val="1600"/>
              <a:buChar char="●"/>
            </a:pPr>
            <a:r>
              <a:rPr lang="en" sz="1600"/>
              <a:t>Suppose a hedge fund needs to buy a large chunk of a stock, and there isn’t enough liquidity in the order book</a:t>
            </a:r>
            <a:endParaRPr sz="1600"/>
          </a:p>
          <a:p>
            <a:pPr indent="-330200" lvl="0" marL="457200" rtl="0" algn="l">
              <a:spcBef>
                <a:spcPts val="0"/>
              </a:spcBef>
              <a:spcAft>
                <a:spcPts val="0"/>
              </a:spcAft>
              <a:buSzPts val="1600"/>
              <a:buChar char="●"/>
            </a:pPr>
            <a:r>
              <a:rPr lang="en" sz="1600"/>
              <a:t>A HFT firm sees the hedge fund buying up all of this stock (in the form of rapid price movements) and starts to buy all of the stock on other exchanges</a:t>
            </a:r>
            <a:endParaRPr sz="1600"/>
          </a:p>
          <a:p>
            <a:pPr indent="-330200" lvl="0" marL="457200" rtl="0" algn="l">
              <a:spcBef>
                <a:spcPts val="0"/>
              </a:spcBef>
              <a:spcAft>
                <a:spcPts val="0"/>
              </a:spcAft>
              <a:buSzPts val="1600"/>
              <a:buChar char="●"/>
            </a:pPr>
            <a:r>
              <a:rPr lang="en" sz="1600"/>
              <a:t>As a result, the hedge fund now has to pay a higher price, and the difference is the HFT firm’s profit</a:t>
            </a:r>
            <a:endParaRPr sz="1600"/>
          </a:p>
          <a:p>
            <a:pPr indent="0" lvl="0" marL="0" rtl="0" algn="l">
              <a:spcBef>
                <a:spcPts val="1600"/>
              </a:spcBef>
              <a:spcAft>
                <a:spcPts val="1600"/>
              </a:spcAft>
              <a:buNone/>
            </a:pPr>
            <a:r>
              <a:t/>
            </a:r>
            <a:endParaRPr sz="1600"/>
          </a:p>
        </p:txBody>
      </p:sp>
      <p:pic>
        <p:nvPicPr>
          <p:cNvPr id="252" name="Google Shape;252;p31"/>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a:t>
            </a:r>
            <a:r>
              <a:rPr lang="en"/>
              <a:t> Arbitrage</a:t>
            </a:r>
            <a:endParaRPr/>
          </a:p>
        </p:txBody>
      </p:sp>
      <p:sp>
        <p:nvSpPr>
          <p:cNvPr id="258" name="Google Shape;258;p32"/>
          <p:cNvSpPr txBox="1"/>
          <p:nvPr>
            <p:ph idx="1" type="body"/>
          </p:nvPr>
        </p:nvSpPr>
        <p:spPr>
          <a:xfrm>
            <a:off x="1297500" y="1105450"/>
            <a:ext cx="63219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Event arbitrage is when a HFT makes use of its speed to react to news stories faster than other players in the market</a:t>
            </a:r>
            <a:endParaRPr sz="1600"/>
          </a:p>
          <a:p>
            <a:pPr indent="-330200" lvl="0" marL="457200" rtl="0" algn="l">
              <a:spcBef>
                <a:spcPts val="1600"/>
              </a:spcBef>
              <a:spcAft>
                <a:spcPts val="0"/>
              </a:spcAft>
              <a:buSzPts val="1600"/>
              <a:buChar char="●"/>
            </a:pPr>
            <a:r>
              <a:rPr lang="en" sz="1600"/>
              <a:t>With the Houthi attacks on shipping lanes, ships now have to sail around the Horn of Africa, instead of cutting through the Red Sea</a:t>
            </a:r>
            <a:endParaRPr sz="1600"/>
          </a:p>
          <a:p>
            <a:pPr indent="-330200" lvl="0" marL="457200" rtl="0" algn="l">
              <a:spcBef>
                <a:spcPts val="0"/>
              </a:spcBef>
              <a:spcAft>
                <a:spcPts val="0"/>
              </a:spcAft>
              <a:buSzPts val="1600"/>
              <a:buChar char="●"/>
            </a:pPr>
            <a:r>
              <a:rPr lang="en" sz="1600"/>
              <a:t>This results in significantly higher oil costs</a:t>
            </a:r>
            <a:endParaRPr sz="1600"/>
          </a:p>
          <a:p>
            <a:pPr indent="-330200" lvl="0" marL="457200" rtl="0" algn="l">
              <a:spcBef>
                <a:spcPts val="0"/>
              </a:spcBef>
              <a:spcAft>
                <a:spcPts val="0"/>
              </a:spcAft>
              <a:buSzPts val="1600"/>
              <a:buChar char="●"/>
            </a:pPr>
            <a:r>
              <a:rPr lang="en" sz="1600"/>
              <a:t>An HFT firm might see this and be able to react far more quickly than other players</a:t>
            </a:r>
            <a:endParaRPr sz="1600"/>
          </a:p>
        </p:txBody>
      </p:sp>
      <p:pic>
        <p:nvPicPr>
          <p:cNvPr id="259" name="Google Shape;259;p32"/>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Statistical</a:t>
            </a:r>
            <a:r>
              <a:rPr lang="en"/>
              <a:t> Arbitrage</a:t>
            </a:r>
            <a:endParaRPr/>
          </a:p>
        </p:txBody>
      </p:sp>
      <p:sp>
        <p:nvSpPr>
          <p:cNvPr id="265" name="Google Shape;265;p33"/>
          <p:cNvSpPr txBox="1"/>
          <p:nvPr>
            <p:ph idx="1" type="body"/>
          </p:nvPr>
        </p:nvSpPr>
        <p:spPr>
          <a:xfrm>
            <a:off x="1297500" y="1105450"/>
            <a:ext cx="6183900" cy="3855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Essentially a more complicated version of pairs trading</a:t>
            </a:r>
            <a:endParaRPr sz="1600"/>
          </a:p>
          <a:p>
            <a:pPr indent="-330200" lvl="0" marL="457200" rtl="0" algn="l">
              <a:spcBef>
                <a:spcPts val="0"/>
              </a:spcBef>
              <a:spcAft>
                <a:spcPts val="0"/>
              </a:spcAft>
              <a:buSzPts val="1600"/>
              <a:buChar char="●"/>
            </a:pPr>
            <a:r>
              <a:rPr lang="en" sz="1600"/>
              <a:t>Firms look at correlation between assets, and use highly technical models to bet on the convergence or divergence of certain assets or indicators</a:t>
            </a:r>
            <a:endParaRPr sz="1600"/>
          </a:p>
          <a:p>
            <a:pPr indent="-330200" lvl="0" marL="457200" rtl="0" algn="l">
              <a:spcBef>
                <a:spcPts val="0"/>
              </a:spcBef>
              <a:spcAft>
                <a:spcPts val="0"/>
              </a:spcAft>
              <a:buSzPts val="1600"/>
              <a:buChar char="●"/>
            </a:pPr>
            <a:r>
              <a:rPr lang="en" sz="1600"/>
              <a:t>Generally more common nowadays</a:t>
            </a:r>
            <a:endParaRPr sz="1600"/>
          </a:p>
        </p:txBody>
      </p:sp>
      <p:pic>
        <p:nvPicPr>
          <p:cNvPr id="266" name="Google Shape;266;p33"/>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ph type="title"/>
          </p:nvPr>
        </p:nvSpPr>
        <p:spPr>
          <a:xfrm>
            <a:off x="449275" y="2062150"/>
            <a:ext cx="56718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Discussion/</a:t>
            </a:r>
            <a:r>
              <a:rPr lang="en"/>
              <a:t>Work Time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Attendance Form</a:t>
            </a:r>
            <a:endParaRPr/>
          </a:p>
        </p:txBody>
      </p:sp>
      <p:sp>
        <p:nvSpPr>
          <p:cNvPr id="277" name="Google Shape;277;p35"/>
          <p:cNvSpPr txBox="1"/>
          <p:nvPr>
            <p:ph idx="1" type="body"/>
          </p:nvPr>
        </p:nvSpPr>
        <p:spPr>
          <a:xfrm>
            <a:off x="5632513" y="884875"/>
            <a:ext cx="3054000" cy="47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Link to Onboarding Document, Slack and Team Folder</a:t>
            </a:r>
            <a:endParaRPr/>
          </a:p>
        </p:txBody>
      </p:sp>
      <p:pic>
        <p:nvPicPr>
          <p:cNvPr id="278" name="Google Shape;278;p35"/>
          <p:cNvPicPr preferRelativeResize="0"/>
          <p:nvPr/>
        </p:nvPicPr>
        <p:blipFill>
          <a:blip r:embed="rId3">
            <a:alphaModFix/>
          </a:blip>
          <a:stretch>
            <a:fillRect/>
          </a:stretch>
        </p:blipFill>
        <p:spPr>
          <a:xfrm>
            <a:off x="5737525" y="1471025"/>
            <a:ext cx="2843976" cy="2843976"/>
          </a:xfrm>
          <a:prstGeom prst="rect">
            <a:avLst/>
          </a:prstGeom>
          <a:noFill/>
          <a:ln>
            <a:noFill/>
          </a:ln>
        </p:spPr>
      </p:pic>
      <p:sp>
        <p:nvSpPr>
          <p:cNvPr id="279" name="Google Shape;279;p35"/>
          <p:cNvSpPr txBox="1"/>
          <p:nvPr/>
        </p:nvSpPr>
        <p:spPr>
          <a:xfrm>
            <a:off x="567400" y="4393875"/>
            <a:ext cx="3564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latin typeface="Lato"/>
                <a:ea typeface="Lato"/>
                <a:cs typeface="Lato"/>
                <a:sym typeface="Lato"/>
                <a:hlinkClick r:id="rId4"/>
              </a:rPr>
              <a:t>https://forms.gle/zSxTW3EgUcRMSiL3A</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pic>
        <p:nvPicPr>
          <p:cNvPr id="280" name="Google Shape;280;p35"/>
          <p:cNvPicPr preferRelativeResize="0"/>
          <p:nvPr/>
        </p:nvPicPr>
        <p:blipFill>
          <a:blip r:embed="rId5">
            <a:alphaModFix/>
          </a:blip>
          <a:stretch>
            <a:fillRect/>
          </a:stretch>
        </p:blipFill>
        <p:spPr>
          <a:xfrm>
            <a:off x="1153900" y="1471025"/>
            <a:ext cx="2922849" cy="2922849"/>
          </a:xfrm>
          <a:prstGeom prst="rect">
            <a:avLst/>
          </a:prstGeom>
          <a:noFill/>
          <a:ln>
            <a:noFill/>
          </a:ln>
        </p:spPr>
      </p:pic>
      <p:sp>
        <p:nvSpPr>
          <p:cNvPr id="281" name="Google Shape;281;p35"/>
          <p:cNvSpPr txBox="1"/>
          <p:nvPr/>
        </p:nvSpPr>
        <p:spPr>
          <a:xfrm>
            <a:off x="1153900" y="978425"/>
            <a:ext cx="305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This one</a:t>
            </a:r>
            <a:endParaRPr sz="2000">
              <a:solidFill>
                <a:schemeClr val="lt1"/>
              </a:solidFill>
              <a:latin typeface="Lato"/>
              <a:ea typeface="Lato"/>
              <a:cs typeface="Lato"/>
              <a:sym typeface="Lato"/>
            </a:endParaRPr>
          </a:p>
        </p:txBody>
      </p:sp>
      <p:sp>
        <p:nvSpPr>
          <p:cNvPr id="282" name="Google Shape;282;p35"/>
          <p:cNvSpPr/>
          <p:nvPr/>
        </p:nvSpPr>
        <p:spPr>
          <a:xfrm>
            <a:off x="2439075" y="876175"/>
            <a:ext cx="352500" cy="492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F15D24"/>
      </a:dk1>
      <a:lt1>
        <a:srgbClr val="FFFFFF"/>
      </a:lt1>
      <a:dk2>
        <a:srgbClr val="D9D9D9"/>
      </a:dk2>
      <a:lt2>
        <a:srgbClr val="3D3D3D"/>
      </a:lt2>
      <a:accent1>
        <a:srgbClr val="FFFFFF"/>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