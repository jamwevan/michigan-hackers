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Montserrat"/>
      <p:regular r:id="rId36"/>
      <p:bold r:id="rId37"/>
      <p:italic r:id="rId38"/>
      <p:boldItalic r:id="rId39"/>
    </p:embeddedFont>
    <p:embeddedFont>
      <p:font typeface="La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DC35E6-14BC-412C-A779-6D6EE34C2E1F}">
  <a:tblStyle styleId="{89DC35E6-14BC-412C-A779-6D6EE34C2E1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4.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Lat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bold.fntdata"/><Relationship Id="rId14" Type="http://schemas.openxmlformats.org/officeDocument/2006/relationships/slide" Target="slides/slide8.xml"/><Relationship Id="rId36" Type="http://schemas.openxmlformats.org/officeDocument/2006/relationships/font" Target="fonts/Montserrat-regular.fntdata"/><Relationship Id="rId17" Type="http://schemas.openxmlformats.org/officeDocument/2006/relationships/slide" Target="slides/slide11.xml"/><Relationship Id="rId39" Type="http://schemas.openxmlformats.org/officeDocument/2006/relationships/font" Target="fonts/Montserrat-boldItalic.fntdata"/><Relationship Id="rId16" Type="http://schemas.openxmlformats.org/officeDocument/2006/relationships/slide" Target="slides/slide10.xml"/><Relationship Id="rId38" Type="http://schemas.openxmlformats.org/officeDocument/2006/relationships/font" Target="fonts/Montserra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Complete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681c12f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681c12f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681c12f4c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681c12f4c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ba69423e9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6ba69423e9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c6d4fc7b3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c6d4fc7b3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6ba69423e9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6ba69423e9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6681c12f4c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6681c12f4c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c505d509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c505d509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c6d4fc7b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c6d4fc7b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c6d4fc7b3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c6d4fc7b3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c6d4fc7b36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c6d4fc7b36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6848eae86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6848eae8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a:t>
            </a:r>
            <a:endParaRPr/>
          </a:p>
          <a:p>
            <a:pPr indent="0" lvl="0" marL="0" rtl="0" algn="l">
              <a:spcBef>
                <a:spcPts val="0"/>
              </a:spcBef>
              <a:spcAft>
                <a:spcPts val="0"/>
              </a:spcAft>
              <a:buNone/>
            </a:pPr>
            <a:r>
              <a:rPr lang="en"/>
              <a:t>We’ll write the platform to make and conduct trading strategies.</a:t>
            </a:r>
            <a:endParaRPr/>
          </a:p>
          <a:p>
            <a:pPr indent="0" lvl="0" marL="0" rtl="0" algn="l">
              <a:spcBef>
                <a:spcPts val="0"/>
              </a:spcBef>
              <a:spcAft>
                <a:spcPts val="0"/>
              </a:spcAft>
              <a:buNone/>
            </a:pPr>
            <a:r>
              <a:rPr lang="en"/>
              <a:t>You guys will write and implement the strategies, test them on prior data</a:t>
            </a:r>
            <a:endParaRPr/>
          </a:p>
          <a:p>
            <a:pPr indent="0" lvl="0" marL="0" rtl="0" algn="l">
              <a:spcBef>
                <a:spcPts val="0"/>
              </a:spcBef>
              <a:spcAft>
                <a:spcPts val="0"/>
              </a:spcAft>
              <a:buNone/>
            </a:pPr>
            <a:r>
              <a:rPr lang="en"/>
              <a:t>Alternate for more software-oriented people you guys could also make the platform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do this in python/C++, if python use numPy and Yahoo Finance data</a:t>
            </a:r>
            <a:endParaRPr/>
          </a:p>
          <a:p>
            <a:pPr indent="0" lvl="0" marL="0" rtl="0" algn="l">
              <a:spcBef>
                <a:spcPts val="0"/>
              </a:spcBef>
              <a:spcAft>
                <a:spcPts val="0"/>
              </a:spcAft>
              <a:buNone/>
            </a:pPr>
            <a:r>
              <a:rPr lang="en"/>
              <a:t>Use matplotlib plot graphs, show that in pdf/md/html file through github</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c505d5091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c505d5091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6c3f830c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6c3f830c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6c3f830cb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6c3f830cb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6c3f830cb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6c3f830cb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6c3f830cbd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6c3f830cb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6c3f830cb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6c3f830cb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6c3f830cbd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6c3f830cbd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6c3f830cb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6c3f830cb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6c3f830cbd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6c3f830cbd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6c3f830cb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6c3f830cb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6c3f830cbd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6c3f830cbd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6c3f830cbd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6c3f830cbd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c3f830cbd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6c3f830cbd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c505d5091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c505d5091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a:t>
            </a:r>
            <a:endParaRPr/>
          </a:p>
          <a:p>
            <a:pPr indent="0" lvl="0" marL="0" rtl="0" algn="l">
              <a:spcBef>
                <a:spcPts val="0"/>
              </a:spcBef>
              <a:spcAft>
                <a:spcPts val="0"/>
              </a:spcAft>
              <a:buNone/>
            </a:pPr>
            <a:r>
              <a:rPr lang="en"/>
              <a:t>We’ll write the platform to make and conduct trading strategies.</a:t>
            </a:r>
            <a:endParaRPr/>
          </a:p>
          <a:p>
            <a:pPr indent="0" lvl="0" marL="0" rtl="0" algn="l">
              <a:spcBef>
                <a:spcPts val="0"/>
              </a:spcBef>
              <a:spcAft>
                <a:spcPts val="0"/>
              </a:spcAft>
              <a:buNone/>
            </a:pPr>
            <a:r>
              <a:rPr lang="en"/>
              <a:t>You guys will write and implement the strategies, test them on prior data</a:t>
            </a:r>
            <a:endParaRPr/>
          </a:p>
          <a:p>
            <a:pPr indent="0" lvl="0" marL="0" rtl="0" algn="l">
              <a:spcBef>
                <a:spcPts val="0"/>
              </a:spcBef>
              <a:spcAft>
                <a:spcPts val="0"/>
              </a:spcAft>
              <a:buNone/>
            </a:pPr>
            <a:r>
              <a:rPr lang="en"/>
              <a:t>Alternate for more software-oriented people you guys could also make the platform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do this in python/C++, if python use numPy and Yahoo Finance data</a:t>
            </a:r>
            <a:endParaRPr/>
          </a:p>
          <a:p>
            <a:pPr indent="0" lvl="0" marL="0" rtl="0" algn="l">
              <a:spcBef>
                <a:spcPts val="0"/>
              </a:spcBef>
              <a:spcAft>
                <a:spcPts val="0"/>
              </a:spcAft>
              <a:buNone/>
            </a:pPr>
            <a:r>
              <a:rPr lang="en"/>
              <a:t>Use matplotlib plot graphs, show that in pdf/md/html file through github</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6ba69423e9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6ba69423e9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c6d4fc7b36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c6d4fc7b36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6681c12f4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6681c12f4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e/1FAIpQLScZRTzsPrafhUgLAJVF5GTdyxekcqPIVC9TeYD-JrGRv0M0UQ/viewform"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areers.imc.com/us/en/launchpa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docs.google.com/document/d/1oA2q-qjPCw1bY79zWf1LtpeN_da65L0ntnxzCQSsJRc/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9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 Week 7</a:t>
            </a:r>
            <a:endParaRPr/>
          </a:p>
          <a:p>
            <a:pPr indent="0" lvl="0" marL="0" rtl="0" algn="l">
              <a:spcBef>
                <a:spcPts val="0"/>
              </a:spcBef>
              <a:spcAft>
                <a:spcPts val="0"/>
              </a:spcAft>
              <a:buNone/>
            </a:pPr>
            <a:r>
              <a:rPr lang="en"/>
              <a:t>3/28/24</a:t>
            </a:r>
            <a:endParaRPr/>
          </a:p>
        </p:txBody>
      </p:sp>
      <p:pic>
        <p:nvPicPr>
          <p:cNvPr id="135" name="Google Shape;135;p13"/>
          <p:cNvPicPr preferRelativeResize="0"/>
          <p:nvPr/>
        </p:nvPicPr>
        <p:blipFill>
          <a:blip r:embed="rId3">
            <a:alphaModFix/>
          </a:blip>
          <a:stretch>
            <a:fillRect/>
          </a:stretch>
        </p:blipFill>
        <p:spPr>
          <a:xfrm>
            <a:off x="322775" y="2571750"/>
            <a:ext cx="2208275" cy="2208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41" name="Google Shape;141;p14"/>
          <p:cNvSpPr txBox="1"/>
          <p:nvPr>
            <p:ph idx="1" type="body"/>
          </p:nvPr>
        </p:nvSpPr>
        <p:spPr>
          <a:xfrm>
            <a:off x="1297500" y="1339150"/>
            <a:ext cx="7038900" cy="2911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 sz="2400"/>
              <a:t>Icebreaker Question</a:t>
            </a:r>
            <a:endParaRPr sz="2400"/>
          </a:p>
          <a:p>
            <a:pPr indent="-381000" lvl="0" marL="457200" rtl="0" algn="l">
              <a:spcBef>
                <a:spcPts val="0"/>
              </a:spcBef>
              <a:spcAft>
                <a:spcPts val="0"/>
              </a:spcAft>
              <a:buSzPts val="2400"/>
              <a:buAutoNum type="arabicPeriod"/>
            </a:pPr>
            <a:r>
              <a:rPr lang="en" sz="2400"/>
              <a:t>Brainteasers</a:t>
            </a:r>
            <a:endParaRPr sz="2400"/>
          </a:p>
          <a:p>
            <a:pPr indent="-381000" lvl="0" marL="457200" rtl="0" algn="l">
              <a:spcBef>
                <a:spcPts val="0"/>
              </a:spcBef>
              <a:spcAft>
                <a:spcPts val="0"/>
              </a:spcAft>
              <a:buSzPts val="2400"/>
              <a:buAutoNum type="arabicPeriod"/>
            </a:pPr>
            <a:r>
              <a:rPr lang="en" sz="2400"/>
              <a:t>Useful Classes</a:t>
            </a:r>
            <a:endParaRPr sz="2400"/>
          </a:p>
          <a:p>
            <a:pPr indent="-381000" lvl="0" marL="457200" rtl="0" algn="l">
              <a:spcBef>
                <a:spcPts val="0"/>
              </a:spcBef>
              <a:spcAft>
                <a:spcPts val="0"/>
              </a:spcAft>
              <a:buSzPts val="2400"/>
              <a:buAutoNum type="arabicPeriod"/>
            </a:pPr>
            <a:r>
              <a:rPr lang="en" sz="2400"/>
              <a:t>VWAP &amp; TWAP</a:t>
            </a:r>
            <a:endParaRPr sz="2400"/>
          </a:p>
          <a:p>
            <a:pPr indent="-381000" lvl="0" marL="457200" rtl="0" algn="l">
              <a:spcBef>
                <a:spcPts val="0"/>
              </a:spcBef>
              <a:spcAft>
                <a:spcPts val="0"/>
              </a:spcAft>
              <a:buSzPts val="2400"/>
              <a:buAutoNum type="arabicPeriod"/>
            </a:pPr>
            <a:r>
              <a:rPr lang="en" sz="2400"/>
              <a:t>Project</a:t>
            </a:r>
            <a:endParaRPr sz="2400"/>
          </a:p>
        </p:txBody>
      </p:sp>
      <p:pic>
        <p:nvPicPr>
          <p:cNvPr id="142" name="Google Shape;142;p14"/>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Ice Breaker</a:t>
            </a:r>
            <a:endParaRPr/>
          </a:p>
        </p:txBody>
      </p:sp>
      <p:sp>
        <p:nvSpPr>
          <p:cNvPr id="148" name="Google Shape;148;p15"/>
          <p:cNvSpPr txBox="1"/>
          <p:nvPr>
            <p:ph idx="1" type="body"/>
          </p:nvPr>
        </p:nvSpPr>
        <p:spPr>
          <a:xfrm>
            <a:off x="1297500" y="13391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Tell us a weird fact you happen to know for no reason.</a:t>
            </a:r>
            <a:endParaRPr sz="2000"/>
          </a:p>
          <a:p>
            <a:pPr indent="0" lvl="0" marL="0" rtl="0" algn="l">
              <a:spcBef>
                <a:spcPts val="1600"/>
              </a:spcBef>
              <a:spcAft>
                <a:spcPts val="0"/>
              </a:spcAft>
              <a:buNone/>
            </a:pPr>
            <a:r>
              <a:t/>
            </a:r>
            <a:endParaRPr sz="2000"/>
          </a:p>
          <a:p>
            <a:pPr indent="0" lvl="0" marL="0" rtl="0" algn="l">
              <a:spcBef>
                <a:spcPts val="1600"/>
              </a:spcBef>
              <a:spcAft>
                <a:spcPts val="1600"/>
              </a:spcAft>
              <a:buNone/>
            </a:pPr>
            <a:r>
              <a:t/>
            </a:r>
            <a:endParaRPr sz="2000"/>
          </a:p>
        </p:txBody>
      </p:sp>
      <p:pic>
        <p:nvPicPr>
          <p:cNvPr id="149" name="Google Shape;149;p15"/>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IMC Sponsorship!</a:t>
            </a:r>
            <a:endParaRPr/>
          </a:p>
        </p:txBody>
      </p:sp>
      <p:pic>
        <p:nvPicPr>
          <p:cNvPr id="155" name="Google Shape;155;p16"/>
          <p:cNvPicPr preferRelativeResize="0"/>
          <p:nvPr/>
        </p:nvPicPr>
        <p:blipFill>
          <a:blip r:embed="rId3">
            <a:alphaModFix/>
          </a:blip>
          <a:stretch>
            <a:fillRect/>
          </a:stretch>
        </p:blipFill>
        <p:spPr>
          <a:xfrm>
            <a:off x="3356250" y="1131350"/>
            <a:ext cx="4980152" cy="3530850"/>
          </a:xfrm>
          <a:prstGeom prst="rect">
            <a:avLst/>
          </a:prstGeom>
          <a:noFill/>
          <a:ln>
            <a:noFill/>
          </a:ln>
        </p:spPr>
      </p:pic>
      <p:pic>
        <p:nvPicPr>
          <p:cNvPr id="156" name="Google Shape;156;p16"/>
          <p:cNvPicPr preferRelativeResize="0"/>
          <p:nvPr/>
        </p:nvPicPr>
        <p:blipFill>
          <a:blip r:embed="rId4">
            <a:alphaModFix/>
          </a:blip>
          <a:stretch>
            <a:fillRect/>
          </a:stretch>
        </p:blipFill>
        <p:spPr>
          <a:xfrm>
            <a:off x="665475" y="1443450"/>
            <a:ext cx="2090700" cy="2090700"/>
          </a:xfrm>
          <a:prstGeom prst="rect">
            <a:avLst/>
          </a:prstGeom>
          <a:noFill/>
          <a:ln>
            <a:noFill/>
          </a:ln>
        </p:spPr>
      </p:pic>
      <p:sp>
        <p:nvSpPr>
          <p:cNvPr id="157" name="Google Shape;157;p16"/>
          <p:cNvSpPr txBox="1"/>
          <p:nvPr/>
        </p:nvSpPr>
        <p:spPr>
          <a:xfrm>
            <a:off x="244950" y="4275490"/>
            <a:ext cx="1904700" cy="38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Referal Code: 3MRLW8</a:t>
            </a:r>
            <a:endParaRPr sz="13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 Conference</a:t>
            </a:r>
            <a:endParaRPr/>
          </a:p>
        </p:txBody>
      </p:sp>
      <p:sp>
        <p:nvSpPr>
          <p:cNvPr id="163" name="Google Shape;163;p1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https://docs.google.com/forms/d/e/1FAIpQLScZRTzsPrafhUgLAJVF5GTdyxekcqPIVC9TeYD-JrGRv0M0UQ/viewform</a:t>
            </a:r>
            <a:endParaRPr/>
          </a:p>
          <a:p>
            <a:pPr indent="0" lvl="0" marL="0" rtl="0" algn="l">
              <a:spcBef>
                <a:spcPts val="1600"/>
              </a:spcBef>
              <a:spcAft>
                <a:spcPts val="0"/>
              </a:spcAft>
              <a:buNone/>
            </a:pPr>
            <a:r>
              <a:t/>
            </a:r>
            <a:endParaRPr/>
          </a:p>
          <a:p>
            <a:pPr indent="0" lvl="0" marL="0" rtl="0" algn="l">
              <a:spcBef>
                <a:spcPts val="1600"/>
              </a:spcBef>
              <a:spcAft>
                <a:spcPts val="0"/>
              </a:spcAft>
              <a:buNone/>
            </a:pPr>
            <a:r>
              <a:rPr b="1" lang="en" sz="2000" u="sng"/>
              <a:t>April 5th!</a:t>
            </a:r>
            <a:br>
              <a:rPr lang="en" sz="2000"/>
            </a:br>
            <a:endParaRPr sz="2000"/>
          </a:p>
          <a:p>
            <a:pPr indent="0" lvl="0" marL="0" rtl="0" algn="l">
              <a:spcBef>
                <a:spcPts val="1600"/>
              </a:spcBef>
              <a:spcAft>
                <a:spcPts val="1600"/>
              </a:spcAft>
              <a:buNone/>
            </a:pPr>
            <a:r>
              <a:t/>
            </a:r>
            <a:endParaRPr/>
          </a:p>
        </p:txBody>
      </p:sp>
      <p:pic>
        <p:nvPicPr>
          <p:cNvPr id="164" name="Google Shape;164;p17"/>
          <p:cNvPicPr preferRelativeResize="0"/>
          <p:nvPr/>
        </p:nvPicPr>
        <p:blipFill>
          <a:blip r:embed="rId4">
            <a:alphaModFix/>
          </a:blip>
          <a:stretch>
            <a:fillRect/>
          </a:stretch>
        </p:blipFill>
        <p:spPr>
          <a:xfrm>
            <a:off x="3866749" y="2034425"/>
            <a:ext cx="4080675" cy="31090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IMC Sponsorship!</a:t>
            </a:r>
            <a:endParaRPr/>
          </a:p>
        </p:txBody>
      </p:sp>
      <p:sp>
        <p:nvSpPr>
          <p:cNvPr id="170" name="Google Shape;170;p18"/>
          <p:cNvSpPr txBox="1"/>
          <p:nvPr>
            <p:ph idx="1" type="body"/>
          </p:nvPr>
        </p:nvSpPr>
        <p:spPr>
          <a:xfrm>
            <a:off x="1297500" y="1485325"/>
            <a:ext cx="7257000" cy="26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Sophomores, apply to IMC Launchpad:</a:t>
            </a:r>
            <a:endParaRPr sz="1700"/>
          </a:p>
          <a:p>
            <a:pPr indent="-336550" lvl="0" marL="457200" rtl="0" algn="l">
              <a:spcBef>
                <a:spcPts val="0"/>
              </a:spcBef>
              <a:spcAft>
                <a:spcPts val="0"/>
              </a:spcAft>
              <a:buSzPts val="1700"/>
              <a:buChar char="●"/>
            </a:pPr>
            <a:r>
              <a:rPr lang="en" sz="1700">
                <a:uFill>
                  <a:noFill/>
                </a:uFill>
                <a:hlinkClick r:id="rId3"/>
              </a:rPr>
              <a:t>https://careers.imc.com/us/en/launchpad</a:t>
            </a:r>
            <a:endParaRPr sz="1700"/>
          </a:p>
          <a:p>
            <a:pPr indent="-336550" lvl="0" marL="457200" rtl="0" algn="l">
              <a:spcBef>
                <a:spcPts val="0"/>
              </a:spcBef>
              <a:spcAft>
                <a:spcPts val="0"/>
              </a:spcAft>
              <a:buSzPts val="1700"/>
              <a:buChar char="●"/>
            </a:pPr>
            <a:r>
              <a:rPr lang="en" sz="1700"/>
              <a:t>Great opportunity to learn</a:t>
            </a:r>
            <a:endParaRPr sz="1700"/>
          </a:p>
          <a:p>
            <a:pPr indent="-336550" lvl="0" marL="457200" rtl="0" algn="l">
              <a:spcBef>
                <a:spcPts val="0"/>
              </a:spcBef>
              <a:spcAft>
                <a:spcPts val="0"/>
              </a:spcAft>
              <a:buSzPts val="1700"/>
              <a:buChar char="●"/>
            </a:pPr>
            <a:r>
              <a:rPr lang="en" sz="1700"/>
              <a:t>If you get in, IMC gives you a final round internship interview</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IMC Event</a:t>
            </a:r>
            <a:endParaRPr sz="1700"/>
          </a:p>
          <a:p>
            <a:pPr indent="-336550" lvl="0" marL="457200" rtl="0" algn="l">
              <a:spcBef>
                <a:spcPts val="0"/>
              </a:spcBef>
              <a:spcAft>
                <a:spcPts val="0"/>
              </a:spcAft>
              <a:buSzPts val="1700"/>
              <a:buChar char="●"/>
            </a:pPr>
            <a:r>
              <a:rPr lang="en" sz="1700"/>
              <a:t>Time/Date TBD</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19"/>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76" name="Google Shape;176;p19"/>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Door to Offer</a:t>
            </a:r>
            <a:endParaRPr/>
          </a:p>
        </p:txBody>
      </p:sp>
      <p:sp>
        <p:nvSpPr>
          <p:cNvPr id="177" name="Google Shape;177;p19"/>
          <p:cNvSpPr txBox="1"/>
          <p:nvPr>
            <p:ph idx="1" type="body"/>
          </p:nvPr>
        </p:nvSpPr>
        <p:spPr>
          <a:xfrm>
            <a:off x="1297500" y="1485325"/>
            <a:ext cx="7257000" cy="26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You are in a room with two doors. One door leads to freedom, the other leads to certain death.</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There is a guard </a:t>
            </a:r>
            <a:r>
              <a:rPr lang="en" sz="1700"/>
              <a:t>guarding</a:t>
            </a:r>
            <a:r>
              <a:rPr lang="en" sz="1700"/>
              <a:t> either door. One can only lie and one can only tell the truth.</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You may ask ONE of the guards one yes or no question</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0"/>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83" name="Google Shape;183;p20"/>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Door to Offer - Solution</a:t>
            </a:r>
            <a:endParaRPr/>
          </a:p>
        </p:txBody>
      </p:sp>
      <p:sp>
        <p:nvSpPr>
          <p:cNvPr id="184" name="Google Shape;184;p20"/>
          <p:cNvSpPr txBox="1"/>
          <p:nvPr>
            <p:ph idx="1" type="body"/>
          </p:nvPr>
        </p:nvSpPr>
        <p:spPr>
          <a:xfrm>
            <a:off x="1297500" y="1485325"/>
            <a:ext cx="7038900" cy="26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Game Theory</a:t>
            </a:r>
            <a:endParaRPr sz="1700"/>
          </a:p>
          <a:p>
            <a:pPr indent="0" lvl="0" marL="0" rtl="0" algn="l">
              <a:spcBef>
                <a:spcPts val="0"/>
              </a:spcBef>
              <a:spcAft>
                <a:spcPts val="0"/>
              </a:spcAft>
              <a:buNone/>
            </a:pPr>
            <a:r>
              <a:rPr lang="en" sz="1700"/>
              <a:t>Draw out each possibility</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Ask a question involving both guards</a:t>
            </a:r>
            <a:endParaRPr sz="1700"/>
          </a:p>
          <a:p>
            <a:pPr indent="0" lvl="0" marL="0" rtl="0" algn="l">
              <a:spcBef>
                <a:spcPts val="0"/>
              </a:spcBef>
              <a:spcAft>
                <a:spcPts val="0"/>
              </a:spcAft>
              <a:buNone/>
            </a:pPr>
            <a:r>
              <a:rPr lang="en" sz="1700"/>
              <a:t>Ask, “Would the other guard say that you are guarding the door to freedom?”</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Many answers</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1"/>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90" name="Google Shape;190;p21"/>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Biased Coin Sequence</a:t>
            </a:r>
            <a:endParaRPr/>
          </a:p>
        </p:txBody>
      </p:sp>
      <p:sp>
        <p:nvSpPr>
          <p:cNvPr id="191" name="Google Shape;191;p21"/>
          <p:cNvSpPr txBox="1"/>
          <p:nvPr>
            <p:ph idx="1" type="body"/>
          </p:nvPr>
        </p:nvSpPr>
        <p:spPr>
          <a:xfrm>
            <a:off x="1297500" y="1485325"/>
            <a:ext cx="7257000" cy="26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You are given a coin with ⅔ probability of landing on heads and ⅓ probability of landing on tails. If you flip this coin until you get tails immediately followed by heads, how many times do you expect to flip the coin?</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2"/>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97" name="Google Shape;197;p22"/>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r>
              <a:rPr lang="en"/>
              <a:t> - Biased Coin Sequence</a:t>
            </a:r>
            <a:endParaRPr/>
          </a:p>
        </p:txBody>
      </p:sp>
      <p:sp>
        <p:nvSpPr>
          <p:cNvPr id="198" name="Google Shape;198;p22"/>
          <p:cNvSpPr txBox="1"/>
          <p:nvPr>
            <p:ph idx="1" type="body"/>
          </p:nvPr>
        </p:nvSpPr>
        <p:spPr>
          <a:xfrm>
            <a:off x="1297500" y="1485325"/>
            <a:ext cx="7257000" cy="31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Considering only the first flip, if it lands on heads, we have made no progress. That is, the expected value given the first flip was heads is just the expected value of the event plus 1: E[TH | H] = E[TH] + 1.</a:t>
            </a:r>
            <a:endParaRPr sz="1700"/>
          </a:p>
          <a:p>
            <a:pPr indent="0" lvl="0" marL="0" rtl="0" algn="l">
              <a:spcBef>
                <a:spcPts val="0"/>
              </a:spcBef>
              <a:spcAft>
                <a:spcPts val="0"/>
              </a:spcAft>
              <a:buNone/>
            </a:pPr>
            <a:r>
              <a:rPr lang="en" sz="1700"/>
              <a:t>If it lands on tails, we now just need a heads at some point following the tails, which is a geometric series with expected value 1/p:E[TH | T] = 3/2 + 1.</a:t>
            </a:r>
            <a:endParaRPr sz="1700"/>
          </a:p>
          <a:p>
            <a:pPr indent="0" lvl="0" marL="0" rtl="0" algn="l">
              <a:spcBef>
                <a:spcPts val="0"/>
              </a:spcBef>
              <a:spcAft>
                <a:spcPts val="0"/>
              </a:spcAft>
              <a:buNone/>
            </a:pPr>
            <a:r>
              <a:rPr lang="en" sz="1700"/>
              <a:t>Using the law of total expectation:</a:t>
            </a:r>
            <a:endParaRPr sz="1700"/>
          </a:p>
          <a:p>
            <a:pPr indent="0" lvl="0" marL="0" rtl="0" algn="l">
              <a:spcBef>
                <a:spcPts val="0"/>
              </a:spcBef>
              <a:spcAft>
                <a:spcPts val="0"/>
              </a:spcAft>
              <a:buNone/>
            </a:pPr>
            <a:r>
              <a:rPr lang="en" sz="1700"/>
              <a:t>E[TH] = P(H)</a:t>
            </a:r>
            <a:r>
              <a:rPr lang="en" sz="1700"/>
              <a:t>E[TH | H] + P(T)E[TH | T] = ⅔(E[TH] + 1) + ⅓(3/2 + 1)</a:t>
            </a:r>
            <a:endParaRPr sz="1700"/>
          </a:p>
          <a:p>
            <a:pPr indent="0" lvl="0" marL="0" rtl="0" algn="l">
              <a:spcBef>
                <a:spcPts val="0"/>
              </a:spcBef>
              <a:spcAft>
                <a:spcPts val="0"/>
              </a:spcAft>
              <a:buNone/>
            </a:pPr>
            <a:r>
              <a:rPr lang="en" sz="1700"/>
              <a:t>E[TH] = ⅔ E[TH] + ⅔ + ⅚</a:t>
            </a:r>
            <a:endParaRPr sz="1700"/>
          </a:p>
          <a:p>
            <a:pPr indent="0" lvl="0" marL="0" rtl="0" algn="l">
              <a:spcBef>
                <a:spcPts val="0"/>
              </a:spcBef>
              <a:spcAft>
                <a:spcPts val="0"/>
              </a:spcAft>
              <a:buNone/>
            </a:pPr>
            <a:r>
              <a:rPr lang="en" sz="1700"/>
              <a:t>⅓ E[TH] = 9/6</a:t>
            </a:r>
            <a:endParaRPr sz="1700"/>
          </a:p>
          <a:p>
            <a:pPr indent="0" lvl="0" marL="0" rtl="0" algn="l">
              <a:spcBef>
                <a:spcPts val="0"/>
              </a:spcBef>
              <a:spcAft>
                <a:spcPts val="0"/>
              </a:spcAft>
              <a:buNone/>
            </a:pPr>
            <a:r>
              <a:rPr lang="en" sz="1700"/>
              <a:t>E[TH] = 9/2</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Useful Classes</a:t>
            </a:r>
            <a:endParaRPr/>
          </a:p>
        </p:txBody>
      </p:sp>
      <p:sp>
        <p:nvSpPr>
          <p:cNvPr id="204" name="Google Shape;204;p23"/>
          <p:cNvSpPr txBox="1"/>
          <p:nvPr>
            <p:ph idx="1" type="body"/>
          </p:nvPr>
        </p:nvSpPr>
        <p:spPr>
          <a:xfrm>
            <a:off x="1297500" y="1156350"/>
            <a:ext cx="7038900" cy="33225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b="1" lang="en"/>
              <a:t>Trading (ish)</a:t>
            </a:r>
            <a:endParaRPr b="1"/>
          </a:p>
          <a:p>
            <a:pPr indent="-311150" lvl="0" marL="457200" rtl="0" algn="l">
              <a:lnSpc>
                <a:spcPct val="115000"/>
              </a:lnSpc>
              <a:spcBef>
                <a:spcPts val="1000"/>
              </a:spcBef>
              <a:spcAft>
                <a:spcPts val="0"/>
              </a:spcAft>
              <a:buSzPts val="1300"/>
              <a:buChar char="●"/>
            </a:pPr>
            <a:r>
              <a:rPr lang="en"/>
              <a:t>Math 425 - Introduction to Probability (absolutely necessary for trading)</a:t>
            </a:r>
            <a:endParaRPr/>
          </a:p>
          <a:p>
            <a:pPr indent="-311150" lvl="0" marL="457200" rtl="0" algn="l">
              <a:lnSpc>
                <a:spcPct val="115000"/>
              </a:lnSpc>
              <a:spcBef>
                <a:spcPts val="0"/>
              </a:spcBef>
              <a:spcAft>
                <a:spcPts val="0"/>
              </a:spcAft>
              <a:buSzPts val="1300"/>
              <a:buChar char="●"/>
            </a:pPr>
            <a:r>
              <a:rPr lang="en"/>
              <a:t>Math 423 - Mathematics of Finance (covers futures/options pricing)</a:t>
            </a:r>
            <a:endParaRPr/>
          </a:p>
          <a:p>
            <a:pPr indent="-311150" lvl="0" marL="457200" rtl="0" algn="l">
              <a:lnSpc>
                <a:spcPct val="115000"/>
              </a:lnSpc>
              <a:spcBef>
                <a:spcPts val="0"/>
              </a:spcBef>
              <a:spcAft>
                <a:spcPts val="0"/>
              </a:spcAft>
              <a:buSzPts val="1300"/>
              <a:buChar char="●"/>
            </a:pPr>
            <a:r>
              <a:rPr lang="en"/>
              <a:t>Math 525 - Probability Theory (useful for understanding, not 100% necessary)</a:t>
            </a:r>
            <a:endParaRPr/>
          </a:p>
          <a:p>
            <a:pPr indent="-311150" lvl="0" marL="457200" rtl="0" algn="l">
              <a:lnSpc>
                <a:spcPct val="115000"/>
              </a:lnSpc>
              <a:spcBef>
                <a:spcPts val="0"/>
              </a:spcBef>
              <a:spcAft>
                <a:spcPts val="0"/>
              </a:spcAft>
              <a:buSzPts val="1300"/>
              <a:buChar char="●"/>
            </a:pPr>
            <a:r>
              <a:rPr lang="en"/>
              <a:t>Math 623 - Computational Finance (focused on Quant Masters program and is brutal)</a:t>
            </a:r>
            <a:endParaRPr/>
          </a:p>
          <a:p>
            <a:pPr indent="-311150" lvl="0" marL="457200" rtl="0" algn="l">
              <a:lnSpc>
                <a:spcPct val="115000"/>
              </a:lnSpc>
              <a:spcBef>
                <a:spcPts val="0"/>
              </a:spcBef>
              <a:spcAft>
                <a:spcPts val="0"/>
              </a:spcAft>
              <a:buSzPts val="1300"/>
              <a:buChar char="●"/>
            </a:pPr>
            <a:r>
              <a:rPr lang="en"/>
              <a:t>Math 507? Mathematical Methods for Algo Trading (apparently reserved for Quant program, not sure if you can override)</a:t>
            </a:r>
            <a:endParaRPr/>
          </a:p>
          <a:p>
            <a:pPr indent="-311150" lvl="0" marL="457200" rtl="0" algn="l">
              <a:lnSpc>
                <a:spcPct val="115000"/>
              </a:lnSpc>
              <a:spcBef>
                <a:spcPts val="0"/>
              </a:spcBef>
              <a:spcAft>
                <a:spcPts val="0"/>
              </a:spcAft>
              <a:buSzPts val="1300"/>
              <a:buChar char="●"/>
            </a:pPr>
            <a:r>
              <a:rPr lang="en"/>
              <a:t>Finance 302 - Ross intro Finance class</a:t>
            </a:r>
            <a:endParaRPr/>
          </a:p>
          <a:p>
            <a:pPr indent="-311150" lvl="0" marL="457200" rtl="0" algn="l">
              <a:lnSpc>
                <a:spcPct val="115000"/>
              </a:lnSpc>
              <a:spcBef>
                <a:spcPts val="0"/>
              </a:spcBef>
              <a:spcAft>
                <a:spcPts val="0"/>
              </a:spcAft>
              <a:buSzPts val="1300"/>
              <a:buChar char="●"/>
            </a:pPr>
            <a:r>
              <a:rPr lang="en"/>
              <a:t>Finance 408 - Shorting, Margin calls, ETFs, Mutual Funds</a:t>
            </a:r>
            <a:endParaRPr/>
          </a:p>
          <a:p>
            <a:pPr indent="-311150" lvl="0" marL="457200" rtl="0" algn="l">
              <a:lnSpc>
                <a:spcPct val="115000"/>
              </a:lnSpc>
              <a:spcBef>
                <a:spcPts val="0"/>
              </a:spcBef>
              <a:spcAft>
                <a:spcPts val="0"/>
              </a:spcAft>
              <a:buSzPts val="1300"/>
              <a:buChar char="●"/>
            </a:pPr>
            <a:r>
              <a:rPr lang="en"/>
              <a:t>Finance 440 - Financial Trading (hands-on experience day-trading in a market)</a:t>
            </a:r>
            <a:endParaRPr/>
          </a:p>
          <a:p>
            <a:pPr indent="0" lvl="0" marL="0" rtl="0" algn="l">
              <a:lnSpc>
                <a:spcPct val="115000"/>
              </a:lnSpc>
              <a:spcBef>
                <a:spcPts val="1000"/>
              </a:spcBef>
              <a:spcAft>
                <a:spcPts val="0"/>
              </a:spcAft>
              <a:buNone/>
            </a:pPr>
            <a:r>
              <a:rPr b="1" lang="en"/>
              <a:t>SWE</a:t>
            </a:r>
            <a:endParaRPr b="1"/>
          </a:p>
          <a:p>
            <a:pPr indent="-311150" lvl="0" marL="457200" rtl="0" algn="l">
              <a:lnSpc>
                <a:spcPct val="115000"/>
              </a:lnSpc>
              <a:spcBef>
                <a:spcPts val="1000"/>
              </a:spcBef>
              <a:spcAft>
                <a:spcPts val="0"/>
              </a:spcAft>
              <a:buSzPts val="1300"/>
              <a:buChar char="●"/>
            </a:pPr>
            <a:r>
              <a:rPr lang="en"/>
              <a:t>EECS 281 - Data Structures and Algorithms</a:t>
            </a:r>
            <a:endParaRPr/>
          </a:p>
          <a:p>
            <a:pPr indent="-311150" lvl="0" marL="457200" rtl="0" algn="l">
              <a:lnSpc>
                <a:spcPct val="115000"/>
              </a:lnSpc>
              <a:spcBef>
                <a:spcPts val="0"/>
              </a:spcBef>
              <a:spcAft>
                <a:spcPts val="0"/>
              </a:spcAft>
              <a:buSzPts val="1300"/>
              <a:buChar char="●"/>
            </a:pPr>
            <a:r>
              <a:rPr lang="en"/>
              <a:t>EECS 370 - Intro to Computer Organization</a:t>
            </a:r>
            <a:endParaRPr/>
          </a:p>
          <a:p>
            <a:pPr indent="-311150" lvl="0" marL="457200" rtl="0" algn="l">
              <a:lnSpc>
                <a:spcPct val="115000"/>
              </a:lnSpc>
              <a:spcBef>
                <a:spcPts val="0"/>
              </a:spcBef>
              <a:spcAft>
                <a:spcPts val="0"/>
              </a:spcAft>
              <a:buSzPts val="1300"/>
              <a:buChar char="●"/>
            </a:pPr>
            <a:r>
              <a:rPr lang="en"/>
              <a:t>EECS 482 - Operating Systems (disclaimer: not for the faint of heart</a:t>
            </a:r>
            <a:r>
              <a:rPr lang="en"/>
              <a:t>)</a:t>
            </a:r>
            <a:endParaRPr/>
          </a:p>
          <a:p>
            <a:pPr indent="0" lvl="0" marL="0" rtl="0" algn="l">
              <a:lnSpc>
                <a:spcPct val="115000"/>
              </a:lnSpc>
              <a:spcBef>
                <a:spcPts val="1000"/>
              </a:spcBef>
              <a:spcAft>
                <a:spcPts val="0"/>
              </a:spcAft>
              <a:buNone/>
            </a:pPr>
            <a:r>
              <a:t/>
            </a:r>
            <a:endParaRPr/>
          </a:p>
          <a:p>
            <a:pPr indent="0" lvl="0" marL="0" rtl="0" algn="l">
              <a:lnSpc>
                <a:spcPct val="115000"/>
              </a:lnSpc>
              <a:spcBef>
                <a:spcPts val="1000"/>
              </a:spcBef>
              <a:spcAft>
                <a:spcPts val="0"/>
              </a:spcAft>
              <a:buNone/>
            </a:pPr>
            <a:r>
              <a:t/>
            </a:r>
            <a:endParaRPr/>
          </a:p>
          <a:p>
            <a:pPr indent="0" lvl="0" marL="0" rtl="0" algn="l">
              <a:lnSpc>
                <a:spcPct val="115000"/>
              </a:lnSpc>
              <a:spcBef>
                <a:spcPts val="10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type="title"/>
          </p:nvPr>
        </p:nvSpPr>
        <p:spPr>
          <a:xfrm>
            <a:off x="449275" y="2062150"/>
            <a:ext cx="56718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Schedule-Based Single Order Algorithms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Montserrat"/>
                <a:ea typeface="Montserrat"/>
                <a:cs typeface="Montserrat"/>
                <a:sym typeface="Montserrat"/>
              </a:rPr>
              <a:t>Let’s say </a:t>
            </a:r>
            <a:r>
              <a:rPr lang="en" sz="1700">
                <a:latin typeface="Montserrat"/>
                <a:ea typeface="Montserrat"/>
                <a:cs typeface="Montserrat"/>
                <a:sym typeface="Montserrat"/>
              </a:rPr>
              <a:t>you are a trader and your firm wants to buy (or sell) a large volume of a single stock quickly.</a:t>
            </a:r>
            <a:endParaRPr sz="1700">
              <a:latin typeface="Montserrat"/>
              <a:ea typeface="Montserrat"/>
              <a:cs typeface="Montserrat"/>
              <a:sym typeface="Montserrat"/>
            </a:endParaRPr>
          </a:p>
          <a:p>
            <a:pPr indent="0" lvl="0" marL="0" rtl="0" algn="l">
              <a:spcBef>
                <a:spcPts val="0"/>
              </a:spcBef>
              <a:spcAft>
                <a:spcPts val="0"/>
              </a:spcAft>
              <a:buNone/>
            </a:pPr>
            <a:r>
              <a:t/>
            </a:r>
            <a:endParaRPr sz="1700">
              <a:latin typeface="Montserrat"/>
              <a:ea typeface="Montserrat"/>
              <a:cs typeface="Montserrat"/>
              <a:sym typeface="Montserrat"/>
            </a:endParaRPr>
          </a:p>
          <a:p>
            <a:pPr indent="0" lvl="0" marL="0" rtl="0" algn="l">
              <a:spcBef>
                <a:spcPts val="0"/>
              </a:spcBef>
              <a:spcAft>
                <a:spcPts val="0"/>
              </a:spcAft>
              <a:buNone/>
            </a:pPr>
            <a:r>
              <a:rPr lang="en" sz="1700">
                <a:latin typeface="Montserrat"/>
                <a:ea typeface="Montserrat"/>
                <a:cs typeface="Montserrat"/>
                <a:sym typeface="Montserrat"/>
              </a:rPr>
              <a:t>A large volume in this context is one that will change the price</a:t>
            </a:r>
            <a:endParaRPr sz="1700">
              <a:latin typeface="Montserrat"/>
              <a:ea typeface="Montserrat"/>
              <a:cs typeface="Montserrat"/>
              <a:sym typeface="Montserrat"/>
            </a:endParaRPr>
          </a:p>
          <a:p>
            <a:pPr indent="0" lvl="0" marL="0" rtl="0" algn="l">
              <a:spcBef>
                <a:spcPts val="0"/>
              </a:spcBef>
              <a:spcAft>
                <a:spcPts val="0"/>
              </a:spcAft>
              <a:buNone/>
            </a:pPr>
            <a:r>
              <a:t/>
            </a:r>
            <a:endParaRPr sz="1700">
              <a:latin typeface="Montserrat"/>
              <a:ea typeface="Montserrat"/>
              <a:cs typeface="Montserrat"/>
              <a:sym typeface="Montserrat"/>
            </a:endParaRPr>
          </a:p>
          <a:p>
            <a:pPr indent="0" lvl="0" marL="0" rtl="0" algn="l">
              <a:spcBef>
                <a:spcPts val="0"/>
              </a:spcBef>
              <a:spcAft>
                <a:spcPts val="0"/>
              </a:spcAft>
              <a:buNone/>
            </a:pPr>
            <a:r>
              <a:rPr lang="en" sz="1700">
                <a:latin typeface="Montserrat"/>
                <a:ea typeface="Montserrat"/>
                <a:cs typeface="Montserrat"/>
                <a:sym typeface="Montserrat"/>
              </a:rPr>
              <a:t>2 main order types exist, market orders and limit orders</a:t>
            </a:r>
            <a:endParaRPr sz="1700">
              <a:latin typeface="Montserrat"/>
              <a:ea typeface="Montserrat"/>
              <a:cs typeface="Montserrat"/>
              <a:sym typeface="Montserrat"/>
            </a:endParaRPr>
          </a:p>
          <a:p>
            <a:pPr indent="0" lvl="0" marL="0" rtl="0" algn="l">
              <a:spcBef>
                <a:spcPts val="0"/>
              </a:spcBef>
              <a:spcAft>
                <a:spcPts val="0"/>
              </a:spcAft>
              <a:buNone/>
            </a:pPr>
            <a:r>
              <a:t/>
            </a:r>
            <a:endParaRPr sz="1700">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26"/>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221" name="Google Shape;221;p26"/>
          <p:cNvSpPr txBox="1"/>
          <p:nvPr>
            <p:ph type="title"/>
          </p:nvPr>
        </p:nvSpPr>
        <p:spPr>
          <a:xfrm>
            <a:off x="10689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 Market Order of 1000</a:t>
            </a:r>
            <a:endParaRPr/>
          </a:p>
        </p:txBody>
      </p:sp>
      <p:graphicFrame>
        <p:nvGraphicFramePr>
          <p:cNvPr id="222" name="Google Shape;222;p26"/>
          <p:cNvGraphicFramePr/>
          <p:nvPr/>
        </p:nvGraphicFramePr>
        <p:xfrm>
          <a:off x="823325" y="1469625"/>
          <a:ext cx="3000000" cy="3000000"/>
        </p:xfrm>
        <a:graphic>
          <a:graphicData uri="http://schemas.openxmlformats.org/drawingml/2006/table">
            <a:tbl>
              <a:tblPr>
                <a:noFill/>
                <a:tableStyleId>{89DC35E6-14BC-412C-A779-6D6EE34C2E1F}</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a:t>
                      </a:r>
                      <a:r>
                        <a:rPr lang="en" sz="1600">
                          <a:solidFill>
                            <a:srgbClr val="FFFFFF"/>
                          </a:solidFill>
                        </a:rPr>
                        <a:t>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a:t>
                      </a:r>
                      <a:r>
                        <a:rPr lang="en" sz="1600">
                          <a:solidFill>
                            <a:srgbClr val="FFFFFF"/>
                          </a:solidFill>
                        </a:rPr>
                        <a:t>5</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3</a:t>
                      </a:r>
                      <a:r>
                        <a:rPr lang="en" sz="1600">
                          <a:solidFill>
                            <a:srgbClr val="FFFFFF"/>
                          </a:solidFill>
                        </a:rPr>
                        <a:t>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a:t>
                      </a:r>
                      <a:r>
                        <a:rPr lang="en" sz="1600">
                          <a:solidFill>
                            <a:srgbClr val="FFFFFF"/>
                          </a:solidFill>
                        </a:rPr>
                        <a:t>4</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45</a:t>
                      </a:r>
                      <a:r>
                        <a:rPr lang="en" sz="1600">
                          <a:solidFill>
                            <a:srgbClr val="FFFFFF"/>
                          </a:solidFill>
                        </a:rPr>
                        <a:t>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a:t>
                      </a:r>
                      <a:r>
                        <a:rPr lang="en" sz="1600">
                          <a:solidFill>
                            <a:srgbClr val="FFFFFF"/>
                          </a:solidFill>
                        </a:rPr>
                        <a:t>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20</a:t>
                      </a:r>
                      <a:r>
                        <a:rPr lang="en" sz="1600">
                          <a:solidFill>
                            <a:srgbClr val="FFFFFF"/>
                          </a:solidFill>
                        </a:rPr>
                        <a:t>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a:t>
                      </a:r>
                      <a:r>
                        <a:rPr lang="en" sz="1600">
                          <a:solidFill>
                            <a:srgbClr val="FFFFFF"/>
                          </a:solidFill>
                        </a:rPr>
                        <a:t>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a:t>
                      </a:r>
                      <a:r>
                        <a:rPr lang="en" sz="1600">
                          <a:solidFill>
                            <a:srgbClr val="FFFFFF"/>
                          </a:solidFill>
                        </a:rPr>
                        <a:t>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7"/>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228" name="Google Shape;228;p27"/>
          <p:cNvSpPr txBox="1"/>
          <p:nvPr>
            <p:ph type="title"/>
          </p:nvPr>
        </p:nvSpPr>
        <p:spPr>
          <a:xfrm>
            <a:off x="10689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 Market Order of 1000</a:t>
            </a:r>
            <a:endParaRPr/>
          </a:p>
        </p:txBody>
      </p:sp>
      <p:graphicFrame>
        <p:nvGraphicFramePr>
          <p:cNvPr id="229" name="Google Shape;229;p27"/>
          <p:cNvGraphicFramePr/>
          <p:nvPr/>
        </p:nvGraphicFramePr>
        <p:xfrm>
          <a:off x="823325" y="1469625"/>
          <a:ext cx="3000000" cy="3000000"/>
        </p:xfrm>
        <a:graphic>
          <a:graphicData uri="http://schemas.openxmlformats.org/drawingml/2006/table">
            <a:tbl>
              <a:tblPr>
                <a:noFill/>
                <a:tableStyleId>{89DC35E6-14BC-412C-A779-6D6EE34C2E1F}</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100.05</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350 (150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100.04</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450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200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50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8"/>
          <p:cNvSpPr txBox="1"/>
          <p:nvPr>
            <p:ph type="title"/>
          </p:nvPr>
        </p:nvSpPr>
        <p:spPr>
          <a:xfrm>
            <a:off x="11451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235" name="Google Shape;235;p28"/>
          <p:cNvPicPr preferRelativeResize="0"/>
          <p:nvPr/>
        </p:nvPicPr>
        <p:blipFill>
          <a:blip r:embed="rId3">
            <a:alphaModFix/>
          </a:blip>
          <a:stretch>
            <a:fillRect/>
          </a:stretch>
        </p:blipFill>
        <p:spPr>
          <a:xfrm>
            <a:off x="7481275" y="0"/>
            <a:ext cx="1662724" cy="1662725"/>
          </a:xfrm>
          <a:prstGeom prst="rect">
            <a:avLst/>
          </a:prstGeom>
          <a:noFill/>
          <a:ln>
            <a:noFill/>
          </a:ln>
        </p:spPr>
      </p:pic>
      <p:graphicFrame>
        <p:nvGraphicFramePr>
          <p:cNvPr id="236" name="Google Shape;236;p28"/>
          <p:cNvGraphicFramePr/>
          <p:nvPr/>
        </p:nvGraphicFramePr>
        <p:xfrm>
          <a:off x="823325" y="1469625"/>
          <a:ext cx="3000000" cy="3000000"/>
        </p:xfrm>
        <a:graphic>
          <a:graphicData uri="http://schemas.openxmlformats.org/drawingml/2006/table">
            <a:tbl>
              <a:tblPr>
                <a:noFill/>
                <a:tableStyleId>{89DC35E6-14BC-412C-A779-6D6EE34C2E1F}</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100.05</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100.04</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As you can see, the best ask when the market order was placed was 10.01.</a:t>
            </a:r>
            <a:endParaRPr sz="1700"/>
          </a:p>
          <a:p>
            <a:pPr indent="0" lvl="0" marL="0" rtl="0" algn="l">
              <a:spcBef>
                <a:spcPts val="1600"/>
              </a:spcBef>
              <a:spcAft>
                <a:spcPts val="0"/>
              </a:spcAft>
              <a:buNone/>
            </a:pPr>
            <a:r>
              <a:rPr lang="en" sz="1700"/>
              <a:t>Some orders went through at this price, but not all of them. </a:t>
            </a:r>
            <a:endParaRPr sz="1700"/>
          </a:p>
          <a:p>
            <a:pPr indent="0" lvl="0" marL="0" rtl="0" algn="l">
              <a:spcBef>
                <a:spcPts val="1600"/>
              </a:spcBef>
              <a:spcAft>
                <a:spcPts val="1600"/>
              </a:spcAft>
              <a:buNone/>
            </a:pPr>
            <a:r>
              <a:rPr lang="en" sz="1700"/>
              <a:t>Some went through as high as 10.05.</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11451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graphicFrame>
        <p:nvGraphicFramePr>
          <p:cNvPr id="248" name="Google Shape;248;p30"/>
          <p:cNvGraphicFramePr/>
          <p:nvPr/>
        </p:nvGraphicFramePr>
        <p:xfrm>
          <a:off x="5763600" y="133750"/>
          <a:ext cx="3000000" cy="3000000"/>
        </p:xfrm>
        <a:graphic>
          <a:graphicData uri="http://schemas.openxmlformats.org/drawingml/2006/table">
            <a:tbl>
              <a:tblPr>
                <a:noFill/>
                <a:tableStyleId>{89DC35E6-14BC-412C-A779-6D6EE34C2E1F}</a:tableStyleId>
              </a:tblPr>
              <a:tblGrid>
                <a:gridCol w="863825"/>
                <a:gridCol w="1086375"/>
                <a:gridCol w="1001150"/>
              </a:tblGrid>
              <a:tr h="223700">
                <a:tc>
                  <a:txBody>
                    <a:bodyPr/>
                    <a:lstStyle/>
                    <a:p>
                      <a:pPr indent="0" lvl="0" marL="0" rtl="0" algn="l">
                        <a:spcBef>
                          <a:spcPts val="0"/>
                        </a:spcBef>
                        <a:spcAft>
                          <a:spcPts val="0"/>
                        </a:spcAft>
                        <a:buNone/>
                      </a:pPr>
                      <a:r>
                        <a:rPr lang="en" sz="800">
                          <a:solidFill>
                            <a:srgbClr val="FFFFFF"/>
                          </a:solidFill>
                        </a:rPr>
                        <a:t>Bid (Volume)</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Price</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Ask (Volume)</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120.01</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120.00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200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100.10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50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100.09</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50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100.08</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50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100.07</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60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100.06</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40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100.05</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50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100.04</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200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100.03</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100.02</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100.01</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rPr lang="en" sz="800">
                          <a:solidFill>
                            <a:srgbClr val="FFFFFF"/>
                          </a:solidFill>
                        </a:rPr>
                        <a:t>120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rPr lang="en" sz="800">
                          <a:solidFill>
                            <a:srgbClr val="FFFFFF"/>
                          </a:solidFill>
                        </a:rPr>
                        <a:t>180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99.99</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txBox="1"/>
          <p:nvPr>
            <p:ph type="title"/>
          </p:nvPr>
        </p:nvSpPr>
        <p:spPr>
          <a:xfrm>
            <a:off x="11451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graphicFrame>
        <p:nvGraphicFramePr>
          <p:cNvPr id="254" name="Google Shape;254;p31"/>
          <p:cNvGraphicFramePr/>
          <p:nvPr/>
        </p:nvGraphicFramePr>
        <p:xfrm>
          <a:off x="5763600" y="133750"/>
          <a:ext cx="3000000" cy="3000000"/>
        </p:xfrm>
        <a:graphic>
          <a:graphicData uri="http://schemas.openxmlformats.org/drawingml/2006/table">
            <a:tbl>
              <a:tblPr>
                <a:noFill/>
                <a:tableStyleId>{89DC35E6-14BC-412C-A779-6D6EE34C2E1F}</a:tableStyleId>
              </a:tblPr>
              <a:tblGrid>
                <a:gridCol w="863825"/>
                <a:gridCol w="1086375"/>
                <a:gridCol w="1001150"/>
              </a:tblGrid>
              <a:tr h="223700">
                <a:tc>
                  <a:txBody>
                    <a:bodyPr/>
                    <a:lstStyle/>
                    <a:p>
                      <a:pPr indent="0" lvl="0" marL="0" rtl="0" algn="l">
                        <a:spcBef>
                          <a:spcPts val="0"/>
                        </a:spcBef>
                        <a:spcAft>
                          <a:spcPts val="0"/>
                        </a:spcAft>
                        <a:buNone/>
                      </a:pPr>
                      <a:r>
                        <a:rPr lang="en" sz="800">
                          <a:solidFill>
                            <a:srgbClr val="FFFFFF"/>
                          </a:solidFill>
                        </a:rPr>
                        <a:t>Bid (Volume)</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Price</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Ask (Volume)</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12</a:t>
                      </a:r>
                      <a:r>
                        <a:rPr lang="en" sz="800">
                          <a:solidFill>
                            <a:srgbClr val="FFFFFF"/>
                          </a:solidFill>
                        </a:rPr>
                        <a:t>0.01</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120.00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200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100.10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50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100.09</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50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100.08</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50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100.07</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60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100.06</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40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100.05</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50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100.04</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200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100.03</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100.02</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a:t>
                      </a:r>
                      <a:r>
                        <a:rPr lang="en" sz="800">
                          <a:solidFill>
                            <a:schemeClr val="lt1"/>
                          </a:solidFill>
                        </a:rPr>
                        <a:t>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100.01</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 (SOLD)</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rPr lang="en" sz="800">
                          <a:solidFill>
                            <a:srgbClr val="FFFFFF"/>
                          </a:solidFill>
                        </a:rPr>
                        <a:t>120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100.00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223700">
                <a:tc>
                  <a:txBody>
                    <a:bodyPr/>
                    <a:lstStyle/>
                    <a:p>
                      <a:pPr indent="0" lvl="0" marL="0" rtl="0" algn="l">
                        <a:spcBef>
                          <a:spcPts val="0"/>
                        </a:spcBef>
                        <a:spcAft>
                          <a:spcPts val="0"/>
                        </a:spcAft>
                        <a:buNone/>
                      </a:pPr>
                      <a:r>
                        <a:rPr lang="en" sz="800">
                          <a:solidFill>
                            <a:srgbClr val="FFFFFF"/>
                          </a:solidFill>
                        </a:rPr>
                        <a:t>180</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FFFFFF"/>
                          </a:solidFill>
                        </a:rPr>
                        <a:t>99.99</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8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255" name="Google Shape;255;p31"/>
          <p:cNvSpPr txBox="1"/>
          <p:nvPr/>
        </p:nvSpPr>
        <p:spPr>
          <a:xfrm>
            <a:off x="1146475" y="1620700"/>
            <a:ext cx="2951400" cy="28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For a larger example, if there is not much demand at all, transacting may lead to much higher prices.</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Here some orders are placed at $120 because the </a:t>
            </a:r>
            <a:r>
              <a:rPr lang="en" sz="1300">
                <a:solidFill>
                  <a:schemeClr val="lt1"/>
                </a:solidFill>
                <a:latin typeface="Lato"/>
                <a:ea typeface="Lato"/>
                <a:cs typeface="Lato"/>
                <a:sym typeface="Lato"/>
              </a:rPr>
              <a:t>market</a:t>
            </a:r>
            <a:r>
              <a:rPr lang="en" sz="1300">
                <a:solidFill>
                  <a:schemeClr val="lt1"/>
                </a:solidFill>
                <a:latin typeface="Lato"/>
                <a:ea typeface="Lato"/>
                <a:cs typeface="Lato"/>
                <a:sym typeface="Lato"/>
              </a:rPr>
              <a:t> is “thin”</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thin means relatively few buyers/sellers</a:t>
            </a:r>
            <a:endParaRPr sz="1300">
              <a:solidFill>
                <a:schemeClr val="lt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2"/>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261" name="Google Shape;261;p32"/>
          <p:cNvSpPr txBox="1"/>
          <p:nvPr>
            <p:ph type="title"/>
          </p:nvPr>
        </p:nvSpPr>
        <p:spPr>
          <a:xfrm>
            <a:off x="10689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 Limit Order of 1000</a:t>
            </a:r>
            <a:endParaRPr/>
          </a:p>
        </p:txBody>
      </p:sp>
      <p:graphicFrame>
        <p:nvGraphicFramePr>
          <p:cNvPr id="262" name="Google Shape;262;p32"/>
          <p:cNvGraphicFramePr/>
          <p:nvPr/>
        </p:nvGraphicFramePr>
        <p:xfrm>
          <a:off x="823325" y="1469625"/>
          <a:ext cx="3000000" cy="3000000"/>
        </p:xfrm>
        <a:graphic>
          <a:graphicData uri="http://schemas.openxmlformats.org/drawingml/2006/table">
            <a:tbl>
              <a:tblPr>
                <a:noFill/>
                <a:tableStyleId>{89DC35E6-14BC-412C-A779-6D6EE34C2E1F}</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100.05</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350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100.04</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450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3"/>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268" name="Google Shape;268;p33"/>
          <p:cNvSpPr txBox="1"/>
          <p:nvPr>
            <p:ph type="title"/>
          </p:nvPr>
        </p:nvSpPr>
        <p:spPr>
          <a:xfrm>
            <a:off x="10689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 Limit Order of 1000</a:t>
            </a:r>
            <a:endParaRPr/>
          </a:p>
        </p:txBody>
      </p:sp>
      <p:graphicFrame>
        <p:nvGraphicFramePr>
          <p:cNvPr id="269" name="Google Shape;269;p33"/>
          <p:cNvGraphicFramePr/>
          <p:nvPr/>
        </p:nvGraphicFramePr>
        <p:xfrm>
          <a:off x="823325" y="1469625"/>
          <a:ext cx="3000000" cy="3000000"/>
        </p:xfrm>
        <a:graphic>
          <a:graphicData uri="http://schemas.openxmlformats.org/drawingml/2006/table">
            <a:tbl>
              <a:tblPr>
                <a:noFill/>
                <a:tableStyleId>{89DC35E6-14BC-412C-A779-6D6EE34C2E1F}</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100.05</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350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100.04</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450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a:t>
                      </a:r>
                      <a:r>
                        <a:rPr lang="en" sz="1600">
                          <a:solidFill>
                            <a:srgbClr val="FFFFFF"/>
                          </a:solidFill>
                        </a:rPr>
                        <a:t>120 (1,000 Yours)</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People will be able to see that you placed this order, and others will try to “front run” your order</a:t>
            </a:r>
            <a:endParaRPr sz="1700"/>
          </a:p>
          <a:p>
            <a:pPr indent="0" lvl="0" marL="0" rtl="0" algn="l">
              <a:spcBef>
                <a:spcPts val="1600"/>
              </a:spcBef>
              <a:spcAft>
                <a:spcPts val="0"/>
              </a:spcAft>
              <a:buNone/>
            </a:pPr>
            <a:r>
              <a:rPr lang="en" sz="1700"/>
              <a:t>Others </a:t>
            </a:r>
            <a:r>
              <a:rPr lang="en" sz="1700"/>
              <a:t>know this order is likely to make prices go up so others will try to buy</a:t>
            </a:r>
            <a:endParaRPr sz="1700"/>
          </a:p>
          <a:p>
            <a:pPr indent="0" lvl="0" marL="0" rtl="0" algn="l">
              <a:spcBef>
                <a:spcPts val="1600"/>
              </a:spcBef>
              <a:spcAft>
                <a:spcPts val="0"/>
              </a:spcAft>
              <a:buNone/>
            </a:pPr>
            <a:r>
              <a:rPr lang="en" sz="1700"/>
              <a:t>They see your order exists and has not transacted yet, so they will try to beat </a:t>
            </a:r>
            <a:r>
              <a:rPr lang="en" sz="1700"/>
              <a:t>you</a:t>
            </a:r>
            <a:r>
              <a:rPr lang="en" sz="1700"/>
              <a:t> to it by buying one cent above you</a:t>
            </a:r>
            <a:endParaRPr sz="1700"/>
          </a:p>
          <a:p>
            <a:pPr indent="0" lvl="0" marL="0" rtl="0" algn="l">
              <a:spcBef>
                <a:spcPts val="1600"/>
              </a:spcBef>
              <a:spcAft>
                <a:spcPts val="0"/>
              </a:spcAft>
              <a:buNone/>
            </a:pPr>
            <a:r>
              <a:rPr lang="en" sz="1700"/>
              <a:t>This makes YOU lose out on profits!</a:t>
            </a:r>
            <a:endParaRPr sz="1700"/>
          </a:p>
          <a:p>
            <a:pPr indent="0" lvl="0" marL="0" rtl="0" algn="l">
              <a:spcBef>
                <a:spcPts val="1600"/>
              </a:spcBef>
              <a:spcAft>
                <a:spcPts val="0"/>
              </a:spcAft>
              <a:buNone/>
            </a:pPr>
            <a:r>
              <a:t/>
            </a:r>
            <a:endParaRPr sz="1700"/>
          </a:p>
          <a:p>
            <a:pPr indent="0" lvl="0" marL="0" rtl="0" algn="l">
              <a:spcBef>
                <a:spcPts val="1600"/>
              </a:spcBef>
              <a:spcAft>
                <a:spcPts val="1600"/>
              </a:spcAft>
              <a:buNone/>
            </a:pPr>
            <a:r>
              <a:t/>
            </a:r>
            <a:endParaRPr sz="1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avoid these things</a:t>
            </a:r>
            <a:endParaRPr/>
          </a:p>
        </p:txBody>
      </p:sp>
      <p:sp>
        <p:nvSpPr>
          <p:cNvPr id="281" name="Google Shape;281;p3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Use a combination of both market and limit orders</a:t>
            </a:r>
            <a:endParaRPr sz="1700"/>
          </a:p>
          <a:p>
            <a:pPr indent="-336550" lvl="0" marL="457200" rtl="0" algn="l">
              <a:spcBef>
                <a:spcPts val="0"/>
              </a:spcBef>
              <a:spcAft>
                <a:spcPts val="0"/>
              </a:spcAft>
              <a:buSzPts val="1700"/>
              <a:buChar char="●"/>
            </a:pPr>
            <a:r>
              <a:rPr lang="en" sz="1700"/>
              <a:t>Sell over time</a:t>
            </a:r>
            <a:endParaRPr sz="1700"/>
          </a:p>
          <a:p>
            <a:pPr indent="-336550" lvl="1" marL="914400" rtl="0" algn="l">
              <a:spcBef>
                <a:spcPts val="0"/>
              </a:spcBef>
              <a:spcAft>
                <a:spcPts val="0"/>
              </a:spcAft>
              <a:buSzPts val="1700"/>
              <a:buChar char="○"/>
            </a:pPr>
            <a:r>
              <a:rPr lang="en" sz="1700"/>
              <a:t>2 strategies: TWAP &amp; VWAP</a:t>
            </a:r>
            <a:endParaRPr sz="1700"/>
          </a:p>
          <a:p>
            <a:pPr indent="0" lvl="0" marL="914400" rtl="0" algn="l">
              <a:spcBef>
                <a:spcPts val="1600"/>
              </a:spcBef>
              <a:spcAft>
                <a:spcPts val="0"/>
              </a:spcAft>
              <a:buNone/>
            </a:pPr>
            <a:r>
              <a:t/>
            </a:r>
            <a:endParaRPr sz="1700"/>
          </a:p>
          <a:p>
            <a:pPr indent="0" lvl="0" marL="0" rtl="0" algn="l">
              <a:spcBef>
                <a:spcPts val="1600"/>
              </a:spcBef>
              <a:spcAft>
                <a:spcPts val="1600"/>
              </a:spcAft>
              <a:buNone/>
            </a:pPr>
            <a:r>
              <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TWAP &amp; VWAP</a:t>
            </a:r>
            <a:endParaRPr/>
          </a:p>
        </p:txBody>
      </p:sp>
      <p:sp>
        <p:nvSpPr>
          <p:cNvPr id="287" name="Google Shape;287;p3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TWAP - Time-Weighted Average Price</a:t>
            </a:r>
            <a:endParaRPr sz="1700"/>
          </a:p>
          <a:p>
            <a:pPr indent="-336550" lvl="0" marL="457200" rtl="0" algn="l">
              <a:spcBef>
                <a:spcPts val="1600"/>
              </a:spcBef>
              <a:spcAft>
                <a:spcPts val="0"/>
              </a:spcAft>
              <a:buSzPts val="1700"/>
              <a:buChar char="-"/>
            </a:pPr>
            <a:r>
              <a:rPr lang="en" sz="1700"/>
              <a:t>Buy/Sell a handful of the stock in intervals</a:t>
            </a:r>
            <a:endParaRPr sz="1700"/>
          </a:p>
          <a:p>
            <a:pPr indent="-336550" lvl="0" marL="457200" rtl="0" algn="l">
              <a:spcBef>
                <a:spcPts val="0"/>
              </a:spcBef>
              <a:spcAft>
                <a:spcPts val="0"/>
              </a:spcAft>
              <a:buSzPts val="1700"/>
              <a:buChar char="-"/>
            </a:pPr>
            <a:r>
              <a:rPr lang="en" sz="1700"/>
              <a:t>This way others won’t see your large limit orders, and market orders will (hopefully) get better prices</a:t>
            </a:r>
            <a:endParaRPr sz="1700"/>
          </a:p>
          <a:p>
            <a:pPr indent="0" lvl="0" marL="0" rtl="0" algn="l">
              <a:spcBef>
                <a:spcPts val="1600"/>
              </a:spcBef>
              <a:spcAft>
                <a:spcPts val="0"/>
              </a:spcAft>
              <a:buNone/>
            </a:pPr>
            <a:r>
              <a:rPr lang="en" sz="1700"/>
              <a:t>VWAP - Volume-Weighted Average Price</a:t>
            </a:r>
            <a:endParaRPr sz="1700"/>
          </a:p>
          <a:p>
            <a:pPr indent="-336550" lvl="0" marL="457200" rtl="0" algn="l">
              <a:spcBef>
                <a:spcPts val="1600"/>
              </a:spcBef>
              <a:spcAft>
                <a:spcPts val="0"/>
              </a:spcAft>
              <a:buSzPts val="1700"/>
              <a:buChar char="-"/>
            </a:pPr>
            <a:r>
              <a:rPr lang="en" sz="1700"/>
              <a:t>Match the intervals to corresponding trading volume</a:t>
            </a:r>
            <a:endParaRPr sz="1700"/>
          </a:p>
          <a:p>
            <a:pPr indent="0" lvl="0" marL="0" rtl="0" algn="l">
              <a:spcBef>
                <a:spcPts val="1600"/>
              </a:spcBef>
              <a:spcAft>
                <a:spcPts val="1600"/>
              </a:spcAft>
              <a:buNone/>
            </a:pPr>
            <a:r>
              <a:t/>
            </a:r>
            <a:endParaRPr sz="17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94" name="Google Shape;294;p37"/>
          <p:cNvPicPr preferRelativeResize="0"/>
          <p:nvPr/>
        </p:nvPicPr>
        <p:blipFill>
          <a:blip r:embed="rId3">
            <a:alphaModFix/>
          </a:blip>
          <a:stretch>
            <a:fillRect/>
          </a:stretch>
        </p:blipFill>
        <p:spPr>
          <a:xfrm>
            <a:off x="0" y="612321"/>
            <a:ext cx="9143999" cy="391885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8"/>
          <p:cNvSpPr txBox="1"/>
          <p:nvPr>
            <p:ph type="title"/>
          </p:nvPr>
        </p:nvSpPr>
        <p:spPr>
          <a:xfrm>
            <a:off x="449275" y="2062150"/>
            <a:ext cx="56718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Discussion/Work Time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 Environment</a:t>
            </a:r>
            <a:endParaRPr/>
          </a:p>
        </p:txBody>
      </p:sp>
      <p:sp>
        <p:nvSpPr>
          <p:cNvPr id="305" name="Google Shape;305;p3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of right now, we’ll use Google Drive/Colab</a:t>
            </a:r>
            <a:endParaRPr/>
          </a:p>
          <a:p>
            <a:pPr indent="-311150" lvl="0" marL="457200" rtl="0" algn="l">
              <a:spcBef>
                <a:spcPts val="1600"/>
              </a:spcBef>
              <a:spcAft>
                <a:spcPts val="0"/>
              </a:spcAft>
              <a:buSzPts val="1300"/>
              <a:buChar char="●"/>
            </a:pPr>
            <a:r>
              <a:rPr lang="en"/>
              <a:t>.py files stored in the drive, need to be implemented</a:t>
            </a:r>
            <a:endParaRPr/>
          </a:p>
          <a:p>
            <a:pPr indent="-311150" lvl="0" marL="457200" rtl="0" algn="l">
              <a:spcBef>
                <a:spcPts val="0"/>
              </a:spcBef>
              <a:spcAft>
                <a:spcPts val="0"/>
              </a:spcAft>
              <a:buSzPts val="1300"/>
              <a:buChar char="●"/>
            </a:pPr>
            <a:r>
              <a:rPr lang="en"/>
              <a:t>.ipynb file for driver, also needs to be implemented</a:t>
            </a:r>
            <a:endParaRPr/>
          </a:p>
          <a:p>
            <a:pPr indent="0" lvl="0" marL="0" rtl="0" algn="l">
              <a:spcBef>
                <a:spcPts val="1600"/>
              </a:spcBef>
              <a:spcAft>
                <a:spcPts val="0"/>
              </a:spcAft>
              <a:buNone/>
            </a:pPr>
            <a:r>
              <a:rPr lang="en"/>
              <a:t>Hoping to move to git/github and conda environments soon</a:t>
            </a:r>
            <a:endParaRPr/>
          </a:p>
          <a:p>
            <a:pPr indent="-311150" lvl="0" marL="457200" rtl="0" algn="l">
              <a:spcBef>
                <a:spcPts val="1600"/>
              </a:spcBef>
              <a:spcAft>
                <a:spcPts val="0"/>
              </a:spcAft>
              <a:buSzPts val="1300"/>
              <a:buChar char="●"/>
            </a:pPr>
            <a:r>
              <a:rPr lang="en"/>
              <a:t>Review the guide and setup your python and conda environments accordingly</a:t>
            </a:r>
            <a:endParaRPr/>
          </a:p>
          <a:p>
            <a:pPr indent="-311150" lvl="0" marL="457200" rtl="0" algn="l">
              <a:spcBef>
                <a:spcPts val="0"/>
              </a:spcBef>
              <a:spcAft>
                <a:spcPts val="0"/>
              </a:spcAft>
              <a:buSzPts val="1300"/>
              <a:buChar char="●"/>
            </a:pPr>
            <a:r>
              <a:rPr lang="en"/>
              <a:t>If you get stuck, I will be available to help out next week outside of our normal meeting</a:t>
            </a:r>
            <a:endParaRPr/>
          </a:p>
          <a:p>
            <a:pPr indent="0" lvl="0" marL="0" rtl="0" algn="l">
              <a:spcBef>
                <a:spcPts val="1600"/>
              </a:spcBef>
              <a:spcAft>
                <a:spcPts val="0"/>
              </a:spcAft>
              <a:buNone/>
            </a:pPr>
            <a:r>
              <a:rPr lang="en"/>
              <a:t>Note: if you’re new to Python or need to brush up, check out</a:t>
            </a:r>
            <a:endParaRPr/>
          </a:p>
          <a:p>
            <a:pPr indent="0" lvl="0" marL="0" rtl="0" algn="l">
              <a:spcBef>
                <a:spcPts val="1600"/>
              </a:spcBef>
              <a:spcAft>
                <a:spcPts val="1600"/>
              </a:spcAft>
              <a:buNone/>
            </a:pPr>
            <a:r>
              <a:rPr lang="en"/>
              <a:t>https://www.kaggle.com/learn/python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Calculating Variance and Sharpe of PnL</a:t>
            </a:r>
            <a:endParaRPr/>
          </a:p>
        </p:txBody>
      </p:sp>
      <p:sp>
        <p:nvSpPr>
          <p:cNvPr id="311" name="Google Shape;311;p4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Variance</a:t>
            </a:r>
            <a:endParaRPr/>
          </a:p>
          <a:p>
            <a:pPr indent="-311150" lvl="0" marL="457200" rtl="0" algn="l">
              <a:spcBef>
                <a:spcPts val="1600"/>
              </a:spcBef>
              <a:spcAft>
                <a:spcPts val="0"/>
              </a:spcAft>
              <a:buSzPts val="1300"/>
              <a:buAutoNum type="arabicPeriod"/>
            </a:pPr>
            <a:r>
              <a:rPr lang="en"/>
              <a:t>Given the list of trades, translate this into the raw PnL</a:t>
            </a:r>
            <a:endParaRPr/>
          </a:p>
          <a:p>
            <a:pPr indent="-311150" lvl="0" marL="457200" rtl="0" algn="l">
              <a:spcBef>
                <a:spcPts val="0"/>
              </a:spcBef>
              <a:spcAft>
                <a:spcPts val="0"/>
              </a:spcAft>
              <a:buSzPts val="1300"/>
              <a:buAutoNum type="arabicPeriod"/>
            </a:pPr>
            <a:r>
              <a:rPr lang="en"/>
              <a:t>Call .pct_change() on the pandas dataframe containing PnL to get returns</a:t>
            </a:r>
            <a:endParaRPr/>
          </a:p>
          <a:p>
            <a:pPr indent="-311150" lvl="0" marL="457200" rtl="0" algn="l">
              <a:spcBef>
                <a:spcPts val="0"/>
              </a:spcBef>
              <a:spcAft>
                <a:spcPts val="0"/>
              </a:spcAft>
              <a:buSzPts val="1300"/>
              <a:buAutoNum type="arabicPeriod"/>
            </a:pPr>
            <a:r>
              <a:rPr lang="en"/>
              <a:t>Call var() on the returns dataframe to get the variance of returns</a:t>
            </a:r>
            <a:endParaRPr/>
          </a:p>
          <a:p>
            <a:pPr indent="0" lvl="0" marL="0" rtl="0" algn="l">
              <a:spcBef>
                <a:spcPts val="1600"/>
              </a:spcBef>
              <a:spcAft>
                <a:spcPts val="0"/>
              </a:spcAft>
              <a:buNone/>
            </a:pPr>
            <a:r>
              <a:rPr lang="en"/>
              <a:t>Sharpe Ratio = E[Rp - Rf] / σ</a:t>
            </a:r>
            <a:endParaRPr/>
          </a:p>
          <a:p>
            <a:pPr indent="-311150" lvl="0" marL="457200" rtl="0" algn="l">
              <a:spcBef>
                <a:spcPts val="1600"/>
              </a:spcBef>
              <a:spcAft>
                <a:spcPts val="0"/>
              </a:spcAft>
              <a:buSzPts val="1300"/>
              <a:buAutoNum type="arabicPeriod"/>
            </a:pPr>
            <a:r>
              <a:rPr lang="en"/>
              <a:t>Calculate portfolio returns (initial - final / initial)</a:t>
            </a:r>
            <a:endParaRPr/>
          </a:p>
          <a:p>
            <a:pPr indent="-311150" lvl="0" marL="457200" rtl="0" algn="l">
              <a:spcBef>
                <a:spcPts val="0"/>
              </a:spcBef>
              <a:spcAft>
                <a:spcPts val="0"/>
              </a:spcAft>
              <a:buSzPts val="1300"/>
              <a:buAutoNum type="arabicPeriod"/>
            </a:pPr>
            <a:r>
              <a:rPr lang="en"/>
              <a:t>Acquire Risk Free Rate (use 5% for now or acquire it from US Treasuries)</a:t>
            </a:r>
            <a:endParaRPr/>
          </a:p>
          <a:p>
            <a:pPr indent="-311150" lvl="0" marL="457200" rtl="0" algn="l">
              <a:spcBef>
                <a:spcPts val="0"/>
              </a:spcBef>
              <a:spcAft>
                <a:spcPts val="0"/>
              </a:spcAft>
              <a:buSzPts val="1300"/>
              <a:buAutoNum type="arabicPeriod"/>
            </a:pPr>
            <a:r>
              <a:rPr lang="en"/>
              <a:t>Adjust the RFR for the time period</a:t>
            </a:r>
            <a:endParaRPr/>
          </a:p>
          <a:p>
            <a:pPr indent="-311150" lvl="0" marL="457200" rtl="0" algn="l">
              <a:spcBef>
                <a:spcPts val="0"/>
              </a:spcBef>
              <a:spcAft>
                <a:spcPts val="0"/>
              </a:spcAft>
              <a:buSzPts val="1300"/>
              <a:buAutoNum type="arabicPeriod"/>
            </a:pPr>
            <a:r>
              <a:rPr lang="en"/>
              <a:t>Divide by the square root of the variance (standard deviation)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Attendance Form</a:t>
            </a:r>
            <a:endParaRPr/>
          </a:p>
        </p:txBody>
      </p:sp>
      <p:sp>
        <p:nvSpPr>
          <p:cNvPr id="317" name="Google Shape;317;p41"/>
          <p:cNvSpPr txBox="1"/>
          <p:nvPr>
            <p:ph idx="1" type="body"/>
          </p:nvPr>
        </p:nvSpPr>
        <p:spPr>
          <a:xfrm>
            <a:off x="5632513" y="884875"/>
            <a:ext cx="3054000" cy="47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Link to Onboarding Document, Slack and Team Folder</a:t>
            </a:r>
            <a:endParaRPr/>
          </a:p>
        </p:txBody>
      </p:sp>
      <p:sp>
        <p:nvSpPr>
          <p:cNvPr id="318" name="Google Shape;318;p41"/>
          <p:cNvSpPr txBox="1"/>
          <p:nvPr/>
        </p:nvSpPr>
        <p:spPr>
          <a:xfrm>
            <a:off x="1153900" y="978425"/>
            <a:ext cx="305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This one</a:t>
            </a:r>
            <a:endParaRPr sz="2000">
              <a:solidFill>
                <a:schemeClr val="lt1"/>
              </a:solidFill>
              <a:latin typeface="Lato"/>
              <a:ea typeface="Lato"/>
              <a:cs typeface="Lato"/>
              <a:sym typeface="Lato"/>
            </a:endParaRPr>
          </a:p>
        </p:txBody>
      </p:sp>
      <p:sp>
        <p:nvSpPr>
          <p:cNvPr id="319" name="Google Shape;319;p41"/>
          <p:cNvSpPr/>
          <p:nvPr/>
        </p:nvSpPr>
        <p:spPr>
          <a:xfrm>
            <a:off x="2439075" y="1471025"/>
            <a:ext cx="352500" cy="492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0" name="Google Shape;320;p41"/>
          <p:cNvSpPr txBox="1"/>
          <p:nvPr/>
        </p:nvSpPr>
        <p:spPr>
          <a:xfrm>
            <a:off x="731050" y="4496125"/>
            <a:ext cx="3280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1" name="Google Shape;321;p41"/>
          <p:cNvSpPr txBox="1"/>
          <p:nvPr/>
        </p:nvSpPr>
        <p:spPr>
          <a:xfrm>
            <a:off x="5230150" y="379535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https://docs.google.com/document/d/1oA2q-qjPCw1bY79zWf1LtpeN_da65L0ntnxzCQSsJRc/edit?usp=sharing</a:t>
            </a:r>
            <a:endParaRPr/>
          </a:p>
          <a:p>
            <a:pPr indent="0" lvl="0" marL="0" rtl="0" algn="l">
              <a:spcBef>
                <a:spcPts val="0"/>
              </a:spcBef>
              <a:spcAft>
                <a:spcPts val="0"/>
              </a:spcAft>
              <a:buNone/>
            </a:pPr>
            <a:r>
              <a:t/>
            </a:r>
            <a:endParaRPr/>
          </a:p>
        </p:txBody>
      </p:sp>
      <p:sp>
        <p:nvSpPr>
          <p:cNvPr id="322" name="Google Shape;322;p41"/>
          <p:cNvSpPr txBox="1"/>
          <p:nvPr/>
        </p:nvSpPr>
        <p:spPr>
          <a:xfrm>
            <a:off x="431775" y="2294700"/>
            <a:ext cx="4367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t>https://tinyurl.com/2fk3aemj</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F15D24"/>
      </a:dk1>
      <a:lt1>
        <a:srgbClr val="FFFFFF"/>
      </a:lt1>
      <a:dk2>
        <a:srgbClr val="D9D9D9"/>
      </a:dk2>
      <a:lt2>
        <a:srgbClr val="3D3D3D"/>
      </a:lt2>
      <a:accent1>
        <a:srgbClr val="FFFFFF"/>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