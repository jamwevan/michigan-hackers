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Montserrat"/>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ontserrat-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6.xml"/><Relationship Id="rId33" Type="http://schemas.openxmlformats.org/officeDocument/2006/relationships/font" Target="fonts/Lato-bold.fntdata"/><Relationship Id="rId10" Type="http://schemas.openxmlformats.org/officeDocument/2006/relationships/slide" Target="slides/slide5.xml"/><Relationship Id="rId32" Type="http://schemas.openxmlformats.org/officeDocument/2006/relationships/font" Target="fonts/Lato-regular.fntdata"/><Relationship Id="rId13" Type="http://schemas.openxmlformats.org/officeDocument/2006/relationships/slide" Target="slides/slide8.xml"/><Relationship Id="rId35" Type="http://schemas.openxmlformats.org/officeDocument/2006/relationships/font" Target="fonts/Lato-boldItalic.fntdata"/><Relationship Id="rId12" Type="http://schemas.openxmlformats.org/officeDocument/2006/relationships/slide" Target="slides/slide7.xml"/><Relationship Id="rId34" Type="http://schemas.openxmlformats.org/officeDocument/2006/relationships/font" Target="fonts/La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fbdea321e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fbdea321e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ffb73e89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ffb73e89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f983a2fa2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f983a2fa2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f8dd3c20f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f8dd3c20f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0e77432c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0e77432c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0e77432c0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0e77432c0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0e77432c0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0e77432c0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0e77432c0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0e77432c0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0e77432c0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0e77432c0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0e77432c0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0e77432c0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0e77432c0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0e77432c0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0e77432c0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0e77432c0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0e77432c0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0e77432c0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0e77432c0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0e77432c0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0e77432c0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0e77432c0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0e77432c0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0e77432c0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0e77432c0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0e77432c0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0e77432c09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0e77432c09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ffb73e899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ffb73e899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ffb73e899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ffb73e899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ffb73e899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ffb73e899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ffb73e899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ffb73e899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tinyurl.com/bdhapsk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Quant</a:t>
            </a:r>
            <a:endParaRPr/>
          </a:p>
          <a:p>
            <a:pPr indent="0" lvl="0" marL="0" rtl="0" algn="l">
              <a:spcBef>
                <a:spcPts val="0"/>
              </a:spcBef>
              <a:spcAft>
                <a:spcPts val="0"/>
              </a:spcAft>
              <a:buNone/>
            </a:pPr>
            <a:r>
              <a:rPr lang="en"/>
              <a:t>2024-2025</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Hack Night 5/6	10/24/24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Announcements</a:t>
            </a:r>
            <a:endParaRPr sz="1800"/>
          </a:p>
          <a:p>
            <a:pPr indent="-342900" lvl="0" marL="457200" rtl="0" algn="l">
              <a:spcBef>
                <a:spcPts val="0"/>
              </a:spcBef>
              <a:spcAft>
                <a:spcPts val="0"/>
              </a:spcAft>
              <a:buSzPts val="1800"/>
              <a:buChar char="●"/>
            </a:pPr>
            <a:r>
              <a:rPr lang="en" sz="1800" u="sng">
                <a:hlinkClick r:id="rId3"/>
              </a:rPr>
              <a:t>https://tinyurl.com/bdhapskd</a:t>
            </a:r>
            <a:r>
              <a:rPr lang="en" sz="1800"/>
              <a:t> </a:t>
            </a:r>
            <a:r>
              <a:rPr lang="en" sz="1800"/>
              <a:t>← fill this out if you haven’t!</a:t>
            </a:r>
            <a:endParaRPr sz="1800"/>
          </a:p>
          <a:p>
            <a:pPr indent="-342900" lvl="0" marL="457200" rtl="0" algn="l">
              <a:spcBef>
                <a:spcPts val="0"/>
              </a:spcBef>
              <a:spcAft>
                <a:spcPts val="0"/>
              </a:spcAft>
              <a:buSzPts val="1800"/>
              <a:buChar char="●"/>
            </a:pPr>
            <a:r>
              <a:rPr lang="en" sz="1800"/>
              <a:t>Ice breakers</a:t>
            </a:r>
            <a:endParaRPr sz="1800"/>
          </a:p>
          <a:p>
            <a:pPr indent="-342900" lvl="0" marL="457200" rtl="0" algn="l">
              <a:spcBef>
                <a:spcPts val="0"/>
              </a:spcBef>
              <a:spcAft>
                <a:spcPts val="0"/>
              </a:spcAft>
              <a:buSzPts val="1800"/>
              <a:buChar char="●"/>
            </a:pPr>
            <a:r>
              <a:rPr lang="en" sz="1800"/>
              <a:t>Probability</a:t>
            </a:r>
            <a:endParaRPr sz="1800"/>
          </a:p>
          <a:p>
            <a:pPr indent="-342900" lvl="0" marL="457200" rtl="0" algn="l">
              <a:spcBef>
                <a:spcPts val="0"/>
              </a:spcBef>
              <a:spcAft>
                <a:spcPts val="0"/>
              </a:spcAft>
              <a:buSzPts val="1800"/>
              <a:buChar char="●"/>
            </a:pPr>
            <a:r>
              <a:rPr lang="en" sz="1800"/>
              <a:t>Options</a:t>
            </a:r>
            <a:endParaRPr sz="1800"/>
          </a:p>
          <a:p>
            <a:pPr indent="-342900" lvl="0" marL="457200" rtl="0" algn="l">
              <a:spcBef>
                <a:spcPts val="0"/>
              </a:spcBef>
              <a:spcAft>
                <a:spcPts val="0"/>
              </a:spcAft>
              <a:buSzPts val="1800"/>
              <a:buChar char="●"/>
            </a:pPr>
            <a:r>
              <a:rPr lang="en" sz="1800"/>
              <a:t>Projects</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823850" y="2053000"/>
            <a:ext cx="73302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No Hack Night Next Week, October 31st</a:t>
            </a:r>
            <a:endParaRPr/>
          </a:p>
          <a:p>
            <a:pPr indent="0" lvl="0" marL="0" rtl="0" algn="l">
              <a:spcBef>
                <a:spcPts val="0"/>
              </a:spcBef>
              <a:spcAft>
                <a:spcPts val="0"/>
              </a:spcAft>
              <a:buNone/>
            </a:pPr>
            <a:r>
              <a:t/>
            </a:r>
            <a:endParaRPr/>
          </a:p>
          <a:p>
            <a:pPr indent="-355600" lvl="0" marL="457200" rtl="0" algn="l">
              <a:spcBef>
                <a:spcPts val="0"/>
              </a:spcBef>
              <a:spcAft>
                <a:spcPts val="0"/>
              </a:spcAft>
              <a:buSzPts val="2000"/>
              <a:buChar char="●"/>
            </a:pPr>
            <a:r>
              <a:rPr lang="en" sz="2000"/>
              <a:t>TBD</a:t>
            </a:r>
            <a:r>
              <a:rPr lang="en" sz="2000"/>
              <a:t> Social event in place of Hack Night!</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Probability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Options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an Option?</a:t>
            </a:r>
            <a:endParaRPr/>
          </a:p>
        </p:txBody>
      </p:sp>
      <p:sp>
        <p:nvSpPr>
          <p:cNvPr id="162" name="Google Shape;162;p1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option is the right to buy or sell an asset at a later date</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Started in the agriculture industry, was a way to hedge risks</a:t>
            </a:r>
            <a:endParaRPr/>
          </a:p>
          <a:p>
            <a:pPr indent="0" lvl="0" marL="0" rtl="0" algn="l">
              <a:spcBef>
                <a:spcPts val="1600"/>
              </a:spcBef>
              <a:spcAft>
                <a:spcPts val="0"/>
              </a:spcAft>
              <a:buNone/>
            </a:pPr>
            <a:r>
              <a:rPr lang="en"/>
              <a:t>2 Main types:</a:t>
            </a:r>
            <a:endParaRPr/>
          </a:p>
          <a:p>
            <a:pPr indent="0" lvl="0" marL="0" rtl="0" algn="l">
              <a:spcBef>
                <a:spcPts val="1600"/>
              </a:spcBef>
              <a:spcAft>
                <a:spcPts val="0"/>
              </a:spcAft>
              <a:buNone/>
            </a:pPr>
            <a:r>
              <a:rPr lang="en"/>
              <a:t>Calls:</a:t>
            </a:r>
            <a:endParaRPr/>
          </a:p>
          <a:p>
            <a:pPr indent="0" lvl="0" marL="0" rtl="0" algn="l">
              <a:spcBef>
                <a:spcPts val="1600"/>
              </a:spcBef>
              <a:spcAft>
                <a:spcPts val="0"/>
              </a:spcAft>
              <a:buNone/>
            </a:pPr>
            <a:r>
              <a:rPr lang="en"/>
              <a:t>Right to buy an asset at a later date</a:t>
            </a:r>
            <a:endParaRPr/>
          </a:p>
          <a:p>
            <a:pPr indent="0" lvl="0" marL="0" rtl="0" algn="l">
              <a:spcBef>
                <a:spcPts val="1600"/>
              </a:spcBef>
              <a:spcAft>
                <a:spcPts val="0"/>
              </a:spcAft>
              <a:buNone/>
            </a:pPr>
            <a:r>
              <a:rPr lang="en"/>
              <a:t>Puts:</a:t>
            </a:r>
            <a:endParaRPr/>
          </a:p>
          <a:p>
            <a:pPr indent="0" lvl="0" marL="0" rtl="0" algn="l">
              <a:spcBef>
                <a:spcPts val="1600"/>
              </a:spcBef>
              <a:spcAft>
                <a:spcPts val="1600"/>
              </a:spcAft>
              <a:buNone/>
            </a:pPr>
            <a:r>
              <a:rPr lang="en"/>
              <a:t>Right to sell an asset at a later date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Calls</a:t>
            </a:r>
            <a:endParaRPr/>
          </a:p>
        </p:txBody>
      </p:sp>
      <p:sp>
        <p:nvSpPr>
          <p:cNvPr id="168" name="Google Shape;168;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Right to buy an asset at a later date</a:t>
            </a:r>
            <a:endParaRPr sz="1600"/>
          </a:p>
          <a:p>
            <a:pPr indent="-330200" lvl="0" marL="457200" rtl="0" algn="l">
              <a:spcBef>
                <a:spcPts val="1600"/>
              </a:spcBef>
              <a:spcAft>
                <a:spcPts val="0"/>
              </a:spcAft>
              <a:buSzPts val="1600"/>
              <a:buChar char="●"/>
            </a:pPr>
            <a:r>
              <a:rPr lang="en" sz="1600"/>
              <a:t>Pay a premium to lock in a price at a future date</a:t>
            </a:r>
            <a:endParaRPr sz="1600"/>
          </a:p>
          <a:p>
            <a:pPr indent="0" lvl="0" marL="0" rtl="0" algn="l">
              <a:spcBef>
                <a:spcPts val="1600"/>
              </a:spcBef>
              <a:spcAft>
                <a:spcPts val="0"/>
              </a:spcAft>
              <a:buNone/>
            </a:pPr>
            <a:r>
              <a:rPr lang="en" sz="1600"/>
              <a:t>Can buy (long) or sell (short)</a:t>
            </a:r>
            <a:endParaRPr sz="1600"/>
          </a:p>
          <a:p>
            <a:pPr indent="0" lvl="0" marL="0" rtl="0" algn="l">
              <a:spcBef>
                <a:spcPts val="1600"/>
              </a:spcBef>
              <a:spcAft>
                <a:spcPts val="1600"/>
              </a:spcAft>
              <a:buNone/>
            </a:pPr>
            <a:r>
              <a:rPr lang="en" sz="1600"/>
              <a:t>The buyer of the option has the option to buy the asset. The seller cannot choose whether to sell, they must sell if and only if the buyer decides to buy</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75" name="Google Shape;175;p20"/>
          <p:cNvPicPr preferRelativeResize="0"/>
          <p:nvPr/>
        </p:nvPicPr>
        <p:blipFill>
          <a:blip r:embed="rId3">
            <a:alphaModFix/>
          </a:blip>
          <a:stretch>
            <a:fillRect/>
          </a:stretch>
        </p:blipFill>
        <p:spPr>
          <a:xfrm>
            <a:off x="1175627" y="0"/>
            <a:ext cx="6386771" cy="5143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1"/>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82" name="Google Shape;182;p21"/>
          <p:cNvPicPr preferRelativeResize="0"/>
          <p:nvPr/>
        </p:nvPicPr>
        <p:blipFill>
          <a:blip r:embed="rId3">
            <a:alphaModFix/>
          </a:blip>
          <a:stretch>
            <a:fillRect/>
          </a:stretch>
        </p:blipFill>
        <p:spPr>
          <a:xfrm>
            <a:off x="1581593" y="0"/>
            <a:ext cx="5980815" cy="51435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Puts</a:t>
            </a:r>
            <a:endParaRPr/>
          </a:p>
        </p:txBody>
      </p:sp>
      <p:sp>
        <p:nvSpPr>
          <p:cNvPr id="188" name="Google Shape;188;p22"/>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Right to sell an asset at a later date</a:t>
            </a:r>
            <a:endParaRPr sz="1600"/>
          </a:p>
          <a:p>
            <a:pPr indent="-330200" lvl="0" marL="457200" rtl="0" algn="l">
              <a:spcBef>
                <a:spcPts val="1600"/>
              </a:spcBef>
              <a:spcAft>
                <a:spcPts val="0"/>
              </a:spcAft>
              <a:buSzPts val="1600"/>
              <a:buChar char="●"/>
            </a:pPr>
            <a:r>
              <a:rPr lang="en" sz="1600"/>
              <a:t>Pay a premium to lock in a price at a future date</a:t>
            </a:r>
            <a:endParaRPr sz="1600"/>
          </a:p>
          <a:p>
            <a:pPr indent="0" lvl="0" marL="0" rtl="0" algn="l">
              <a:spcBef>
                <a:spcPts val="1600"/>
              </a:spcBef>
              <a:spcAft>
                <a:spcPts val="0"/>
              </a:spcAft>
              <a:buNone/>
            </a:pPr>
            <a:r>
              <a:rPr lang="en" sz="1600"/>
              <a:t>Can buy (long) or sell (short)</a:t>
            </a:r>
            <a:endParaRPr sz="1600"/>
          </a:p>
          <a:p>
            <a:pPr indent="0" lvl="0" marL="0" rtl="0" algn="l">
              <a:spcBef>
                <a:spcPts val="1600"/>
              </a:spcBef>
              <a:spcAft>
                <a:spcPts val="0"/>
              </a:spcAft>
              <a:buNone/>
            </a:pPr>
            <a:r>
              <a:rPr lang="en" sz="1600"/>
              <a:t>The buyer of the option has the option to sell the asset. The buyer of the asset cannot choose whether to buy, they must buy if and only if the seller decides to sell</a:t>
            </a:r>
            <a:endParaRPr sz="1600"/>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3"/>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95" name="Google Shape;195;p23"/>
          <p:cNvPicPr preferRelativeResize="0"/>
          <p:nvPr/>
        </p:nvPicPr>
        <p:blipFill rotWithShape="1">
          <a:blip r:embed="rId3">
            <a:alphaModFix/>
          </a:blip>
          <a:srcRect b="0" l="0" r="11925" t="0"/>
          <a:stretch/>
        </p:blipFill>
        <p:spPr>
          <a:xfrm>
            <a:off x="1581599" y="0"/>
            <a:ext cx="7152626"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02" name="Google Shape;202;p24"/>
          <p:cNvPicPr preferRelativeResize="0"/>
          <p:nvPr/>
        </p:nvPicPr>
        <p:blipFill>
          <a:blip r:embed="rId3">
            <a:alphaModFix/>
          </a:blip>
          <a:stretch>
            <a:fillRect/>
          </a:stretch>
        </p:blipFill>
        <p:spPr>
          <a:xfrm>
            <a:off x="1581602" y="0"/>
            <a:ext cx="6386798" cy="5143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5"/>
          <p:cNvSpPr txBox="1"/>
          <p:nvPr>
            <p:ph idx="1" type="body"/>
          </p:nvPr>
        </p:nvSpPr>
        <p:spPr>
          <a:xfrm>
            <a:off x="1948350" y="4428975"/>
            <a:ext cx="4588200" cy="431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Simtrade, Luis Ramirez</a:t>
            </a:r>
            <a:endParaRPr/>
          </a:p>
        </p:txBody>
      </p:sp>
      <p:pic>
        <p:nvPicPr>
          <p:cNvPr id="209" name="Google Shape;209;p25"/>
          <p:cNvPicPr preferRelativeResize="0"/>
          <p:nvPr/>
        </p:nvPicPr>
        <p:blipFill>
          <a:blip r:embed="rId3">
            <a:alphaModFix/>
          </a:blip>
          <a:stretch>
            <a:fillRect/>
          </a:stretch>
        </p:blipFill>
        <p:spPr>
          <a:xfrm>
            <a:off x="1870177" y="393750"/>
            <a:ext cx="5403650" cy="40352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Risk of Options</a:t>
            </a:r>
            <a:endParaRPr/>
          </a:p>
        </p:txBody>
      </p:sp>
      <p:sp>
        <p:nvSpPr>
          <p:cNvPr id="215" name="Google Shape;215;p26"/>
          <p:cNvSpPr txBox="1"/>
          <p:nvPr>
            <p:ph idx="1" type="body"/>
          </p:nvPr>
        </p:nvSpPr>
        <p:spPr>
          <a:xfrm>
            <a:off x="374800" y="1567550"/>
            <a:ext cx="36978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Options</a:t>
            </a:r>
            <a:r>
              <a:rPr lang="en"/>
              <a:t> are very risky</a:t>
            </a:r>
            <a:endParaRPr/>
          </a:p>
          <a:p>
            <a:pPr indent="0" lvl="0" marL="0" rtl="0" algn="l">
              <a:spcBef>
                <a:spcPts val="1600"/>
              </a:spcBef>
              <a:spcAft>
                <a:spcPts val="0"/>
              </a:spcAft>
              <a:buNone/>
            </a:pPr>
            <a:r>
              <a:rPr lang="en"/>
              <a:t>Shorting a Call has unlimited downside risk</a:t>
            </a:r>
            <a:endParaRPr/>
          </a:p>
          <a:p>
            <a:pPr indent="0" lvl="0" marL="0" rtl="0" algn="l">
              <a:spcBef>
                <a:spcPts val="1600"/>
              </a:spcBef>
              <a:spcAft>
                <a:spcPts val="0"/>
              </a:spcAft>
              <a:buNone/>
            </a:pPr>
            <a:r>
              <a:rPr lang="en"/>
              <a:t>Shorting a Put can cost the entire price of the stock minus the price of the option</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Long Calls have unlimited </a:t>
            </a:r>
            <a:r>
              <a:rPr lang="en"/>
              <a:t>upside risk</a:t>
            </a:r>
            <a:endParaRPr/>
          </a:p>
          <a:p>
            <a:pPr indent="0" lvl="0" marL="0" rtl="0" algn="l">
              <a:spcBef>
                <a:spcPts val="1600"/>
              </a:spcBef>
              <a:spcAft>
                <a:spcPts val="0"/>
              </a:spcAft>
              <a:buNone/>
            </a:pPr>
            <a:r>
              <a:rPr lang="en"/>
              <a:t>Long Puts can lead to gains of the entire price of the stock minus the price of the option</a:t>
            </a:r>
            <a:endParaRPr/>
          </a:p>
          <a:p>
            <a:pPr indent="0" lvl="0" marL="0" rtl="0" algn="l">
              <a:spcBef>
                <a:spcPts val="1600"/>
              </a:spcBef>
              <a:spcAft>
                <a:spcPts val="1600"/>
              </a:spcAft>
              <a:buNone/>
            </a:pPr>
            <a:r>
              <a:rPr lang="en"/>
              <a:t>Note: you are in control when buying options. You can only lose the premium paid if done right.</a:t>
            </a:r>
            <a:endParaRPr/>
          </a:p>
        </p:txBody>
      </p:sp>
      <p:pic>
        <p:nvPicPr>
          <p:cNvPr id="216" name="Google Shape;216;p26"/>
          <p:cNvPicPr preferRelativeResize="0"/>
          <p:nvPr/>
        </p:nvPicPr>
        <p:blipFill>
          <a:blip r:embed="rId3">
            <a:alphaModFix/>
          </a:blip>
          <a:stretch>
            <a:fillRect/>
          </a:stretch>
        </p:blipFill>
        <p:spPr>
          <a:xfrm>
            <a:off x="4178900" y="1567538"/>
            <a:ext cx="4857750" cy="3076575"/>
          </a:xfrm>
          <a:prstGeom prst="rect">
            <a:avLst/>
          </a:prstGeom>
          <a:noFill/>
          <a:ln>
            <a:noFill/>
          </a:ln>
        </p:spPr>
      </p:pic>
      <p:sp>
        <p:nvSpPr>
          <p:cNvPr id="217" name="Google Shape;217;p26"/>
          <p:cNvSpPr txBox="1"/>
          <p:nvPr/>
        </p:nvSpPr>
        <p:spPr>
          <a:xfrm>
            <a:off x="8409700" y="4644125"/>
            <a:ext cx="7770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quantra</a:t>
            </a:r>
            <a:endParaRPr sz="1300">
              <a:solidFill>
                <a:schemeClr val="lt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options info</a:t>
            </a:r>
            <a:endParaRPr/>
          </a:p>
        </p:txBody>
      </p:sp>
      <p:sp>
        <p:nvSpPr>
          <p:cNvPr id="223" name="Google Shape;223;p2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American vs European Options:</a:t>
            </a:r>
            <a:endParaRPr sz="1600"/>
          </a:p>
          <a:p>
            <a:pPr indent="0" lvl="0" marL="0" rtl="0" algn="l">
              <a:spcBef>
                <a:spcPts val="1600"/>
              </a:spcBef>
              <a:spcAft>
                <a:spcPts val="0"/>
              </a:spcAft>
              <a:buNone/>
            </a:pPr>
            <a:r>
              <a:rPr lang="en"/>
              <a:t>American options can be exercised at any point up until the expiration date</a:t>
            </a:r>
            <a:endParaRPr/>
          </a:p>
          <a:p>
            <a:pPr indent="0" lvl="0" marL="0" rtl="0" algn="l">
              <a:spcBef>
                <a:spcPts val="1600"/>
              </a:spcBef>
              <a:spcAft>
                <a:spcPts val="1600"/>
              </a:spcAft>
              <a:buNone/>
            </a:pPr>
            <a:r>
              <a:rPr lang="en"/>
              <a:t>European options can only be exercised on the expiration date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Cool things you can do</a:t>
            </a:r>
            <a:endParaRPr/>
          </a:p>
        </p:txBody>
      </p:sp>
      <p:sp>
        <p:nvSpPr>
          <p:cNvPr id="229" name="Google Shape;229;p2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Combine these types!</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Which 2 types are combined here?</a:t>
            </a:r>
            <a:endParaRPr/>
          </a:p>
        </p:txBody>
      </p:sp>
      <p:pic>
        <p:nvPicPr>
          <p:cNvPr id="230" name="Google Shape;230;p28"/>
          <p:cNvPicPr preferRelativeResize="0"/>
          <p:nvPr/>
        </p:nvPicPr>
        <p:blipFill>
          <a:blip r:embed="rId3">
            <a:alphaModFix/>
          </a:blip>
          <a:stretch>
            <a:fillRect/>
          </a:stretch>
        </p:blipFill>
        <p:spPr>
          <a:xfrm>
            <a:off x="4918400" y="1161750"/>
            <a:ext cx="3560100" cy="3560100"/>
          </a:xfrm>
          <a:prstGeom prst="roundRect">
            <a:avLst>
              <a:gd fmla="val 10739" name="adj"/>
            </a:avLst>
          </a:prstGeom>
          <a:noFill/>
          <a:ln cap="flat" cmpd="sng" w="19050">
            <a:solidFill>
              <a:schemeClr val="lt2"/>
            </a:solidFill>
            <a:prstDash val="solid"/>
            <a:round/>
            <a:headEnd len="sm" w="sm" type="none"/>
            <a:tailEnd len="sm" w="sm" type="none"/>
          </a:ln>
        </p:spPr>
      </p:pic>
      <p:sp>
        <p:nvSpPr>
          <p:cNvPr id="231" name="Google Shape;231;p28"/>
          <p:cNvSpPr txBox="1"/>
          <p:nvPr/>
        </p:nvSpPr>
        <p:spPr>
          <a:xfrm>
            <a:off x="1297500" y="3060750"/>
            <a:ext cx="2862000" cy="7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Buy a call at price a</a:t>
            </a:r>
            <a:endParaRPr sz="1300">
              <a:solidFill>
                <a:schemeClr val="lt1"/>
              </a:solidFill>
              <a:latin typeface="Lato"/>
              <a:ea typeface="Lato"/>
              <a:cs typeface="Lato"/>
              <a:sym typeface="Lato"/>
            </a:endParaRPr>
          </a:p>
          <a:p>
            <a:pPr indent="0" lvl="0" marL="0" rtl="0" algn="l">
              <a:spcBef>
                <a:spcPts val="0"/>
              </a:spcBef>
              <a:spcAft>
                <a:spcPts val="0"/>
              </a:spcAft>
              <a:buNone/>
            </a:pPr>
            <a:r>
              <a:rPr lang="en" sz="1300">
                <a:solidFill>
                  <a:schemeClr val="lt1"/>
                </a:solidFill>
                <a:latin typeface="Lato"/>
                <a:ea typeface="Lato"/>
                <a:cs typeface="Lato"/>
                <a:sym typeface="Lato"/>
              </a:rPr>
              <a:t>Sell a call at price b</a:t>
            </a:r>
            <a:endParaRPr sz="1300">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38" name="Google Shape;238;p29"/>
          <p:cNvPicPr preferRelativeResize="0"/>
          <p:nvPr/>
        </p:nvPicPr>
        <p:blipFill>
          <a:blip r:embed="rId3">
            <a:alphaModFix/>
          </a:blip>
          <a:stretch>
            <a:fillRect/>
          </a:stretch>
        </p:blipFill>
        <p:spPr>
          <a:xfrm>
            <a:off x="1760220" y="0"/>
            <a:ext cx="5623560"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45" name="Google Shape;245;p30"/>
          <p:cNvPicPr preferRelativeResize="0"/>
          <p:nvPr/>
        </p:nvPicPr>
        <p:blipFill>
          <a:blip r:embed="rId3">
            <a:alphaModFix/>
          </a:blip>
          <a:stretch>
            <a:fillRect/>
          </a:stretch>
        </p:blipFill>
        <p:spPr>
          <a:xfrm>
            <a:off x="0" y="341416"/>
            <a:ext cx="9143999" cy="446066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1"/>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Stock Market Simulator</a:t>
            </a:r>
            <a:endParaRPr/>
          </a:p>
        </p:txBody>
      </p:sp>
      <p:sp>
        <p:nvSpPr>
          <p:cNvPr id="256" name="Google Shape;256;p32"/>
          <p:cNvSpPr txBox="1"/>
          <p:nvPr>
            <p:ph idx="1" type="body"/>
          </p:nvPr>
        </p:nvSpPr>
        <p:spPr>
          <a:xfrm>
            <a:off x="1297500" y="12627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Take in orders in the format &lt;ticker&gt; &lt;buy_or_sell&gt; &lt;quantity&gt;  &lt;order_type&gt;  &lt;price&gt; &lt;time&gt;</a:t>
            </a:r>
            <a:endParaRPr sz="1600"/>
          </a:p>
          <a:p>
            <a:pPr indent="0" lvl="0" marL="0" rtl="0" algn="l">
              <a:spcBef>
                <a:spcPts val="1600"/>
              </a:spcBef>
              <a:spcAft>
                <a:spcPts val="0"/>
              </a:spcAft>
              <a:buNone/>
            </a:pPr>
            <a:r>
              <a:rPr lang="en" sz="1600"/>
              <a:t>Output the transactions &lt;ticker&gt; &lt;quantity&gt; &lt;price&gt; &lt;time&gt;</a:t>
            </a:r>
            <a:endParaRPr sz="1600"/>
          </a:p>
          <a:p>
            <a:pPr indent="0" lvl="0" marL="0" rtl="0" algn="l">
              <a:spcBef>
                <a:spcPts val="1600"/>
              </a:spcBef>
              <a:spcAft>
                <a:spcPts val="0"/>
              </a:spcAft>
              <a:buNone/>
            </a:pPr>
            <a:r>
              <a:rPr b="1" lang="en" sz="1600"/>
              <a:t>Language: </a:t>
            </a:r>
            <a:r>
              <a:rPr lang="en" sz="1600"/>
              <a:t>Any</a:t>
            </a:r>
            <a:endParaRPr sz="1600"/>
          </a:p>
          <a:p>
            <a:pPr indent="0" lvl="0" marL="0" rtl="0" algn="l">
              <a:spcBef>
                <a:spcPts val="1600"/>
              </a:spcBef>
              <a:spcAft>
                <a:spcPts val="0"/>
              </a:spcAft>
              <a:buNone/>
            </a:pPr>
            <a:r>
              <a:rPr b="1" lang="en" sz="1600"/>
              <a:t>Advanced Options:  </a:t>
            </a:r>
            <a:endParaRPr b="1" sz="1600"/>
          </a:p>
          <a:p>
            <a:pPr indent="0" lvl="0" marL="0" rtl="0" algn="l">
              <a:spcBef>
                <a:spcPts val="1600"/>
              </a:spcBef>
              <a:spcAft>
                <a:spcPts val="0"/>
              </a:spcAft>
              <a:buNone/>
            </a:pPr>
            <a:r>
              <a:rPr lang="en" sz="1600"/>
              <a:t>Print out order book n prices deep</a:t>
            </a:r>
            <a:endParaRPr sz="1600"/>
          </a:p>
          <a:p>
            <a:pPr indent="0" lvl="0" marL="0" rtl="0" algn="l">
              <a:spcBef>
                <a:spcPts val="0"/>
              </a:spcBef>
              <a:spcAft>
                <a:spcPts val="0"/>
              </a:spcAft>
              <a:buNone/>
            </a:pPr>
            <a:r>
              <a:rPr lang="en" sz="1600"/>
              <a:t>	Dark Pools &amp; Orders!</a:t>
            </a:r>
            <a:endParaRPr sz="1600"/>
          </a:p>
          <a:p>
            <a:pPr indent="0" lvl="0" marL="0" rtl="0" algn="l">
              <a:spcBef>
                <a:spcPts val="1600"/>
              </a:spcBef>
              <a:spcAft>
                <a:spcPts val="0"/>
              </a:spcAft>
              <a:buNone/>
            </a:pPr>
            <a:r>
              <a:rPr lang="en" sz="1600"/>
              <a:t>Able to take in complex order types</a:t>
            </a:r>
            <a:endParaRPr sz="1600"/>
          </a:p>
          <a:p>
            <a:pPr indent="0" lvl="0" marL="0" rtl="0" algn="l">
              <a:spcBef>
                <a:spcPts val="1600"/>
              </a:spcBef>
              <a:spcAft>
                <a:spcPts val="0"/>
              </a:spcAft>
              <a:buNone/>
            </a:pPr>
            <a:r>
              <a:rPr lang="en" sz="1600"/>
              <a:t>Anything else you can think of!</a:t>
            </a:r>
            <a:endParaRPr sz="1600"/>
          </a:p>
          <a:p>
            <a:pPr indent="0" lvl="0" marL="0" rtl="0" algn="l">
              <a:spcBef>
                <a:spcPts val="1600"/>
              </a:spcBef>
              <a:spcAft>
                <a:spcPts val="1600"/>
              </a:spcAft>
              <a:buNone/>
            </a:pPr>
            <a:r>
              <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Figgie/Poker Game Theory</a:t>
            </a:r>
            <a:endParaRPr/>
          </a:p>
        </p:txBody>
      </p:sp>
      <p:sp>
        <p:nvSpPr>
          <p:cNvPr id="262" name="Google Shape;262;p33"/>
          <p:cNvSpPr txBox="1"/>
          <p:nvPr>
            <p:ph idx="1" type="body"/>
          </p:nvPr>
        </p:nvSpPr>
        <p:spPr>
          <a:xfrm>
            <a:off x="1297500" y="12627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Poker Theory-esque strategy</a:t>
            </a:r>
            <a:endParaRPr sz="1600"/>
          </a:p>
          <a:p>
            <a:pPr indent="0" lvl="0" marL="0" rtl="0" algn="l">
              <a:spcBef>
                <a:spcPts val="1600"/>
              </a:spcBef>
              <a:spcAft>
                <a:spcPts val="0"/>
              </a:spcAft>
              <a:buNone/>
            </a:pPr>
            <a:r>
              <a:rPr lang="en" sz="1600"/>
              <a:t>Calculate best strategies based on your information and your </a:t>
            </a:r>
            <a:r>
              <a:rPr lang="en" sz="1600"/>
              <a:t>opponent’s perceived information</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rPr b="1" lang="en" sz="1600"/>
              <a:t>Advanced Options:</a:t>
            </a:r>
            <a:endParaRPr b="1" sz="1600"/>
          </a:p>
          <a:p>
            <a:pPr indent="0" lvl="0" marL="0" rtl="0" algn="l">
              <a:spcBef>
                <a:spcPts val="1600"/>
              </a:spcBef>
              <a:spcAft>
                <a:spcPts val="0"/>
              </a:spcAft>
              <a:buNone/>
            </a:pPr>
            <a:r>
              <a:rPr lang="en" sz="1600"/>
              <a:t>Greater than 2 players</a:t>
            </a:r>
            <a:endParaRPr sz="1600"/>
          </a:p>
          <a:p>
            <a:pPr indent="0" lvl="0" marL="0" rtl="0" algn="l">
              <a:spcBef>
                <a:spcPts val="1600"/>
              </a:spcBef>
              <a:spcAft>
                <a:spcPts val="1600"/>
              </a:spcAft>
              <a:buNone/>
            </a:pPr>
            <a:r>
              <a:rPr lang="en" sz="1600"/>
              <a:t>Anything else!</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 Trading Strategy</a:t>
            </a:r>
            <a:endParaRPr/>
          </a:p>
        </p:txBody>
      </p:sp>
      <p:sp>
        <p:nvSpPr>
          <p:cNvPr id="268" name="Google Shape;268;p34"/>
          <p:cNvSpPr txBox="1"/>
          <p:nvPr>
            <p:ph idx="1" type="body"/>
          </p:nvPr>
        </p:nvSpPr>
        <p:spPr>
          <a:xfrm>
            <a:off x="1297500" y="12627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Possible </a:t>
            </a:r>
            <a:r>
              <a:rPr lang="en" sz="1600"/>
              <a:t>continuation from last semester’s project.</a:t>
            </a:r>
            <a:endParaRPr sz="1600"/>
          </a:p>
          <a:p>
            <a:pPr indent="0" lvl="0" marL="0" rtl="0" algn="l">
              <a:spcBef>
                <a:spcPts val="1600"/>
              </a:spcBef>
              <a:spcAft>
                <a:spcPts val="0"/>
              </a:spcAft>
              <a:buNone/>
            </a:pPr>
            <a:r>
              <a:rPr b="1" lang="en" sz="1600"/>
              <a:t>Possible Trading Strategies to Implement:</a:t>
            </a:r>
            <a:endParaRPr b="1" sz="1600"/>
          </a:p>
          <a:p>
            <a:pPr indent="0" lvl="0" marL="0" rtl="0" algn="l">
              <a:spcBef>
                <a:spcPts val="1600"/>
              </a:spcBef>
              <a:spcAft>
                <a:spcPts val="0"/>
              </a:spcAft>
              <a:buNone/>
            </a:pPr>
            <a:r>
              <a:rPr lang="en" sz="1600"/>
              <a:t>Pairs Trading </a:t>
            </a:r>
            <a:endParaRPr sz="1600"/>
          </a:p>
          <a:p>
            <a:pPr indent="0" lvl="0" marL="0" rtl="0" algn="l">
              <a:spcBef>
                <a:spcPts val="1600"/>
              </a:spcBef>
              <a:spcAft>
                <a:spcPts val="0"/>
              </a:spcAft>
              <a:buNone/>
            </a:pPr>
            <a:r>
              <a:rPr lang="en" sz="1600"/>
              <a:t>Relative Strength Index (RSI)</a:t>
            </a:r>
            <a:endParaRPr sz="1600"/>
          </a:p>
          <a:p>
            <a:pPr indent="0" lvl="0" marL="0" rtl="0" algn="l">
              <a:spcBef>
                <a:spcPts val="1600"/>
              </a:spcBef>
              <a:spcAft>
                <a:spcPts val="0"/>
              </a:spcAft>
              <a:buNone/>
            </a:pPr>
            <a:r>
              <a:rPr lang="en" sz="1600"/>
              <a:t>Anything else!</a:t>
            </a:r>
            <a:endParaRPr sz="1600"/>
          </a:p>
          <a:p>
            <a:pPr indent="0" lvl="0" marL="0" rtl="0" algn="l">
              <a:spcBef>
                <a:spcPts val="1600"/>
              </a:spcBef>
              <a:spcAft>
                <a:spcPts val="0"/>
              </a:spcAft>
              <a:buNone/>
            </a:pPr>
            <a:r>
              <a:rPr b="1" lang="en" sz="1600"/>
              <a:t>Advanced Options:</a:t>
            </a:r>
            <a:endParaRPr b="1" sz="1600"/>
          </a:p>
          <a:p>
            <a:pPr indent="0" lvl="0" marL="0" rtl="0" algn="l">
              <a:spcBef>
                <a:spcPts val="1600"/>
              </a:spcBef>
              <a:spcAft>
                <a:spcPts val="0"/>
              </a:spcAft>
              <a:buNone/>
            </a:pPr>
            <a:r>
              <a:rPr lang="en" sz="1600"/>
              <a:t>Use Sharpe ratio to calculate optimal bundle of goods</a:t>
            </a:r>
            <a:endParaRPr sz="1600"/>
          </a:p>
          <a:p>
            <a:pPr indent="0" lvl="0" marL="0" rtl="0" algn="l">
              <a:spcBef>
                <a:spcPts val="0"/>
              </a:spcBef>
              <a:spcAft>
                <a:spcPts val="0"/>
              </a:spcAft>
              <a:buNone/>
            </a:pPr>
            <a:r>
              <a:rPr lang="en" sz="1600"/>
              <a:t>(Will talk about sharpe ratio more next week)</a:t>
            </a:r>
            <a:endParaRPr sz="1600"/>
          </a:p>
          <a:p>
            <a:pPr indent="0" lvl="0" marL="0" rtl="0" algn="l">
              <a:spcBef>
                <a:spcPts val="1600"/>
              </a:spcBef>
              <a:spcAft>
                <a:spcPts val="1600"/>
              </a:spcAft>
              <a:buNone/>
            </a:pPr>
            <a:r>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F15D24"/>
      </a:dk1>
      <a:lt1>
        <a:srgbClr val="FFFFFF"/>
      </a:lt1>
      <a:dk2>
        <a:srgbClr val="D9D9D9"/>
      </a:dk2>
      <a:lt2>
        <a:srgbClr val="3D3D3D"/>
      </a:lt2>
      <a:accent1>
        <a:srgbClr val="FFFFFF"/>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