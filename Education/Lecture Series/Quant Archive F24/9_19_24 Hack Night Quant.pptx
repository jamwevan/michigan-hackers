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Montserrat"/>
      <p:regular r:id="rId21"/>
      <p:bold r:id="rId22"/>
      <p:italic r:id="rId23"/>
      <p:boldItalic r:id="rId24"/>
    </p:embeddedFont>
    <p:embeddedFont>
      <p:font typeface="Lat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C93544D-3365-46E2-8489-E3D8E1762E55}">
  <a:tblStyle styleId="{9C93544D-3365-46E2-8489-E3D8E1762E5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Montserrat-bold.fntdata"/><Relationship Id="rId21" Type="http://schemas.openxmlformats.org/officeDocument/2006/relationships/font" Target="fonts/Montserrat-regular.fntdata"/><Relationship Id="rId24" Type="http://schemas.openxmlformats.org/officeDocument/2006/relationships/font" Target="fonts/Montserrat-boldItalic.fntdata"/><Relationship Id="rId23" Type="http://schemas.openxmlformats.org/officeDocument/2006/relationships/font" Target="fonts/Montserrat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bold.fntdata"/><Relationship Id="rId25" Type="http://schemas.openxmlformats.org/officeDocument/2006/relationships/font" Target="fonts/Lato-regular.fntdata"/><Relationship Id="rId28" Type="http://schemas.openxmlformats.org/officeDocument/2006/relationships/font" Target="fonts/Lato-boldItalic.fntdata"/><Relationship Id="rId27" Type="http://schemas.openxmlformats.org/officeDocument/2006/relationships/font" Target="fonts/La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fbdea321e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fbdea321e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ffb73e899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ffb73e899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ffb73e899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ffb73e899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02571b8450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02571b8450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027da15efb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027da15efb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027da15efb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027da15efb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027da15efb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027da15efb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027da15efb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027da15efb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027da15efb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027da15efb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ffb73e8997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ffb73e8997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ffb73e8997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ffb73e8997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ffb73e8997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ffb73e8997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ffb73e8997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2ffb73e8997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ffb73e8997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2ffb73e8997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tinyurl.com/3zy4jrvn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2024-2025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Hack Night 2	9/19/24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u="sng">
                <a:hlinkClick r:id="rId3"/>
              </a:rPr>
              <a:t>https://tinyurl.com/3zy4jrvn</a:t>
            </a:r>
            <a:r>
              <a:rPr lang="en" sz="1800"/>
              <a:t> ← fill this out if you haven’t!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Introductions &amp; Ice breakers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Brain teaser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Probability / Dynamic Programming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Sharpe Ratio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Dark Pools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Projects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Probability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Dynamic Programming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Beta</a:t>
            </a:r>
            <a:endParaRPr/>
          </a:p>
        </p:txBody>
      </p:sp>
      <p:sp>
        <p:nvSpPr>
          <p:cNvPr id="157" name="Google Shape;157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58" name="Google Shape;15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500" y="1567550"/>
            <a:ext cx="5462601" cy="327322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/>
        </p:nvSpPr>
        <p:spPr>
          <a:xfrm>
            <a:off x="1193375" y="4738450"/>
            <a:ext cx="1156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Investopedia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Sharpe Ratio</a:t>
            </a:r>
            <a:endParaRPr/>
          </a:p>
        </p:txBody>
      </p:sp>
      <p:pic>
        <p:nvPicPr>
          <p:cNvPr id="165" name="Google Shape;16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725" y="2421825"/>
            <a:ext cx="6172575" cy="231662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/>
        </p:nvSpPr>
        <p:spPr>
          <a:xfrm>
            <a:off x="239725" y="4738450"/>
            <a:ext cx="1156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Investopedia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Capital Asset Pricing Model</a:t>
            </a:r>
            <a:endParaRPr/>
          </a:p>
        </p:txBody>
      </p:sp>
      <p:sp>
        <p:nvSpPr>
          <p:cNvPr id="172" name="Google Shape;172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73" name="Google Shape;17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500" y="1567550"/>
            <a:ext cx="4596608" cy="2911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Order Book</a:t>
            </a:r>
            <a:endParaRPr/>
          </a:p>
        </p:txBody>
      </p:sp>
      <p:sp>
        <p:nvSpPr>
          <p:cNvPr id="179" name="Google Shape;179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975" y="1686481"/>
            <a:ext cx="4010025" cy="267334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1" name="Google Shape;181;p20"/>
          <p:cNvGraphicFramePr/>
          <p:nvPr/>
        </p:nvGraphicFramePr>
        <p:xfrm>
          <a:off x="4970325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{9C93544D-3365-46E2-8489-E3D8E1762E55}</a:tableStyleId>
              </a:tblPr>
              <a:tblGrid>
                <a:gridCol w="1073725"/>
                <a:gridCol w="1073725"/>
                <a:gridCol w="10737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Price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Buy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Sell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$102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100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$101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50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$100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$99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100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$98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200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Dark Pools</a:t>
            </a:r>
            <a:endParaRPr/>
          </a:p>
        </p:txBody>
      </p:sp>
      <p:sp>
        <p:nvSpPr>
          <p:cNvPr id="187" name="Google Shape;187;p2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NYSE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CBOE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NASDAQ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Morgan Stanley MS Pool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Goldman Sachs Sigma X</a:t>
            </a:r>
            <a:endParaRPr/>
          </a:p>
        </p:txBody>
      </p:sp>
      <p:pic>
        <p:nvPicPr>
          <p:cNvPr id="188" name="Google Shape;18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9102" y="1307850"/>
            <a:ext cx="4127300" cy="309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2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Stock Market Simulator</a:t>
            </a:r>
            <a:endParaRPr/>
          </a:p>
        </p:txBody>
      </p:sp>
      <p:sp>
        <p:nvSpPr>
          <p:cNvPr id="199" name="Google Shape;199;p23"/>
          <p:cNvSpPr txBox="1"/>
          <p:nvPr>
            <p:ph idx="1" type="body"/>
          </p:nvPr>
        </p:nvSpPr>
        <p:spPr>
          <a:xfrm>
            <a:off x="1297500" y="12627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Take in orders in the format &lt;ticker&gt; &lt;buy_or_sell&gt; &lt;quantity&gt;  &lt;order_type&gt;  &lt;price&gt; &lt;time&gt;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Output the transactions &lt;ticker&gt; &lt;quantity&gt; &lt;price&gt; &lt;time&gt;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600"/>
              <a:t>Language: </a:t>
            </a:r>
            <a:r>
              <a:rPr lang="en" sz="1600"/>
              <a:t>Any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600"/>
              <a:t>Advanced Options:  </a:t>
            </a:r>
            <a:endParaRPr b="1"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Print out order book n prices deep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	Dark Pools &amp; Orders!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Able to take in complex order types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Anything else you can think of!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Figgie/Poker Game Theory</a:t>
            </a:r>
            <a:endParaRPr/>
          </a:p>
        </p:txBody>
      </p:sp>
      <p:sp>
        <p:nvSpPr>
          <p:cNvPr id="205" name="Google Shape;205;p24"/>
          <p:cNvSpPr txBox="1"/>
          <p:nvPr>
            <p:ph idx="1" type="body"/>
          </p:nvPr>
        </p:nvSpPr>
        <p:spPr>
          <a:xfrm>
            <a:off x="1297500" y="12627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Poker Theory-esque strategy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Calculate best strategies based on your information and your </a:t>
            </a:r>
            <a:r>
              <a:rPr lang="en" sz="1600"/>
              <a:t>opponent’s perceived information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600"/>
              <a:t>Advanced Options:</a:t>
            </a:r>
            <a:endParaRPr b="1"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Greater than 2 players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600"/>
              <a:t>Anything else!</a:t>
            </a:r>
            <a:endParaRPr sz="1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 Trading Strategy</a:t>
            </a:r>
            <a:endParaRPr/>
          </a:p>
        </p:txBody>
      </p:sp>
      <p:sp>
        <p:nvSpPr>
          <p:cNvPr id="211" name="Google Shape;211;p25"/>
          <p:cNvSpPr txBox="1"/>
          <p:nvPr>
            <p:ph idx="1" type="body"/>
          </p:nvPr>
        </p:nvSpPr>
        <p:spPr>
          <a:xfrm>
            <a:off x="1297500" y="12627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Possible </a:t>
            </a:r>
            <a:r>
              <a:rPr lang="en" sz="1600"/>
              <a:t>continuation from last semester’s project.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600"/>
              <a:t>Possible Trading Strategies to Implement:</a:t>
            </a:r>
            <a:endParaRPr b="1"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Pairs Trading 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Relative Strength Index (RSI)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Anything else!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600"/>
              <a:t>Advanced Options:</a:t>
            </a:r>
            <a:endParaRPr b="1"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Use Sharpe ratio to calculate optimal bundle of goods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(Will talk about sharpe ratio more next week)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Week</a:t>
            </a:r>
            <a:endParaRPr/>
          </a:p>
        </p:txBody>
      </p:sp>
      <p:sp>
        <p:nvSpPr>
          <p:cNvPr id="217" name="Google Shape;217;p2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Options 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600"/>
              <a:t>and more!</a:t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F15D24"/>
      </a:dk1>
      <a:lt1>
        <a:srgbClr val="FFFFFF"/>
      </a:lt1>
      <a:dk2>
        <a:srgbClr val="D9D9D9"/>
      </a:dk2>
      <a:lt2>
        <a:srgbClr val="3D3D3D"/>
      </a:lt2>
      <a:accent1>
        <a:srgbClr val="FFFFFF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