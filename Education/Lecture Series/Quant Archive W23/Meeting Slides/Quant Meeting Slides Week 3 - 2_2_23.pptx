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verag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5f883ec6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5f883ec6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5f8c9c06fc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5f8c9c06f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5f8c9c06fc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5f8c9c06f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5f883ec6a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5f883ec6a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f8c9c06fc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5f8c9c06f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f8c9c06fc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5f8c9c06fc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4e31332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04e31332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04e313326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04e31332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4e31332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04e31332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f8c9c06fc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f8c9c06f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f8c9c06fc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f8c9c06fc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f8c9c06f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f8c9c06f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Hack Night #3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2/2/2022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Prices Indicate Buyer/Seller 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Order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Market Making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Games! (Probably will be played next week)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Prices for Buyers and Sellers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some form of money (cash for example) and would like to trade this in for another type of good (a share of stock for example)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factors affect whether or not buyer A will buy a specific good?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Price of the good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Valuation of the good according to buyer A’s needs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Valuation(Good) &gt; Price, Buyer A should buy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Valuation(Good) = Price?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Prices for Buyers and Sellers (cont.)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Seller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some type of good (a share of stock for example) and would like to trade this in for some money (cash for example)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factors affect whether or not seller B will sell a specific good?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Price of the good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Valuation of the good according to seller B’s needs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Valuation(Good) &lt;  Price, Seller B should sell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if Valuation(Good) = Price?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</a:t>
            </a:r>
            <a:r>
              <a:rPr lang="en"/>
              <a:t> consider an analogy with buying a new video game . . 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$500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7"/>
          <p:cNvCxnSpPr>
            <a:stCxn id="85" idx="2"/>
            <a:endCxn id="87" idx="0"/>
          </p:cNvCxnSpPr>
          <p:nvPr/>
        </p:nvCxnSpPr>
        <p:spPr>
          <a:xfrm flipH="1">
            <a:off x="954324" y="3353801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7"/>
          <p:cNvCxnSpPr>
            <a:stCxn id="85" idx="2"/>
            <a:endCxn id="88" idx="0"/>
          </p:cNvCxnSpPr>
          <p:nvPr/>
        </p:nvCxnSpPr>
        <p:spPr>
          <a:xfrm flipH="1">
            <a:off x="2418924" y="3353801"/>
            <a:ext cx="14772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>
            <a:stCxn id="85" idx="2"/>
            <a:endCxn id="89" idx="0"/>
          </p:cNvCxnSpPr>
          <p:nvPr/>
        </p:nvCxnSpPr>
        <p:spPr>
          <a:xfrm>
            <a:off x="3896124" y="3353801"/>
            <a:ext cx="29421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85" idx="2"/>
            <a:endCxn id="90" idx="0"/>
          </p:cNvCxnSpPr>
          <p:nvPr/>
        </p:nvCxnSpPr>
        <p:spPr>
          <a:xfrm>
            <a:off x="3896124" y="3353801"/>
            <a:ext cx="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85" idx="2"/>
            <a:endCxn id="91" idx="0"/>
          </p:cNvCxnSpPr>
          <p:nvPr/>
        </p:nvCxnSpPr>
        <p:spPr>
          <a:xfrm>
            <a:off x="3896124" y="3353801"/>
            <a:ext cx="1405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7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Playstation can now increase its prices…</a:t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" name="Google Shape;115;p18"/>
          <p:cNvCxnSpPr>
            <a:stCxn id="108" idx="2"/>
            <a:endCxn id="110" idx="0"/>
          </p:cNvCxnSpPr>
          <p:nvPr/>
        </p:nvCxnSpPr>
        <p:spPr>
          <a:xfrm flipH="1">
            <a:off x="954324" y="3353801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8"/>
          <p:cNvCxnSpPr>
            <a:stCxn id="108" idx="2"/>
            <a:endCxn id="112" idx="0"/>
          </p:cNvCxnSpPr>
          <p:nvPr/>
        </p:nvCxnSpPr>
        <p:spPr>
          <a:xfrm>
            <a:off x="3896124" y="3353801"/>
            <a:ext cx="29421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>
            <a:stCxn id="108" idx="2"/>
            <a:endCxn id="114" idx="0"/>
          </p:cNvCxnSpPr>
          <p:nvPr/>
        </p:nvCxnSpPr>
        <p:spPr>
          <a:xfrm>
            <a:off x="3896124" y="3353801"/>
            <a:ext cx="1405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" name="Google Shape;118;p18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2142099" y="4096713"/>
            <a:ext cx="566100" cy="7246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  <p:sp>
        <p:nvSpPr>
          <p:cNvPr id="124" name="Google Shape;124;p18"/>
          <p:cNvSpPr/>
          <p:nvPr/>
        </p:nvSpPr>
        <p:spPr>
          <a:xfrm>
            <a:off x="3577349" y="4096713"/>
            <a:ext cx="566100" cy="724624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FF0000"/>
                </a:solidFill>
                <a:latin typeface="Arial"/>
              </a:rPr>
              <a:t>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Movements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438" y="1850225"/>
            <a:ext cx="2255373" cy="150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5194525" y="2302325"/>
            <a:ext cx="96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$650</a:t>
            </a:r>
            <a:endParaRPr sz="2300"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1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327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13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025" y="4186325"/>
            <a:ext cx="969600" cy="54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19"/>
          <p:cNvCxnSpPr>
            <a:stCxn id="133" idx="0"/>
            <a:endCxn id="131" idx="2"/>
          </p:cNvCxnSpPr>
          <p:nvPr/>
        </p:nvCxnSpPr>
        <p:spPr>
          <a:xfrm flipH="1" rot="10800000">
            <a:off x="954175" y="3353825"/>
            <a:ext cx="29418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/>
        </p:nvSpPr>
        <p:spPr>
          <a:xfrm>
            <a:off x="65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$600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0" name="Google Shape;140;p19"/>
          <p:cNvSpPr txBox="1"/>
          <p:nvPr/>
        </p:nvSpPr>
        <p:spPr>
          <a:xfrm>
            <a:off x="21359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$550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6130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$525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501877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$700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6555025" y="4805000"/>
            <a:ext cx="566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00"/>
                </a:solidFill>
                <a:latin typeface="Average"/>
                <a:ea typeface="Average"/>
                <a:cs typeface="Average"/>
                <a:sym typeface="Average"/>
              </a:rPr>
              <a:t>$830</a:t>
            </a:r>
            <a:endParaRPr sz="1300">
              <a:solidFill>
                <a:srgbClr val="FFFF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cxnSp>
        <p:nvCxnSpPr>
          <p:cNvPr id="144" name="Google Shape;144;p19"/>
          <p:cNvCxnSpPr>
            <a:stCxn id="134" idx="0"/>
            <a:endCxn id="131" idx="2"/>
          </p:cNvCxnSpPr>
          <p:nvPr/>
        </p:nvCxnSpPr>
        <p:spPr>
          <a:xfrm flipH="1" rot="10800000">
            <a:off x="2418975" y="3353825"/>
            <a:ext cx="14772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9"/>
          <p:cNvCxnSpPr>
            <a:stCxn id="136" idx="0"/>
            <a:endCxn id="131" idx="2"/>
          </p:cNvCxnSpPr>
          <p:nvPr/>
        </p:nvCxnSpPr>
        <p:spPr>
          <a:xfrm rot="10800000">
            <a:off x="3896113" y="3353825"/>
            <a:ext cx="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 Matching System</a:t>
            </a:r>
            <a:endParaRPr/>
          </a:p>
        </p:txBody>
      </p:sp>
      <p:sp>
        <p:nvSpPr>
          <p:cNvPr id="151" name="Google Shape;15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System used by brokerages to match buy and sell orders together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Core of all </a:t>
            </a:r>
            <a:r>
              <a:rPr lang="en"/>
              <a:t>electronic</a:t>
            </a:r>
            <a:r>
              <a:rPr lang="en"/>
              <a:t> exchanges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Lots of quant firms may ask coding questions related to building your own order matching system (Ex: IMC Trading)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Two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Continuous</a:t>
            </a:r>
            <a:r>
              <a:rPr lang="en"/>
              <a:t> 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Orders matched immediately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Auction State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Matching is done at fixed intervals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When the market opens for the day and a number of orders builds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use a priority queue and priority stack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Continued Order Matching System</a:t>
            </a:r>
            <a:endParaRPr/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462"/>
            <a:ext cx="9144001" cy="3064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Order Matching</a:t>
            </a: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5650"/>
            <a:ext cx="9144001" cy="325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 Market</a:t>
            </a:r>
            <a:endParaRPr/>
          </a:p>
        </p:txBody>
      </p:sp>
      <p:sp>
        <p:nvSpPr>
          <p:cNvPr id="169" name="Google Shape;16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“make a market” to reflect our sentiment about how much we value a certain product.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Includes a lower and an upper bound, or a range in which we believe the value of the product lies inside.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 A is willing to buy a share of AAPL at $100 and sell it at $105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does this imply?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 A’s market is 100 @ 105.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Trades in the Market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who trades in the financial market has this upper and lower bound!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 when does a trade between 2 people occur?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A wants to buy something at a price $X. If someone wants to sell to Person A at price $X, there will be a trade.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A’s market on apple is 100 @ 105.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B’s market on AAPL is 102 @ 106.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C’s market on AAPL is 98 @ 105.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D’s market on AAPL is 90 @ 95.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</a:t>
            </a:r>
            <a:r>
              <a:rPr lang="en"/>
              <a:t> E’s market on AAPL is 105 @ 110.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above scenario who will trade with 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A will trade with D and 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Making Game!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 into groups of (4 or 5?)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Once you have a group we will begin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roll a 10 sided dice 5 times and make a market around the total sum of the rolls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person in your group will take turns being the market maker. They will </a:t>
            </a:r>
            <a:r>
              <a:rPr lang="en"/>
              <a:t>provide</a:t>
            </a:r>
            <a:r>
              <a:rPr lang="en"/>
              <a:t> a range (ex. 100 @ 105) and </a:t>
            </a:r>
            <a:r>
              <a:rPr lang="en"/>
              <a:t>everyone else in the group will be able to trade with them. You can either buy or sell 1 share to the market maker.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track of how many shares each person has in a google doc/spreadsheet.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market on the sum of the numbers given to your group.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