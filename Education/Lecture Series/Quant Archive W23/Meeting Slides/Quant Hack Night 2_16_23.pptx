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Average"/>
      <p:regular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verage-regular.fntdata"/><Relationship Id="rId14" Type="http://schemas.openxmlformats.org/officeDocument/2006/relationships/slide" Target="slides/slide9.xml"/><Relationship Id="rId17" Type="http://schemas.openxmlformats.org/officeDocument/2006/relationships/font" Target="fonts/Oswald-bold.fntdata"/><Relationship Id="rId16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758ad6eee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758ad6eee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758ad6eeec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758ad6eeec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7e11bd39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7e11bd39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7e11bd394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7e11bd394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758ad6eeec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758ad6eeec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f32897be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f32897be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7e11bd394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7e11bd394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7e11bd394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7e11bd394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investopedia.com/terms/a/asset.asp" TargetMode="External"/><Relationship Id="rId4" Type="http://schemas.openxmlformats.org/officeDocument/2006/relationships/hyperlink" Target="https://www.investopedia.com/terms/m/mean.asp" TargetMode="External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olab.research.google.com/drive/1ih8cZ3zOsd234Z128DckN6LEmOIYSJFW?usp=sharing" TargetMode="External"/><Relationship Id="rId4" Type="http://schemas.openxmlformats.org/officeDocument/2006/relationships/hyperlink" Target="https://tinyurl.com/quant-p1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investopedia.com/terms/s/sma.asp" TargetMode="External"/><Relationship Id="rId4" Type="http://schemas.openxmlformats.org/officeDocument/2006/relationships/hyperlink" Target="https://www.investopedia.com/terms/e/ema.asp" TargetMode="External"/><Relationship Id="rId5" Type="http://schemas.openxmlformats.org/officeDocument/2006/relationships/hyperlink" Target="https://www.investopedia.com/ask/answers/071414/whats-difference-between-moving-average-and-weighted-moving-average.asp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 Hack Night 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2/16/23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 Reversion Review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Project - Mean Reversion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Extension: Moving Average Crossovers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 Reversion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Mean reversion, or reversion to the mean, is a theory used in finance that suggests that </a:t>
            </a:r>
            <a:r>
              <a:rPr lang="en" u="sng">
                <a:solidFill>
                  <a:schemeClr val="hlink"/>
                </a:solidFill>
                <a:hlinkClick r:id="rId3"/>
              </a:rPr>
              <a:t>asset</a:t>
            </a:r>
            <a:r>
              <a:rPr lang="en"/>
              <a:t> price volatility and historical returns eventually will revert to the long-run </a:t>
            </a:r>
            <a:r>
              <a:rPr lang="en" u="sng">
                <a:solidFill>
                  <a:schemeClr val="hlink"/>
                </a:solidFill>
                <a:hlinkClick r:id="rId4"/>
              </a:rPr>
              <a:t>mean</a:t>
            </a:r>
            <a:r>
              <a:rPr lang="en"/>
              <a:t> or average level of the entire dataset.</a:t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80625" y="2194150"/>
            <a:ext cx="6182752" cy="2806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Moving Average Crossovers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Previously, you all have been looking at a single moving average and using that to determine whether the price is above or below a certain point on the MA line.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about if we factor in multiple MA lines and use that in our analysis?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say that when a slower-term moving average crosses above a longer-term moving average, this is a </a:t>
            </a:r>
            <a:r>
              <a:rPr b="1" lang="en"/>
              <a:t>golden cross</a:t>
            </a:r>
            <a:r>
              <a:rPr lang="en"/>
              <a:t>. When a slower-term moving average crosses below a longer-term moving average, this is a </a:t>
            </a:r>
            <a:r>
              <a:rPr b="1" lang="en"/>
              <a:t>death cross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Golden and Death Cross</a:t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125" y="1017725"/>
            <a:ext cx="7413750" cy="384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Introduction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the sample dataset provided, calculate the 30 day simple moving average for AAPLs </a:t>
            </a:r>
            <a:r>
              <a:rPr lang="en"/>
              <a:t>stock price.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Graph this as a line graph on top of AAPLs adjusted closing stock price chart to visualize what is happening, and get a list of the historical days in which you could’ve bought the stock (according to the mean reversion algorithm) and a list of the historical days in which you could’ve sold the stock (according to the mean reversion algorithm).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Finally, return a buy day and a sell day out of the days gathered above, that maximize the profit you can make (do later).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Link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FFD966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Demo Link!</a:t>
            </a:r>
            <a:endParaRPr>
              <a:solidFill>
                <a:srgbClr val="CACACA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ACACA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ACACA"/>
                </a:solidFill>
              </a:rPr>
              <a:t>Project 1 link</a:t>
            </a:r>
            <a:endParaRPr>
              <a:solidFill>
                <a:srgbClr val="CACACA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https://tinyurl.com/quant-p1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Moving Average Types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Moving Average: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https://www.investopedia.com/terms/s/sma.asp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Exponential Moving Average: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https://www.investopedia.com/terms/e/ema.asp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Weighted Moving Average: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https://www.investopedia.com/ask/answers/071414/whats-difference-between-moving-average-and-weighted-moving-average.asp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 Reversion - Project Extension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 an extension to your mean reversion project which uses information from 2 moving averages as opposed to a single one.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 should make buying and selling decisions based on the golden cross and death cross. Just like before, find a list of all possible buy days according to this algorithm and all possible sell days according to the algorithm.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Once you have potential buy days and potential sell days, find one buy day and one sell day that maximizes your profit.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You have freedom to choose what moving averages you want to use (5, 20, 30, 50, etc) and the type as well (SMA, EMA, WMA)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