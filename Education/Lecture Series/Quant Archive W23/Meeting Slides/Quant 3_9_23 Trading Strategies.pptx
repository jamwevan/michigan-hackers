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d9f1cad8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d9f1cad8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d9f1cad8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d9f1cad8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ed9f1cad8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ed9f1cad8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17dc66b8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17dc66b8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7dc66b8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17dc66b8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17dc66b8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17dc66b8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17dc66b89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17dc66b89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17dc66b89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17dc66b89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17dc66b89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17dc66b89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7dc66b89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7dc66b89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17dc66b89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17dc66b89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17dc66b89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17dc66b89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997645e8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997645e8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17dc66b89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17dc66b8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17dc66b8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17dc66b8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17dc66b89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17dc66b89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17dc66b89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17dc66b89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f997645e8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f997645e8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7dc66b8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17dc66b8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lgotrading101.com/learn/quantitative-trading-strategies/" TargetMode="External"/><Relationship Id="rId4" Type="http://schemas.openxmlformats.org/officeDocument/2006/relationships/hyperlink" Target="https://www.bloomberg.com/news/features/2018-05-03/the-gambler-who-cracked-the-horse-racing-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Trading Strategies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Plan for This Week</a:t>
            </a:r>
            <a:endParaRPr sz="2700"/>
          </a:p>
        </p:txBody>
      </p:sp>
      <p:sp>
        <p:nvSpPr>
          <p:cNvPr id="140" name="Google Shape;140;p14"/>
          <p:cNvSpPr txBox="1"/>
          <p:nvPr/>
        </p:nvSpPr>
        <p:spPr>
          <a:xfrm>
            <a:off x="1471350" y="1110000"/>
            <a:ext cx="66912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Icebreaker Question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Week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Obscure and Small Markets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Frequency Trading (HFT)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Project Questions and more about that next week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Next Week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Mean Reversion Strategies (Beginner Project Reintroduction)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Momentum Strategies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??? 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Icebreaker Question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What is one interesting or fun thing you did over Spring Break?</a:t>
            </a:r>
            <a:endParaRPr sz="2200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80482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Obscure and Small Markets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Obscure markets r</a:t>
            </a:r>
            <a:r>
              <a:rPr lang="en" sz="2100"/>
              <a:t>efers to markets that are less popular and regulated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Small markets are markets that can only handle a small amount of trading volume without a large price movement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Big funds can only put their capital in certain regulated and large markets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types of products can be traded?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Cryptocurrencies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Stock Market in developing countries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Unregulated derivatives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Contract that has value based on some underlying entity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Price </a:t>
            </a:r>
            <a:r>
              <a:rPr lang="en" sz="2000"/>
              <a:t>discrepancy</a:t>
            </a:r>
            <a:r>
              <a:rPr lang="en" sz="2000"/>
              <a:t> in geopolitical regions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Penny stocks that can only absorb 50k before large price movements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And yes somehow Horse </a:t>
            </a:r>
            <a:r>
              <a:rPr lang="en" sz="2000"/>
              <a:t>racing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Earned nearly $1 billion by writing a successful computer analysis software program for horse racing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Built a statistical model based on mathematics to create a formula for picking race winners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Identified factors that could lead to successful race predictions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Made $600,000 in 1988 followed by $3,000,000 after refining the model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172525"/>
            <a:ext cx="7038900" cy="3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Exploited Hong Kong Betting System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1990s had 10 billion per year bet on horse racing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Winners split the pool and the house gets 17% cut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Potential factors for success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Straight line speed, size, winning record, skill of the jockey, weight of the jockey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Stored in a </a:t>
            </a:r>
            <a:r>
              <a:rPr lang="en" sz="2000"/>
              <a:t>database</a:t>
            </a:r>
            <a:r>
              <a:rPr lang="en" sz="2000"/>
              <a:t> the results of thousands of races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Gambler’s ruin 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Even if odds are in your favor if the house has unlimited money and your funds are limited you may run out before getting the streak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203800"/>
            <a:ext cx="7038900" cy="3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Limiting risk by betting more when the odds are more in your favor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For example if the model tells you that a horse with 4:1 odds should be 3:1 that is an edge </a:t>
            </a:r>
            <a:r>
              <a:rPr lang="en" sz="2000"/>
              <a:t>you</a:t>
            </a:r>
            <a:r>
              <a:rPr lang="en" sz="2000"/>
              <a:t> would now gain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Bad luck can be diminished by placing thousands and thousands of bets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Continued to refine the model over time and test and play with different factors out of the infinite possibilities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His biggest breakthrough was including the current betting odds as a factor for the model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and Risks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Far more opportunity on less </a:t>
            </a:r>
            <a:r>
              <a:rPr lang="en" sz="2000"/>
              <a:t>popular</a:t>
            </a:r>
            <a:r>
              <a:rPr lang="en" sz="2000"/>
              <a:t> markets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But they are less efficient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Provide consistent profits, less competition, but it is much more work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 they get exposed to larger players the profits can disappear and opportunities are gone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Frequency Trading (HFT)</a:t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Describes trading that requires high computing and communication speeds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Usually millions of dollars are required for the software infrastructure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Uses communication speed to profit and outwit other traders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Features high communication and computing speeds, large number of trades, low profit per trade, expensive infrastructure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of Infrastructure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Winner take all industry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you are </a:t>
            </a:r>
            <a:r>
              <a:rPr lang="en" sz="2000"/>
              <a:t>faster</a:t>
            </a:r>
            <a:r>
              <a:rPr lang="en" sz="2000"/>
              <a:t> you will get rewarded with all the profits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Relative speed is more important than absolute speed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HFT funds try to be faster than their rival funds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Spend hundreds of millions on hardware and software infrastructure to reduce their computing and communication speed by milliseconds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Investing in servers directly </a:t>
            </a:r>
            <a:r>
              <a:rPr lang="en" sz="2000"/>
              <a:t>next</a:t>
            </a:r>
            <a:r>
              <a:rPr lang="en" sz="2000"/>
              <a:t> to one another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Arbitrage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Arbitrage happens when an asset is priced differently on two different exchanges</a:t>
            </a:r>
            <a:endParaRPr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 Common approaches</a:t>
            </a:r>
            <a:endParaRPr sz="2100"/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Approach one buy asset A on </a:t>
            </a:r>
            <a:r>
              <a:rPr lang="en" sz="2100"/>
              <a:t>exchange x and short asset A on exchange y -&gt; expect convergence</a:t>
            </a:r>
            <a:endParaRPr sz="2100"/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Buy asset A on exchange x and transfer it to exchange y and sell it there for more money (risk is time and costs)</a:t>
            </a:r>
            <a:endParaRPr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Ideally it should be risk free in practice it is usually low risk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Arbitrage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Risks : Time, Exchange, Counterparty, Regulation, Country-related, Execution, liquidity, and default risk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Multiple asset exchange involving 3 currencies where prices do not quite add up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Examples: In 2017 crypto in Korea was 30% than in other countries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Gold was priced differently in 2000s between the US futures and the Japan futures 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Reaction to News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When major news breaks the trader who reacts the fastest will win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The HFT needs to analyze the news and execute the trade before everyone else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Examples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Earnings reports (usually the drop or price rise happens instantly)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Based on futures trades happen in milliseconds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Technology glitches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Twitter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Latency Arbitrage</a:t>
            </a:r>
            <a:endParaRPr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when a traditional fund intends to buy a large amount of stock 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fund detects that order and will then buy all the shares of stock A available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Then sell them back to the traditional fund for a small profit and higher price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fund might do this millions of times over a day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is able to see the “true” market before everyone else and capitalize on it over the day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Statistical Arbitrage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Much more enhanced version of pairs trading that happens at rapid speeds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 much more to add since its essentially the same thing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Other Strategies</a:t>
            </a:r>
            <a:endParaRPr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is a very secretive industry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a strategy gets found the other firms will trade it and then it is no longer profitable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Market Making strategies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Index Arbitrage (when funds change their weight in certain indices)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If a HFT can find that info out they can </a:t>
            </a:r>
            <a:r>
              <a:rPr lang="en" sz="2000"/>
              <a:t>predict the changes and sell them on a profit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https://algotrading101.com/learn/quantitative-trading-strategies/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https://www.bloomberg.com/news/features/2018-05-03/the-gambler-who-cracked-the-horse-racing-code</a:t>
            </a:r>
            <a:r>
              <a:rPr lang="en" sz="1600"/>
              <a:t>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