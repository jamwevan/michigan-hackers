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Montserrat"/>
      <p:regular r:id="rId29"/>
      <p:bold r:id="rId30"/>
      <p:italic r:id="rId31"/>
      <p:boldItalic r:id="rId32"/>
    </p:embeddedFont>
    <p:embeddedFont>
      <p:font typeface="Lat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italic.fntdata"/><Relationship Id="rId30" Type="http://schemas.openxmlformats.org/officeDocument/2006/relationships/font" Target="fonts/Montserrat-bold.fntdata"/><Relationship Id="rId11" Type="http://schemas.openxmlformats.org/officeDocument/2006/relationships/slide" Target="slides/slide6.xml"/><Relationship Id="rId33" Type="http://schemas.openxmlformats.org/officeDocument/2006/relationships/font" Target="fonts/Lato-regular.fntdata"/><Relationship Id="rId10" Type="http://schemas.openxmlformats.org/officeDocument/2006/relationships/slide" Target="slides/slide5.xml"/><Relationship Id="rId32" Type="http://schemas.openxmlformats.org/officeDocument/2006/relationships/font" Target="fonts/Montserrat-boldItalic.fntdata"/><Relationship Id="rId13" Type="http://schemas.openxmlformats.org/officeDocument/2006/relationships/slide" Target="slides/slide8.xml"/><Relationship Id="rId35" Type="http://schemas.openxmlformats.org/officeDocument/2006/relationships/font" Target="fonts/Lato-italic.fntdata"/><Relationship Id="rId12" Type="http://schemas.openxmlformats.org/officeDocument/2006/relationships/slide" Target="slides/slide7.xml"/><Relationship Id="rId34" Type="http://schemas.openxmlformats.org/officeDocument/2006/relationships/font" Target="fonts/Lato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Lat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ed9f1cad8c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ed9f1cad8c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ed9f1cad8c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ed9f1cad8c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ed9f1cad8c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ed9f1cad8c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ed9f1cad8c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ed9f1cad8c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ed9f1cad8c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ed9f1cad8c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ed9f1cad8c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ed9f1cad8c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ed9f1cad8c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ed9f1cad8c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ed9f1cad8c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ed9f1cad8c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ed9f1cad8c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ed9f1cad8c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ed9f1cad8c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ed9f1cad8c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ed9f1cad8c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ed9f1cad8c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ed9f1cad8c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ed9f1cad8c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ed9f1cad8c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1ed9f1cad8c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ed9f1cad8c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ed9f1cad8c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ed9f1cad8c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1ed9f1cad8c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ed9f1cad8c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1ed9f1cad8c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ed9f1cad8c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ed9f1cad8c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ed9f1cad8c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1ed9f1cad8c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ed9f1cad8c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1ed9f1cad8c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ed9f1cad8c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ed9f1cad8c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ed9f1cad8c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1ed9f1cad8c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ed9f1cad8c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1ed9f1cad8c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www.investopedia.com/articles/bonds/09/bond-market-interest-rates.asp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 Week 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 Attendance Form</a:t>
            </a:r>
            <a:endParaRPr/>
          </a:p>
        </p:txBody>
      </p:sp>
      <p:pic>
        <p:nvPicPr>
          <p:cNvPr id="140" name="Google Shape;14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4800" y="1307850"/>
            <a:ext cx="28575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Icebreaker Question</a:t>
            </a:r>
            <a:endParaRPr/>
          </a:p>
        </p:txBody>
      </p:sp>
      <p:sp>
        <p:nvSpPr>
          <p:cNvPr id="146" name="Google Shape;146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200"/>
              <a:t>The zombie apocalypse is coming, who are 3 </a:t>
            </a:r>
            <a:r>
              <a:rPr lang="en" sz="2200"/>
              <a:t>people</a:t>
            </a:r>
            <a:r>
              <a:rPr lang="en" sz="2200"/>
              <a:t> you want on your side?</a:t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</a:t>
            </a:r>
            <a:r>
              <a:rPr lang="en"/>
              <a:t> for today</a:t>
            </a:r>
            <a:endParaRPr/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What are Bonds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Understanding interest rates and inflation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Dividends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Fun leetcode question(s)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Explain solution to Question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Shorting a stock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Pairs Trading (if time)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Bonds?</a:t>
            </a:r>
            <a:endParaRPr/>
          </a:p>
        </p:txBody>
      </p:sp>
      <p:sp>
        <p:nvSpPr>
          <p:cNvPr id="158" name="Google Shape;158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Type of asset where you act as a loaner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You pay some principal amount and in exchange receive interest on the principal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Pay out interest on principal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Benefit is a constant flow of money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Safe option compared to the stock market</a:t>
            </a:r>
            <a:endParaRPr sz="2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10-Year Treasury Note (Ex)</a:t>
            </a:r>
            <a:endParaRPr/>
          </a:p>
        </p:txBody>
      </p:sp>
      <p:sp>
        <p:nvSpPr>
          <p:cNvPr id="164" name="Google Shape;164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When you buy the bond you get some fixed rate of interest at whatever interval was agreed upon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Could be 4, 8, 13, 26, 52 weeks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Could also be from 1-10 years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Current yield is 3.495% (fluctuates every day)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Bonds</a:t>
            </a:r>
            <a:endParaRPr/>
          </a:p>
        </p:txBody>
      </p:sp>
      <p:sp>
        <p:nvSpPr>
          <p:cNvPr id="170" name="Google Shape;170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Investors can buy older bonds for more or less than the equivalent principal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Ex: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A 10 year bond bought for 10,000 could be </a:t>
            </a:r>
            <a:r>
              <a:rPr lang="en" sz="2000"/>
              <a:t>worth a different amount in 5 years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 sz="2000"/>
              <a:t>If interests rates are higher </a:t>
            </a:r>
            <a:r>
              <a:rPr lang="en" sz="2000"/>
              <a:t>than</a:t>
            </a:r>
            <a:r>
              <a:rPr lang="en" sz="2000"/>
              <a:t> the </a:t>
            </a:r>
            <a:r>
              <a:rPr lang="en" sz="2000"/>
              <a:t>value</a:t>
            </a:r>
            <a:r>
              <a:rPr lang="en" sz="2000"/>
              <a:t> is less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 sz="2000"/>
              <a:t>If interest rates are lower </a:t>
            </a:r>
            <a:r>
              <a:rPr lang="en" sz="2000"/>
              <a:t>than the value is more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Short Term vs Long Term Bonds</a:t>
            </a:r>
            <a:endParaRPr/>
          </a:p>
        </p:txBody>
      </p:sp>
      <p:sp>
        <p:nvSpPr>
          <p:cNvPr id="176" name="Google Shape;176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Short Term</a:t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Get principal back faster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Lower interest rate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Long Term</a:t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Longer wait for principal back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Higher interest rates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Potential for larger profits if interest rates drop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</a:t>
            </a:r>
            <a:r>
              <a:rPr lang="en"/>
              <a:t>Takeaways and Inflation</a:t>
            </a:r>
            <a:endParaRPr/>
          </a:p>
        </p:txBody>
      </p:sp>
      <p:sp>
        <p:nvSpPr>
          <p:cNvPr id="182" name="Google Shape;182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Bonds are subject to interest rate risk since rising rates will cause falling prices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Interest rates respond to inflation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As prices rise, interest rates rise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Inflation diminishes the face value of the bond which hurts long term bonds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Bond prices fluctuate with inflation</a:t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Measures of Risk</a:t>
            </a:r>
            <a:endParaRPr/>
          </a:p>
        </p:txBody>
      </p:sp>
      <p:sp>
        <p:nvSpPr>
          <p:cNvPr id="188" name="Google Shape;188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Two types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Interest Rate Risk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 sz="2000"/>
              <a:t>Changes in bond prices due to fluctuating interest rates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Credit Risk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 sz="2000"/>
              <a:t>Risk that the issuer of the bond fails to make payments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 sz="2000"/>
              <a:t>Greater the risk, higher the interest rate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 sz="2000"/>
              <a:t>Treasury bonds have 0 credit risk</a:t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Calculating a Bond’s Yield and Price (Key Vocab)</a:t>
            </a:r>
            <a:endParaRPr/>
          </a:p>
        </p:txBody>
      </p:sp>
      <p:sp>
        <p:nvSpPr>
          <p:cNvPr id="194" name="Google Shape;194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Yield to Maturity (YTM): Total yield on the bond if held to maturity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Present Value: Amount of money today will be worth more than the same amount in the future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Bond Price: The sum of the present value of each payment added onto the principal amount</a:t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on Inflation</a:t>
            </a:r>
            <a:endParaRPr/>
          </a:p>
        </p:txBody>
      </p:sp>
      <p:sp>
        <p:nvSpPr>
          <p:cNvPr id="200" name="Google Shape;200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Inflation diminishes the purchasing power of a bond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Ex: A bond pays 4% yield, inflation is 3%, bond only pays 1% yield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If inflation risks are high buyers will want higher interest rates to compensate</a:t>
            </a:r>
            <a:endParaRPr sz="2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1</a:t>
            </a:r>
            <a:endParaRPr/>
          </a:p>
        </p:txBody>
      </p:sp>
      <p:sp>
        <p:nvSpPr>
          <p:cNvPr id="206" name="Google Shape;206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Let’s say I buy a bond for $1000 that has an interest rate of 5%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How much money will be in my bank account </a:t>
            </a:r>
            <a:r>
              <a:rPr lang="en" sz="2100"/>
              <a:t>after 5 years, assuming I do not reinvest the interest</a:t>
            </a:r>
            <a:endParaRPr sz="2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1</a:t>
            </a:r>
            <a:endParaRPr/>
          </a:p>
        </p:txBody>
      </p:sp>
      <p:sp>
        <p:nvSpPr>
          <p:cNvPr id="212" name="Google Shape;212;p2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Let’s say I buy a bond for $1000 that has an interest rate of 5% for 5 years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How much money will be in my bank account after 5 years, assuming I do not reinvest the interest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2100"/>
              <a:t>Now what happens if interests rates drop to 2% and I want to sell my bond</a:t>
            </a:r>
            <a:endParaRPr b="1"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b="1" lang="en" sz="2100"/>
              <a:t>Is this a good or a bad idea?</a:t>
            </a:r>
            <a:endParaRPr b="1" sz="2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2</a:t>
            </a:r>
            <a:endParaRPr/>
          </a:p>
        </p:txBody>
      </p:sp>
      <p:sp>
        <p:nvSpPr>
          <p:cNvPr id="218" name="Google Shape;218;p2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Let's</a:t>
            </a:r>
            <a:r>
              <a:rPr lang="en" sz="2100"/>
              <a:t> say I buy a bond today for $1000 that pays a 5% yield every year for 5 years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If inflation goes up .5% every year how much money based on today’s value do I end up with?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Hint: </a:t>
            </a:r>
            <a:r>
              <a:rPr lang="en" sz="2100"/>
              <a:t>Consider the adjusted interest rate based on inflation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Hint: Don’t forget the principal</a:t>
            </a:r>
            <a:endParaRPr sz="2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Dividend</a:t>
            </a:r>
            <a:endParaRPr/>
          </a:p>
        </p:txBody>
      </p:sp>
      <p:pic>
        <p:nvPicPr>
          <p:cNvPr id="224" name="Google Shape;22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7600" y="1038150"/>
            <a:ext cx="5520207" cy="3530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Leetcode Question (Best Time to Buy and Sell a Stock)</a:t>
            </a:r>
            <a:endParaRPr/>
          </a:p>
        </p:txBody>
      </p:sp>
      <p:sp>
        <p:nvSpPr>
          <p:cNvPr id="230" name="Google Shape;230;p2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231" name="Google Shape;23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0150" y="1307850"/>
            <a:ext cx="4826475" cy="321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Leetcode Question (Best Time to Buy and Sell a Stock)</a:t>
            </a:r>
            <a:endParaRPr/>
          </a:p>
        </p:txBody>
      </p:sp>
      <p:sp>
        <p:nvSpPr>
          <p:cNvPr id="237" name="Google Shape;237;p3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Pretty simple question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Now let’s do our own manipulation of the question where we want to find our max profit we </a:t>
            </a:r>
            <a:r>
              <a:rPr lang="en" sz="2000"/>
              <a:t>can earn throughout the array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Quick Break!</a:t>
            </a:r>
            <a:endParaRPr sz="5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it mean to short a stock</a:t>
            </a:r>
            <a:endParaRPr/>
          </a:p>
        </p:txBody>
      </p:sp>
      <p:sp>
        <p:nvSpPr>
          <p:cNvPr id="248" name="Google Shape;248;p3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If you think a stock is going to go down you can actually invest your money into that scenario</a:t>
            </a:r>
            <a:endParaRPr sz="200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Way more risky since you can lose more money then you bet</a:t>
            </a:r>
            <a:endParaRPr sz="200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Dives into what options trading is</a:t>
            </a:r>
            <a:endParaRPr sz="200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Essential component for pairs trading</a:t>
            </a:r>
            <a:endParaRPr sz="200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Long traders may use shorting as a means to hedge a position</a:t>
            </a:r>
            <a:endParaRPr sz="200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“Borrowing” shares of the stock and then sells these shares to buyers and then rebuy at a lower price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3"/>
          <p:cNvSpPr txBox="1"/>
          <p:nvPr>
            <p:ph type="title"/>
          </p:nvPr>
        </p:nvSpPr>
        <p:spPr>
          <a:xfrm>
            <a:off x="1188050" y="151940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Shorting a </a:t>
            </a:r>
            <a:r>
              <a:rPr lang="en" sz="3700"/>
              <a:t>stock</a:t>
            </a:r>
            <a:r>
              <a:rPr lang="en" sz="3700"/>
              <a:t> can be very dangerous!!!</a:t>
            </a:r>
            <a:endParaRPr sz="3700"/>
          </a:p>
        </p:txBody>
      </p:sp>
      <p:sp>
        <p:nvSpPr>
          <p:cNvPr id="254" name="Google Shape;254;p33"/>
          <p:cNvSpPr txBox="1"/>
          <p:nvPr>
            <p:ph idx="1" type="body"/>
          </p:nvPr>
        </p:nvSpPr>
        <p:spPr>
          <a:xfrm>
            <a:off x="1188050" y="33498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r>
              <a:rPr lang="en" sz="2700"/>
              <a:t>Just look at what happened with Gamestop</a:t>
            </a:r>
            <a:endParaRPr sz="27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pairs trading?</a:t>
            </a:r>
            <a:endParaRPr/>
          </a:p>
        </p:txBody>
      </p:sp>
      <p:sp>
        <p:nvSpPr>
          <p:cNvPr id="260" name="Google Shape;260;p3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A trading strategy that tries to find two companies or funds that share similar characteristics 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Also the stocks need to be trading outside of their historical trading range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Long the undervalued stock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Short the overvalued stock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Hope they converge in the middle</a:t>
            </a:r>
            <a:endParaRPr sz="2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</a:t>
            </a:r>
            <a:endParaRPr/>
          </a:p>
        </p:txBody>
      </p:sp>
      <p:sp>
        <p:nvSpPr>
          <p:cNvPr id="266" name="Google Shape;266;p3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https://www.investopedia.com/articles/bonds/09/bond-market-interest-rates.asp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